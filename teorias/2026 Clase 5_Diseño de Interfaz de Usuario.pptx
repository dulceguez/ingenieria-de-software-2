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5" r:id="rId1"/>
  </p:sldMasterIdLst>
  <p:notesMasterIdLst>
    <p:notesMasterId r:id="rId65"/>
  </p:notesMasterIdLst>
  <p:sldIdLst>
    <p:sldId id="256" r:id="rId2"/>
    <p:sldId id="322" r:id="rId3"/>
    <p:sldId id="257" r:id="rId4"/>
    <p:sldId id="323" r:id="rId5"/>
    <p:sldId id="324" r:id="rId6"/>
    <p:sldId id="325" r:id="rId7"/>
    <p:sldId id="326" r:id="rId8"/>
    <p:sldId id="327" r:id="rId9"/>
    <p:sldId id="263" r:id="rId10"/>
    <p:sldId id="329" r:id="rId11"/>
    <p:sldId id="328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274" r:id="rId20"/>
    <p:sldId id="338" r:id="rId21"/>
    <p:sldId id="339" r:id="rId22"/>
    <p:sldId id="340" r:id="rId23"/>
    <p:sldId id="341" r:id="rId24"/>
    <p:sldId id="342" r:id="rId25"/>
    <p:sldId id="343" r:id="rId26"/>
    <p:sldId id="344" r:id="rId27"/>
    <p:sldId id="345" r:id="rId28"/>
    <p:sldId id="346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54" r:id="rId37"/>
    <p:sldId id="355" r:id="rId38"/>
    <p:sldId id="295" r:id="rId39"/>
    <p:sldId id="356" r:id="rId40"/>
    <p:sldId id="357" r:id="rId41"/>
    <p:sldId id="358" r:id="rId42"/>
    <p:sldId id="359" r:id="rId43"/>
    <p:sldId id="360" r:id="rId44"/>
    <p:sldId id="361" r:id="rId45"/>
    <p:sldId id="363" r:id="rId46"/>
    <p:sldId id="362" r:id="rId47"/>
    <p:sldId id="364" r:id="rId48"/>
    <p:sldId id="365" r:id="rId49"/>
    <p:sldId id="366" r:id="rId50"/>
    <p:sldId id="367" r:id="rId51"/>
    <p:sldId id="368" r:id="rId52"/>
    <p:sldId id="371" r:id="rId53"/>
    <p:sldId id="370" r:id="rId54"/>
    <p:sldId id="369" r:id="rId55"/>
    <p:sldId id="313" r:id="rId56"/>
    <p:sldId id="372" r:id="rId57"/>
    <p:sldId id="373" r:id="rId58"/>
    <p:sldId id="374" r:id="rId59"/>
    <p:sldId id="375" r:id="rId60"/>
    <p:sldId id="376" r:id="rId61"/>
    <p:sldId id="377" r:id="rId62"/>
    <p:sldId id="378" r:id="rId63"/>
    <p:sldId id="379" r:id="rId64"/>
  </p:sldIdLst>
  <p:sldSz cx="12192000" cy="6858000"/>
  <p:notesSz cx="6858000" cy="9144000"/>
  <p:embeddedFontLst>
    <p:embeddedFont>
      <p:font typeface="Noto Sans Symbols" panose="020B0604020202020204" charset="0"/>
      <p:regular r:id="rId66"/>
      <p:bold r:id="rId67"/>
    </p:embeddedFont>
    <p:embeddedFont>
      <p:font typeface="Noto Sans Symbols2" panose="020B0502040504020204" pitchFamily="34" charset="0"/>
      <p:regular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4" roundtripDataSignature="AMtx7mhgSEmw2UJwBMTDy46FW/WTy0uK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:notes"/>
          <p:cNvSpPr/>
          <p:nvPr/>
        </p:nvSpPr>
        <p:spPr>
          <a:xfrm>
            <a:off x="3884760" y="8685360"/>
            <a:ext cx="2971080" cy="456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A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9F755EC2-045E-7E13-ECA7-0D8DBA77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943B8066-9461-F567-5F25-1824FAB4B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A92D33D9-2FAF-69C2-5AB4-CAB64EEE0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4507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DDCE7DD-3890-81B1-0F8E-B2766EF1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A3BF6CE4-88B3-D1DF-220D-6A382515D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8AE78CFE-2B91-D273-1B73-B6FD80BF13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774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66F1A150-5852-A764-0904-1A6E309B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C162B38F-7983-1D60-6266-9CEAD1583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9A0B48FC-EC9E-91BF-CD90-C4C3B9A3AC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0562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36AA54F-D40C-B77F-C676-EDB673E3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6A0A4841-94C6-4D2A-C2F6-0E9B9EE07E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75294237-C70A-B673-B811-B3D1ADFA5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8348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CE2A38D-9593-E88E-DC01-98BD6BE2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A87853C5-C4FB-E766-07A9-B5FAA20C3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015B3D9B-B9F1-8594-3A92-F63C450435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022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B6FE4A9F-3052-DD7E-6F0C-971C72B4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7A3B4CCD-612A-29A4-1C5D-C64DC1A45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FED180F5-A807-8121-BA26-90FAA3D75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4561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277EC9AD-F802-7A4E-944B-F9243FD4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>
            <a:extLst>
              <a:ext uri="{FF2B5EF4-FFF2-40B4-BE49-F238E27FC236}">
                <a16:creationId xmlns:a16="http://schemas.microsoft.com/office/drawing/2014/main" id="{37E36106-15CC-7E82-B931-7ACD00532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8:notes">
            <a:extLst>
              <a:ext uri="{FF2B5EF4-FFF2-40B4-BE49-F238E27FC236}">
                <a16:creationId xmlns:a16="http://schemas.microsoft.com/office/drawing/2014/main" id="{013BABE8-7B28-D3F8-C671-6A460BC89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0924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2B20B2B3-5A98-40FC-062C-1362CAE72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35464738-1A00-5073-B229-54225C7BD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CD00F55E-34BC-9EEB-5BBD-CAC1AFCD7B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8366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BE57D89-35DB-A291-B8F1-9C1016E3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B040FA0A-A77E-D38E-6DC1-C6E642E90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04E3DD8C-25D2-E209-D24A-5B2CB88412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2173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A58772E-B3DD-5C5A-4270-4564DFF4B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1A77439F-A61D-2B77-37E4-5597F5BB5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D827791F-8438-5752-F93D-E666359D0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54216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65180578-B0F6-2552-426E-86F54D6E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71B52408-9D8C-2190-7E4C-5392AB1CC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D25F28E8-D4C6-8C7D-18F4-66534F1BF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8126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2C8D8714-63C6-EBD2-A06F-2DB90BDA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7FB91CD9-6B2D-C134-AE21-F2DF94D87F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71E9A9A1-ED23-51F3-B580-62C29F6BA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3311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A37F56C0-D638-2F38-ECD9-9C7CE7A35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23DA77B7-DBC4-2C95-F40A-3EBB5A229D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B401E050-1970-3BEA-6ED5-AB9361B66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86656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FCC16D67-366E-08B2-43FF-A65840C5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75196FBA-72BC-68BA-E106-71695A7865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0EF62ED5-F6FA-E233-2168-259983F8E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0596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B2F9FDE-A339-C194-B01E-BD28D02E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1A01C165-FC0C-3FFA-9BF7-3A8C80E985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2E4177E6-E78D-9061-3420-AFB9CFF97C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87438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3C09878-9240-E116-5866-5F6544CFF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62E3B320-FB26-6FA3-AE95-2ADD591D1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DE15F90A-ED6F-B829-A1CF-4FCE0D4F38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86504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E0D6613-7CDB-E647-0E9E-E83166416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2625C329-47F2-8478-3594-322F5A924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5CB0F766-6C33-E619-D4F2-610B2B1F79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7034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F8DD6BC7-FB69-2DCA-5D7B-8D1C560F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642CBB2F-76EF-8C19-F494-E6C687D2D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9ED4C39-2E50-48A1-8764-D952F1B37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07410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DE978AA-80C5-92FD-265A-B8CEE9ED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F7996DB3-5E6B-C764-522A-0A4655ABD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F2039258-EF44-FA41-A02B-7B24059B6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46672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63E3AA86-762E-A3E7-302C-B0FCDC976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D2198AE5-4D8F-7410-C105-5F9538AC8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E6D029B7-4AD1-03E6-5866-AFB5EB7F9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1254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BB479142-ADBB-A186-E63C-1AE20239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B0EF5ABF-1B00-378D-B069-8D87544A5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61937DC2-0331-770F-C05B-586E88F95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96399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940052E0-5177-1E08-7291-251F3E8A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EFAFA83D-491A-484B-0370-829F4F9085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D126C3F-55E3-6C59-0395-F1ACC2352B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00300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4120BE2-2D58-9768-60F7-29C2F2493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8BBAB767-1226-0DF5-379B-25698D251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A7DD2C91-3314-5BF1-B693-ECA564484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78945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9DE30CD-4B5A-0560-BDE8-2B9C2A9B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69BA72A3-75D7-8689-F2A2-2FCC56E02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88190C6D-5004-3A90-2138-FB5E7EA93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34342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B494AEA-D864-ADD3-472E-1BDB4258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5A60CC63-B7A0-2638-7F02-1CB705A002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97BED0F0-D9C8-79CE-F1D0-F129BF99D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6029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87A73A95-9087-A4CC-AC2E-A3A216B5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8A387D93-6135-C821-F038-881D58E305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F4A88719-7B90-064D-7FCA-1DAFE9039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69830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A63F882E-9099-9095-3A12-1CDF6644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9E1CA895-A614-F5E0-9C99-8FCDB1733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43EEB184-BEC1-1246-8B24-03007C481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79893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9241B66-F692-8726-77B9-F2E2BB513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7EDF156D-4DE3-D07B-0F97-015CAA062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F0EC46A1-5909-1281-CDC3-58AFEDFD15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17340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9C4DF65-5BD5-D657-F72F-E6DE5D4A8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C08C48FA-15E3-D719-50E0-3B0305221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4BE090A7-A08B-876C-64C6-0E9D8A120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36629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8147C93C-CA67-A2F9-F287-A742452A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D8D5AFCC-00AB-E18D-9A01-F35A07848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41037862-66EB-08EE-AC3F-B2D64A254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04161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F683B497-5D66-CB86-C6EB-7423ACA27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89BB2D12-D4DD-2634-DA3A-8E2750A043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C968CEF4-0A0D-1C3C-951C-4B7C4764D9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93043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19B4AD3-3392-0C5D-1101-D57D3A71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EC8A7778-F999-3958-4660-F38BEAD9A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337B760E-E00D-ADBC-B6AD-191564634F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212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220B8075-5475-086D-349D-348090A6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33FD3314-7424-151B-7190-5D88FF76D5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B713CFC-2D08-45A0-59DF-F9CACDCD9E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61754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5CB3C3B-F439-0ECF-C6A2-9F9021BA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BA338D7B-33B2-06FD-CBA3-BD6537EBED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CDBB43CB-F186-D302-1668-EB8A4C0FB5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81858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109E732-BCA6-8944-7082-8A36CD93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6C5F073C-1DA0-14E8-30B3-EAAF90482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233948D1-B830-A379-7DDF-960D57A788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70920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8D450018-F15E-45F5-CCB0-AE6C4522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52D708B7-30C1-32DD-0849-D04319BD92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5892AD7-958D-FF8E-AC7E-E0F86FC1E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971881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41FFE931-E03F-AE26-1E65-E3B644E6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338B4D26-8139-5E22-789E-85E07670F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B093CF1B-0D32-C577-0FA3-54A41279D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58429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074D559-8FD7-F583-EC34-625276F6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C0F4E49A-8E8C-62C6-9B8F-4EC8DA3F0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05B97E93-2942-3698-0E10-D79D67AE3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74295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5C7DE28-B890-F5EF-8973-06EF2B28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86B85A95-0BC1-976F-81FE-6BE3E345F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9984BF87-E9C2-F0A0-4657-A954C9F22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35010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4A360287-2BB9-6E13-468D-EEC4DDFB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8EAEC3E4-6ED2-68A8-D56B-C32989BD9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55E561AD-621C-BDA3-655C-87B62942D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46032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34A78A4B-4961-F819-4AA4-CA4FAC12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38BA837B-CFE6-A1C7-4FB3-B5DF7AE50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B7CE14B3-13BB-0038-F1D7-30BA598E8A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081877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5E1C8D41-D79F-E135-8F9A-67B6BCD6B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1B1A7A26-7658-01A4-D3F3-A9EA09485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52DA697-3C7A-A073-C35D-B0B4C6E0F0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21919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F2D5A9FA-4B14-277A-16BE-2E5EF056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920769E0-9998-20CE-1525-9FE7679EFD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B9EACA2F-F37C-8039-DBDE-A119F0852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22808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564F10D-9227-62CD-6161-68700018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23AA2F6D-4C98-44D5-B7BE-73FC1DE6C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E79D0511-90F1-7193-66F0-65A3E4496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85124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7465A579-5682-C160-9955-5793FCE52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3545E8DD-8379-5652-E4FC-A27210801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856E6AEF-F505-49DD-02F0-E66EAE4C3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13249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E5F06B11-52C0-B308-E3B5-4134A20A3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352F6EE9-9E38-D76A-C518-6FF895606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F8712BEE-40AA-C1C8-8CB7-28238EA07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06479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4AC1096-19A6-620A-9DBE-03A4514D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D3170B4B-1414-7D42-DDD9-767ADC4E7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3648BEF4-7D60-6D34-399E-A33225576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6754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6" name="Google Shape;566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29CBCCD0-BA8D-7E6E-4F7D-2F95208D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531564C2-C55E-7C2B-8D6E-F5EFEACF5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349DF3C6-B134-C018-BA40-D9CDD39905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557989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5E8CC42-A240-CC79-3482-B98CA36A2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1A1DABA5-8EE4-7D76-DAD4-315F5F8066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9A16C314-BD7E-1575-A4C5-6AECD7C11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7845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6ED97398-CE53-AF51-E626-8368E71A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343BCBBB-F71E-2D5A-4AB4-7C694A961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A39D0E47-E55F-EBB2-31C5-F13BAFECC1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18486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B6100CE-CB37-FA2C-90B7-B6ED6D9F5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8F900533-4EA3-B06D-65D8-7C98ECDB1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B78042F2-0356-E3E4-DBAA-50E1CA4AA7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666159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AA444308-4BBB-2A05-93D7-5A7FF46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B4A10BB9-6574-2C21-4E72-1FCC11165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A2900CDE-0989-A739-3E35-01FD565CA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16575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1F97FA76-93AC-7AD1-82BB-1F0A73CE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3E8A46FC-07A0-52FC-60FA-FD9F918A28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AE986DBC-6AB2-28BC-97C0-007673F24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439486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8B795B84-DBB3-0542-9EB4-820DCB42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E0E9DBB8-F856-9630-190B-37A6C8AAB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0852377E-9CD4-D8E3-D8FF-16509A2484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382546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C417C5D3-ED23-5CE1-FBD9-0D8F5BC11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>
            <a:extLst>
              <a:ext uri="{FF2B5EF4-FFF2-40B4-BE49-F238E27FC236}">
                <a16:creationId xmlns:a16="http://schemas.microsoft.com/office/drawing/2014/main" id="{2DFAE892-1564-A964-BD57-F05E35CE6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6"/>
            <a:ext cx="5438140" cy="446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75" tIns="45825" rIns="91675" bIns="45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A1E17495-9138-B006-52B5-ACA216E2D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91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 con 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C43E6BC9-8A4B-BD2D-A97B-03388AE41EAE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F678791-B724-BCA3-27E2-1573250C65F7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4376D2-E739-A143-7567-7E7C895C1073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>
            <a:lvl1pPr algn="l">
              <a:lnSpc>
                <a:spcPct val="85000"/>
              </a:lnSpc>
              <a:defRPr sz="72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19872CF-55A0-9DEA-1F48-99EF21A0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0BF3F83-733F-7998-8465-9CAF03D89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3749773-EDCF-15AC-8873-BA88B893D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84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ECB8E-6984-4DA0-CCDE-D937FA0CF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57F4-2F29-4C31-2415-BFB11E3F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ECEC8-651A-FCF9-B2E1-B405EBC2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1329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1201EA0-53D0-7652-4D4E-95C016955A05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45C714-55C6-FB84-2F9B-BFCE7404FEA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6B424C43-339F-FEC6-DA41-E1340B223021}"/>
              </a:ext>
            </a:extLst>
          </p:cNvPr>
          <p:cNvCxnSpPr/>
          <p:nvPr/>
        </p:nvCxnSpPr>
        <p:spPr>
          <a:xfrm>
            <a:off x="1208088" y="4343400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65F793D-C4CA-CA71-3A8A-37CABDA2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CA7C2D-C4DC-416D-A3B6-E7A59B10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BBE78C8-FAFB-6BF8-391B-10D29622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78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2B40943-1B9C-D884-CDBA-16AC1C8C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7FE42-A4CB-C241-D463-8DBF129E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A125-51D5-AB66-7530-03C78059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348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D87869F-EDC5-A732-2427-D6C4489ED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D35A538-2180-F873-24AE-5D01A8A5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D96B72-324F-7BE1-1E26-4D65C805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916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11F1421-0CC8-F1A5-7259-5FB989CA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98B81BF-13B0-EA03-CD9B-4BA8BF917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7AFA0F-1030-F66F-82F9-E684ED8B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6998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6496674-BB05-017D-11E0-8966F048B70E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45132C5-EA5E-91C9-06B1-C8FE60EB0056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Google Shape;67;p52">
            <a:extLst>
              <a:ext uri="{FF2B5EF4-FFF2-40B4-BE49-F238E27FC236}">
                <a16:creationId xmlns:a16="http://schemas.microsoft.com/office/drawing/2014/main" id="{59257FC8-08D6-5512-2DF0-06002931FE4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624F40B6-1A7A-531D-1A8F-73692B3B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27FD8BA-9E81-1FA5-93C6-91982F23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6980B1A-467B-C990-8E42-FDD3B612B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962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4DBA1FB-2DA3-161C-611C-46AD52F8EC39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0DBF4A0-F832-4607-0601-C6529010CCB7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A93845C7-38E9-19B1-4955-4FFEC826C4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6F55F3F-774F-E112-4897-DA757319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8336173-168A-1D62-F85B-5F9F07C7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87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B3590E-941F-6C46-99CA-6B8CD47B4F9E}"/>
              </a:ext>
            </a:extLst>
          </p:cNvPr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B5B376E-A078-4B8B-9A3B-B708E73C5022}"/>
              </a:ext>
            </a:extLst>
          </p:cNvPr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5810FA40-BAA6-540E-BA60-E395E8CD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E990C6F-C468-0E3C-906A-6CC9F814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D8D84FF6-2B50-4F03-A16A-1223F063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302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27B67-55D2-D85A-4888-84E2B43AF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CD5D6-24B5-8006-8387-CE9DBA0D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D8E67-12E2-4C7F-CFAF-D7A64BDDE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779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96FD164-7E2D-1175-C78E-31E006FF48AB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4C54E99-E0F9-4658-A70F-5F31CC0BDE9A}"/>
              </a:ext>
            </a:extLst>
          </p:cNvPr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346644-2702-65ED-807A-63AF82B0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9ABDFB8-65BB-45F5-EA46-B95105E2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A9F0A9-80BD-F363-9268-6353B70D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3006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1_En blanc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B5D058D-174B-7E86-7EB5-CC25C4377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EB60D3-19A8-0CEE-092F-DA685311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390253-683C-1C0C-FDBF-CF46B03C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4514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F7BA581-B936-75B7-8199-5A6D2739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C7B9D3E-E2EC-7C83-2F91-C4F5F303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4620CA-F0E4-93E4-CF84-E712740B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0010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 con fuente ">
  <p:cSld name="Normal con fuente 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4738E740-7E5F-4227-B0C9-620E61EC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2026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7B9DFD6E-5553-8A0A-0CD9-C0072507F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75094922-97C7-2E63-717F-CAA134FD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5098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1_Imagen con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0"/>
          <p:cNvSpPr txBox="1">
            <a:spLocks noGrp="1"/>
          </p:cNvSpPr>
          <p:nvPr>
            <p:ph type="title"/>
          </p:nvPr>
        </p:nvSpPr>
        <p:spPr>
          <a:xfrm>
            <a:off x="653976" y="4737544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400"/>
              <a:buFont typeface="Calibri"/>
              <a:buNone/>
              <a:defRPr sz="3300" b="1">
                <a:solidFill>
                  <a:srgbClr val="4A661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70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  <a:defRPr sz="1800">
                <a:solidFill>
                  <a:srgbClr val="4A6617"/>
                </a:solidFill>
              </a:defRPr>
            </a:lvl1pPr>
            <a:lvl2pPr marL="914400" lvl="1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900"/>
            </a:lvl2pPr>
            <a:lvl3pPr marL="1371600" lvl="2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00"/>
              <a:buNone/>
              <a:defRPr sz="750"/>
            </a:lvl3pPr>
            <a:lvl4pPr marL="1828800" lvl="3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675"/>
            </a:lvl4pPr>
            <a:lvl5pPr marL="2286000" lvl="4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675"/>
            </a:lvl5pPr>
            <a:lvl6pPr marL="2743200" lvl="5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675"/>
            </a:lvl6pPr>
            <a:lvl7pPr marL="3200400" lvl="6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675"/>
            </a:lvl7pPr>
            <a:lvl8pPr marL="3657600" lvl="7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675"/>
            </a:lvl8pPr>
            <a:lvl9pPr marL="4114800" lvl="8" indent="-228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70"/>
          <p:cNvSpPr txBox="1">
            <a:spLocks noGrp="1"/>
          </p:cNvSpPr>
          <p:nvPr>
            <p:ph type="dt" idx="10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A661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2026</a:t>
            </a:r>
            <a:endParaRPr/>
          </a:p>
        </p:txBody>
      </p:sp>
      <p:sp>
        <p:nvSpPr>
          <p:cNvPr id="22" name="Google Shape;22;p70"/>
          <p:cNvSpPr txBox="1">
            <a:spLocks noGrp="1"/>
          </p:cNvSpPr>
          <p:nvPr>
            <p:ph type="ftr" idx="11"/>
          </p:nvPr>
        </p:nvSpPr>
        <p:spPr>
          <a:xfrm>
            <a:off x="685800" y="6481098"/>
            <a:ext cx="2241848" cy="302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A661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AR"/>
              <a:t>Ingeniería de Software II</a:t>
            </a:r>
          </a:p>
        </p:txBody>
      </p:sp>
      <p:sp>
        <p:nvSpPr>
          <p:cNvPr id="23" name="Google Shape;23;p70"/>
          <p:cNvSpPr txBox="1">
            <a:spLocks noGrp="1"/>
          </p:cNvSpPr>
          <p:nvPr>
            <p:ph type="sldNum" idx="12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00"/>
              <a:buFont typeface="Arial"/>
              <a:buNone/>
              <a:defRPr sz="7725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345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16BC62-80EB-6A48-91AA-5CCDDB5E4AE7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4CECD4-62E1-7094-EE64-51040DA522A0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0B69E-9EA9-2F5B-8C53-68F1A31C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57573C21-5CBF-DDA2-32F1-61FF22A03A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DA1BB-B518-F9E9-A4BB-C90FF5B81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s-ES"/>
              <a:t>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899E6-4FE1-AB0B-39F5-9369FD516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s-AR"/>
              <a:t>Ingeniería de Software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F12A3-F1F3-CDCE-28F5-8D4205A88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solidFill>
                  <a:srgbClr val="FFFFFF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749874-E946-59B7-87F7-6D06B2D56870}"/>
              </a:ext>
            </a:extLst>
          </p:cNvPr>
          <p:cNvCxnSpPr/>
          <p:nvPr/>
        </p:nvCxnSpPr>
        <p:spPr>
          <a:xfrm>
            <a:off x="1193800" y="1738313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Google Shape;67;p52">
            <a:extLst>
              <a:ext uri="{FF2B5EF4-FFF2-40B4-BE49-F238E27FC236}">
                <a16:creationId xmlns:a16="http://schemas.microsoft.com/office/drawing/2014/main" id="{006D9384-4CC2-58F5-2E39-FB4BEB43C9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125" y="17780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551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</p:sldLayoutIdLst>
  <p:hf hdr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 kern="1200" spc="-50">
          <a:solidFill>
            <a:schemeClr val="tx1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90488" indent="-90488" algn="l" rtl="0" eaLnBrk="1" fontAlgn="base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1" fontAlgn="base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artinfowler.com/eaaDev/uiArchs.html" TargetMode="External"/><Relationship Id="rId4" Type="http://schemas.openxmlformats.org/officeDocument/2006/relationships/image" Target="../media/image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43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jpg"/><Relationship Id="rId4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lframalpha.com/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jpg"/><Relationship Id="rId5" Type="http://schemas.openxmlformats.org/officeDocument/2006/relationships/image" Target="../media/image48.png"/><Relationship Id="rId4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chat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jpg"/><Relationship Id="rId5" Type="http://schemas.openxmlformats.org/officeDocument/2006/relationships/image" Target="../media/image48.png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png"/><Relationship Id="rId5" Type="http://schemas.openxmlformats.org/officeDocument/2006/relationships/image" Target="../media/image62.jpg"/><Relationship Id="rId4" Type="http://schemas.openxmlformats.org/officeDocument/2006/relationships/image" Target="../media/image61.gi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>
            <a:spLocks noGrp="1"/>
          </p:cNvSpPr>
          <p:nvPr>
            <p:ph type="ctrTitle"/>
          </p:nvPr>
        </p:nvSpPr>
        <p:spPr/>
        <p:txBody>
          <a:bodyPr spcFirstLastPara="1" lIns="91425" tIns="45700" rIns="91425" bIns="4570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400"/>
              <a:buFont typeface="Calibri"/>
              <a:buNone/>
            </a:pPr>
            <a:r>
              <a:rPr lang="es-ES" sz="7200" dirty="0"/>
              <a:t>Ingeniería de Software II</a:t>
            </a:r>
            <a:endParaRPr lang="es-AR" sz="7200" dirty="0"/>
          </a:p>
        </p:txBody>
      </p:sp>
      <p:sp>
        <p:nvSpPr>
          <p:cNvPr id="63" name="Google Shape;63;p1"/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SzPts val="4400"/>
              <a:buNone/>
            </a:pPr>
            <a:r>
              <a:rPr lang="es-ES" dirty="0"/>
              <a:t>2026 - Clase 5 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/>
          <p:nvPr/>
        </p:nvSpPr>
        <p:spPr>
          <a:xfrm>
            <a:off x="5955542" y="6509477"/>
            <a:ext cx="2107590" cy="30485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89296" tIns="44636" rIns="89296" bIns="44636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sz="13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1222279" y="1859038"/>
            <a:ext cx="9902083" cy="447818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15325" tIns="57650" rIns="115325" bIns="57650" anchor="t" anchorCtr="0">
            <a:noAutofit/>
          </a:bodyPr>
          <a:lstStyle/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AR" sz="3516" dirty="0">
                <a:latin typeface="Calibri"/>
                <a:cs typeface="Calibri"/>
                <a:sym typeface="Calibri"/>
              </a:rPr>
              <a:t>Diseño de Interfaz de Usuario (UI)</a:t>
            </a:r>
          </a:p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AR" sz="3516" dirty="0">
                <a:latin typeface="Calibri"/>
                <a:cs typeface="Calibri"/>
                <a:sym typeface="Calibri"/>
              </a:rPr>
              <a:t>Diseño de Experiencia de Usuario (UX)</a:t>
            </a:r>
          </a:p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AR" sz="3516" dirty="0">
                <a:latin typeface="Calibri"/>
                <a:cs typeface="Calibri"/>
                <a:sym typeface="Calibri"/>
              </a:rPr>
              <a:t>Aspectos de diseño de interfaz</a:t>
            </a:r>
          </a:p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r>
              <a:rPr lang="es-AR" sz="3516" dirty="0">
                <a:latin typeface="Calibri"/>
                <a:cs typeface="Calibri"/>
                <a:sym typeface="Calibri"/>
              </a:rPr>
              <a:t>Estilos de interfaces</a:t>
            </a:r>
          </a:p>
          <a:p>
            <a:pPr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</a:pPr>
            <a:endParaRPr lang="es-AR" sz="3516" dirty="0">
              <a:latin typeface="Calibri"/>
              <a:cs typeface="Calibri"/>
              <a:sym typeface="Calibri"/>
            </a:endParaRPr>
          </a:p>
          <a:p>
            <a:pPr lvl="1">
              <a:lnSpc>
                <a:spcPct val="85000"/>
              </a:lnSpc>
              <a:spcBef>
                <a:spcPts val="1642"/>
              </a:spcBef>
              <a:buClr>
                <a:srgbClr val="C00000"/>
              </a:buClr>
              <a:buSzPts val="3600"/>
            </a:pPr>
            <a:r>
              <a:rPr lang="es-AR" sz="3516" dirty="0">
                <a:latin typeface="Calibri"/>
                <a:cs typeface="Calibri"/>
                <a:sym typeface="Calibri"/>
              </a:rPr>
              <a:t> </a:t>
            </a:r>
          </a:p>
          <a:p>
            <a:pPr marL="558360" indent="-558360"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Noto Sans Symbols"/>
              <a:buChar char="❖"/>
            </a:pP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85000"/>
              </a:lnSpc>
              <a:spcBef>
                <a:spcPts val="1642"/>
              </a:spcBef>
              <a:spcAft>
                <a:spcPts val="0"/>
              </a:spcAft>
              <a:buClr>
                <a:srgbClr val="000000"/>
              </a:buClr>
              <a:buSzPts val="3600"/>
            </a:pPr>
            <a:endParaRPr sz="3516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>
            <a:spLocks noGrp="1"/>
          </p:cNvSpPr>
          <p:nvPr>
            <p:ph type="title"/>
          </p:nvPr>
        </p:nvSpPr>
        <p:spPr>
          <a:xfrm>
            <a:off x="1222279" y="287339"/>
            <a:ext cx="9806257" cy="14493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b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AR"/>
              <a:t>Contenidos</a:t>
            </a:r>
            <a:endParaRPr/>
          </a:p>
        </p:txBody>
      </p:sp>
      <p:sp>
        <p:nvSpPr>
          <p:cNvPr id="137" name="Google Shape;137;p2"/>
          <p:cNvSpPr txBox="1">
            <a:spLocks noGrp="1"/>
          </p:cNvSpPr>
          <p:nvPr>
            <p:ph type="dt" idx="10"/>
          </p:nvPr>
        </p:nvSpPr>
        <p:spPr>
          <a:xfrm>
            <a:off x="1222279" y="6459540"/>
            <a:ext cx="2411324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ES"/>
              <a:t>2026</a:t>
            </a:r>
            <a:endParaRPr/>
          </a:p>
        </p:txBody>
      </p:sp>
      <p:sp>
        <p:nvSpPr>
          <p:cNvPr id="138" name="Google Shape;138;p2"/>
          <p:cNvSpPr txBox="1">
            <a:spLocks noGrp="1"/>
          </p:cNvSpPr>
          <p:nvPr>
            <p:ph type="ftr" idx="11"/>
          </p:nvPr>
        </p:nvSpPr>
        <p:spPr>
          <a:xfrm>
            <a:off x="3746586" y="6459540"/>
            <a:ext cx="4701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r>
              <a:rPr lang="es-AR"/>
              <a:t>Ingeniería de Software II</a:t>
            </a:r>
            <a:endParaRPr/>
          </a:p>
        </p:txBody>
      </p:sp>
      <p:sp>
        <p:nvSpPr>
          <p:cNvPr id="139" name="Google Shape;139;p2"/>
          <p:cNvSpPr txBox="1">
            <a:spLocks noGrp="1"/>
          </p:cNvSpPr>
          <p:nvPr>
            <p:ph type="sldNum" idx="12"/>
          </p:nvPr>
        </p:nvSpPr>
        <p:spPr>
          <a:xfrm>
            <a:off x="9805850" y="6459540"/>
            <a:ext cx="1278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9296" tIns="44636" rIns="89296" bIns="44636" rtlCol="0" anchor="ctr" anchorCtr="0">
            <a:noAutofit/>
          </a:bodyPr>
          <a:lstStyle/>
          <a:p>
            <a:pPr>
              <a:buSzPts val="1000"/>
            </a:pPr>
            <a:fld id="{00000000-1234-1234-1234-123412341234}" type="slidenum">
              <a:rPr lang="es-AR"/>
              <a:pPr>
                <a:buSzPts val="1000"/>
              </a:pPr>
              <a:t>2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>
            <a:spLocks noGrp="1"/>
          </p:cNvSpPr>
          <p:nvPr>
            <p:ph type="title"/>
          </p:nvPr>
        </p:nvSpPr>
        <p:spPr>
          <a:xfrm>
            <a:off x="457199" y="1621409"/>
            <a:ext cx="3464351" cy="1258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ES" dirty="0"/>
              <a:t>Diseño de Interfaz de Usuario </a:t>
            </a:r>
            <a:endParaRPr dirty="0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3C9C5FC-DC5F-330B-D9AC-55AC66125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268" y="731520"/>
            <a:ext cx="6626571" cy="5257800"/>
          </a:xfrm>
        </p:spPr>
        <p:txBody>
          <a:bodyPr/>
          <a:lstStyle/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</a:rPr>
              <a:t>Se basa en diseño de computadoras, aplicaciones, máquinas, dispositivos de comunicación móvil, aplicaciones de software y sitios web enfocado en la experiencia de usuario y la interacción. </a:t>
            </a:r>
          </a:p>
          <a:p>
            <a:pPr marL="442913" indent="-442913" algn="just"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s-ES" sz="1400" dirty="0">
              <a:solidFill>
                <a:schemeClr val="tx1"/>
              </a:solidFill>
            </a:endParaRPr>
          </a:p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i="1" dirty="0">
                <a:solidFill>
                  <a:schemeClr val="tx1"/>
                </a:solidFill>
              </a:rPr>
              <a:t>Normalmente es una actividad multidisciplinar que involucra a varias ramas del diseño y el conocimiento como el diseño gráfico, industrial, web, de software y la ergonomía; y está implicado en un amplio rango de proyectos, desde sistemas para computadoras, vehículos hasta aviones comerciales.</a:t>
            </a:r>
            <a:endParaRPr lang="es-ES" sz="2800" dirty="0">
              <a:solidFill>
                <a:schemeClr val="tx1"/>
              </a:solidFill>
            </a:endParaRPr>
          </a:p>
          <a:p>
            <a:pPr algn="just"/>
            <a:endParaRPr lang="es-ES" sz="2800" dirty="0">
              <a:solidFill>
                <a:schemeClr val="tx1"/>
              </a:solidFill>
            </a:endParaRPr>
          </a:p>
        </p:txBody>
      </p:sp>
      <p:sp>
        <p:nvSpPr>
          <p:cNvPr id="71" name="Google Shape;71;p2"/>
          <p:cNvSpPr txBox="1">
            <a:spLocks noGrp="1"/>
          </p:cNvSpPr>
          <p:nvPr>
            <p:ph type="body"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s-ES" sz="1600" dirty="0"/>
              <a:t>UI - </a:t>
            </a:r>
            <a:r>
              <a:rPr lang="es-ES" sz="1600" dirty="0" err="1"/>
              <a:t>User</a:t>
            </a:r>
            <a:r>
              <a:rPr lang="es-ES" sz="1600" dirty="0"/>
              <a:t> Interface</a:t>
            </a:r>
          </a:p>
          <a:p>
            <a:pPr marL="91440" lvl="0" indent="-9144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</a:pPr>
            <a:endParaRPr lang="es-ES" dirty="0"/>
          </a:p>
          <a:p>
            <a:pPr marL="91440" lvl="0" indent="0" algn="just" rtl="0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SzPts val="2400"/>
              <a:buNone/>
            </a:pPr>
            <a:endParaRPr i="1" dirty="0"/>
          </a:p>
          <a:p>
            <a:pPr marL="91440" lvl="0" indent="0" algn="just" rtl="0">
              <a:lnSpc>
                <a:spcPct val="85000"/>
              </a:lnSpc>
              <a:spcBef>
                <a:spcPts val="1300"/>
              </a:spcBef>
              <a:spcAft>
                <a:spcPts val="0"/>
              </a:spcAft>
              <a:buSzPts val="2400"/>
              <a:buNone/>
            </a:pPr>
            <a:endParaRPr i="1" dirty="0"/>
          </a:p>
        </p:txBody>
      </p:sp>
      <p:sp>
        <p:nvSpPr>
          <p:cNvPr id="70" name="Google Shape;70;p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56F7BD2-D733-A0CA-B584-F8793AC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5E5CBE-62BE-0507-53AD-6C394304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Ingeniería de Software II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UI - Objetivo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CD03B27-A68C-0ED1-B08E-4B794D6A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0C1D3F5-CBEC-0AE5-8647-6D887278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F85679-6D44-BE88-B30F-B06FC280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</a:t>
            </a:fld>
            <a:endParaRPr lang="es-AR"/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El objetivo de la Interfaz de Usuario es </a:t>
            </a:r>
            <a:r>
              <a:rPr lang="es-ES" sz="2800" b="1" dirty="0">
                <a:solidFill>
                  <a:schemeClr val="tx1"/>
                </a:solidFill>
              </a:rPr>
              <a:t>mantener la interacción con los destinatarios </a:t>
            </a:r>
            <a:r>
              <a:rPr lang="es-ES" sz="2800" dirty="0">
                <a:solidFill>
                  <a:schemeClr val="tx1"/>
                </a:solidFill>
              </a:rPr>
              <a:t>de una forma más atractiva, centrando el diseño en ellos. </a:t>
            </a:r>
          </a:p>
          <a:p>
            <a:pPr marL="530225" lvl="0" indent="-530225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AR" sz="2800" dirty="0">
              <a:solidFill>
                <a:schemeClr val="tx1"/>
              </a:solidFill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El diseño gráfico y diseño industrial basan sus conocimientos para que los </a:t>
            </a:r>
            <a:r>
              <a:rPr lang="es-ES" sz="2800" b="1" dirty="0">
                <a:solidFill>
                  <a:schemeClr val="tx1"/>
                </a:solidFill>
              </a:rPr>
              <a:t>usuarios aprendan lo más rápido posible el funcionamiento </a:t>
            </a:r>
            <a:r>
              <a:rPr lang="es-ES" sz="2800" dirty="0">
                <a:solidFill>
                  <a:schemeClr val="tx1"/>
                </a:solidFill>
              </a:rPr>
              <a:t>del software</a:t>
            </a:r>
            <a:r>
              <a:rPr lang="es-AR" sz="2800" dirty="0">
                <a:solidFill>
                  <a:schemeClr val="tx1"/>
                </a:solidFill>
              </a:rPr>
              <a:t>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AR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Las herramientas principales que utilizan son recursos como la gráfica, los pictogramas, lo estético y la simbología, sin afectar el funcionamiento técnico eficiente.</a:t>
            </a:r>
          </a:p>
          <a:p>
            <a:pPr marL="0" lv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5" name="Google Shape;81;p3">
            <a:extLst>
              <a:ext uri="{FF2B5EF4-FFF2-40B4-BE49-F238E27FC236}">
                <a16:creationId xmlns:a16="http://schemas.microsoft.com/office/drawing/2014/main" id="{30CC8779-B6BE-3492-61B6-F6C1576C971E}"/>
              </a:ext>
            </a:extLst>
          </p:cNvPr>
          <p:cNvSpPr txBox="1"/>
          <p:nvPr/>
        </p:nvSpPr>
        <p:spPr>
          <a:xfrm>
            <a:off x="6589337" y="5810865"/>
            <a:ext cx="4711702" cy="4000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7150" dist="19050" dir="5400000" algn="ctr" rotWithShape="0">
              <a:srgbClr val="000000">
                <a:alpha val="61568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rol tienen los Ingenieros de Software?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8EC15E02-6F72-D2A3-6DA7-3CCB72D1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64C61A19-A0F1-03E5-B0EE-656812D83E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UI - Conceptos iniciales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104369-BA02-9953-7500-0644EDA4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827B0E-390A-D137-A55E-B77782076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6ED7B5-22B8-7A3B-FE4A-B31E9A35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225E0ACF-FD06-636F-4A4A-0654AD7786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Es la categoría de diseño que crea un medio de comunicación entre el hombre y la máquina.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100" dirty="0">
              <a:solidFill>
                <a:schemeClr val="tx1"/>
              </a:solidFill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Con </a:t>
            </a:r>
            <a:r>
              <a:rPr lang="es-ES" sz="2800" b="1" dirty="0">
                <a:solidFill>
                  <a:schemeClr val="tx1"/>
                </a:solidFill>
              </a:rPr>
              <a:t>un conjunto de principios </a:t>
            </a:r>
            <a:r>
              <a:rPr lang="es-ES" sz="2800" dirty="0">
                <a:solidFill>
                  <a:schemeClr val="tx1"/>
                </a:solidFill>
              </a:rPr>
              <a:t>se crea un formato de pantalla.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100" dirty="0">
              <a:solidFill>
                <a:schemeClr val="tx1"/>
              </a:solidFill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Es necesario </a:t>
            </a:r>
            <a:r>
              <a:rPr lang="es-ES" sz="2800" b="1" dirty="0">
                <a:solidFill>
                  <a:schemeClr val="tx1"/>
                </a:solidFill>
              </a:rPr>
              <a:t>estudiar las preferencias de las personas </a:t>
            </a:r>
            <a:r>
              <a:rPr lang="es-ES" sz="2800" dirty="0">
                <a:solidFill>
                  <a:schemeClr val="tx1"/>
                </a:solidFill>
              </a:rPr>
              <a:t>para producir tecnología que se adapte a los seres humanos.</a:t>
            </a:r>
          </a:p>
          <a:p>
            <a:pPr marL="0" lv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sz="2800" dirty="0">
              <a:solidFill>
                <a:schemeClr val="tx1"/>
              </a:solidFill>
            </a:endParaRPr>
          </a:p>
        </p:txBody>
      </p:sp>
      <p:pic>
        <p:nvPicPr>
          <p:cNvPr id="6" name="Google Shape;90;p4">
            <a:extLst>
              <a:ext uri="{FF2B5EF4-FFF2-40B4-BE49-F238E27FC236}">
                <a16:creationId xmlns:a16="http://schemas.microsoft.com/office/drawing/2014/main" id="{8AECAF88-6480-5089-A6E9-E074A46D79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034"/>
          <a:stretch/>
        </p:blipFill>
        <p:spPr>
          <a:xfrm>
            <a:off x="8509000" y="4204620"/>
            <a:ext cx="3305769" cy="2051849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417725C-3B3A-3B0D-F5FF-72B2A42985FA}"/>
              </a:ext>
            </a:extLst>
          </p:cNvPr>
          <p:cNvSpPr txBox="1"/>
          <p:nvPr/>
        </p:nvSpPr>
        <p:spPr>
          <a:xfrm>
            <a:off x="1096962" y="4520546"/>
            <a:ext cx="74120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buSzPts val="2400"/>
            </a:pPr>
            <a:r>
              <a:rPr lang="es-ES" sz="20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En la actualidad tendemos a estudiar sólo a la tecnología. El resultado es que se exige a las personas que se adapten a la tecnología.</a:t>
            </a:r>
            <a:endParaRPr lang="es-ES" sz="2000" dirty="0">
              <a:latin typeface="+mn-lt"/>
            </a:endParaRPr>
          </a:p>
          <a:p>
            <a:pPr lvl="0" algn="just">
              <a:buSzPts val="2400"/>
            </a:pPr>
            <a:endParaRPr lang="es-ES" sz="20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lvl="0" algn="just">
              <a:buSzPts val="2400"/>
            </a:pPr>
            <a:r>
              <a:rPr lang="es-ES" sz="2000" u="sng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Es el momento de que la tecnología se adapte a las personas</a:t>
            </a:r>
            <a:r>
              <a:rPr lang="es-ES" sz="20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.</a:t>
            </a:r>
          </a:p>
          <a:p>
            <a:endParaRPr lang="es-AR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914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19EFF08B-B562-EFD1-EFA5-B17147B2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8ABA8C90-A708-0C9B-A5BA-32331F5F96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UI - Conceptos iniciales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D46AFB1-7978-3E8A-9AE7-EA53A3E4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D7A4E0-4467-F0E7-0226-C9A5D2653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2EF877-C03B-D53C-4698-466EC79E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6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8C798363-2A97-F78F-4658-65775B67DE0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Una interfaz difícil de utilizar provoca que los usuarios cometan errores o incluso que se rehúsen a utilizar el sistema.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100" dirty="0">
              <a:solidFill>
                <a:schemeClr val="tx1"/>
              </a:solidFill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Personas diferentes pueden tener estilos diferentes de percepción, comprensión y trabajo. </a:t>
            </a:r>
            <a:endParaRPr lang="es-ES" sz="2800" b="1" dirty="0">
              <a:solidFill>
                <a:schemeClr val="tx1"/>
              </a:solidFill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b="1" dirty="0">
              <a:solidFill>
                <a:schemeClr val="tx1"/>
              </a:solidFill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b="1" dirty="0">
              <a:solidFill>
                <a:schemeClr val="tx1"/>
              </a:solidFill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b="1" dirty="0">
              <a:solidFill>
                <a:schemeClr val="tx1"/>
              </a:solidFill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b="1" dirty="0">
              <a:solidFill>
                <a:schemeClr val="tx1"/>
              </a:solidFill>
            </a:endParaRP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r>
              <a:rPr lang="es-ES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La interfaz debe contribuir a que el usuario consiga un </a:t>
            </a:r>
            <a:r>
              <a:rPr lang="es-ES" b="1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rápido acceso al contenido </a:t>
            </a:r>
            <a:r>
              <a:rPr lang="es-ES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de sistemas complejos, </a:t>
            </a:r>
            <a:r>
              <a:rPr lang="es-ES" b="1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sin pérdida de la comprensión </a:t>
            </a:r>
            <a:r>
              <a:rPr lang="es-ES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mientras se desplaza a través de la información.</a:t>
            </a:r>
            <a:endParaRPr lang="es-E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b="1" dirty="0">
              <a:solidFill>
                <a:schemeClr val="tx1"/>
              </a:solidFill>
            </a:endParaRPr>
          </a:p>
        </p:txBody>
      </p:sp>
      <p:pic>
        <p:nvPicPr>
          <p:cNvPr id="5" name="Google Shape;100;p5">
            <a:extLst>
              <a:ext uri="{FF2B5EF4-FFF2-40B4-BE49-F238E27FC236}">
                <a16:creationId xmlns:a16="http://schemas.microsoft.com/office/drawing/2014/main" id="{FBC506F9-0BC5-BFC2-F517-F0E9715CFB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5874" b="5348"/>
          <a:stretch>
            <a:fillRect/>
          </a:stretch>
        </p:blipFill>
        <p:spPr>
          <a:xfrm>
            <a:off x="6862917" y="3320844"/>
            <a:ext cx="5039851" cy="23818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96359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42930854-108B-A53B-74D3-E6443B42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C66D85B0-FDDA-B003-C3AA-5A4B37CF29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UI - Conceptos iniciales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78E257C-D2BD-90B9-B82D-646285A6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984D7A-646E-D9C8-98F3-C888C83F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E61D7-3FCC-8879-3FEA-C41331ED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7</a:t>
            </a:fld>
            <a:endParaRPr lang="es-AR"/>
          </a:p>
        </p:txBody>
      </p:sp>
      <p:pic>
        <p:nvPicPr>
          <p:cNvPr id="6" name="Google Shape;110;p6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8DC2D4E8-A0D8-AA1F-F60F-EB18E312BF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1098" b="7494"/>
          <a:stretch>
            <a:fillRect/>
          </a:stretch>
        </p:blipFill>
        <p:spPr>
          <a:xfrm>
            <a:off x="2463646" y="1848464"/>
            <a:ext cx="7325033" cy="43422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317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7FF713BC-83A1-7BCF-6899-089CAAD1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71731B90-DC88-0224-F405-4DD06A780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para el diseño de la interfaz de usuario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0202E7-7812-26FB-FBE2-44334FDA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BFCAE8-D03D-4CCC-9B7B-8D0332C7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C02EEB-CFAF-075B-E125-F296E15D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8</a:t>
            </a:fld>
            <a:endParaRPr lang="es-AR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784A79-4CCB-5BBD-B2C8-C96427C0A46F}"/>
              </a:ext>
            </a:extLst>
          </p:cNvPr>
          <p:cNvGrpSpPr/>
          <p:nvPr/>
        </p:nvGrpSpPr>
        <p:grpSpPr>
          <a:xfrm>
            <a:off x="1927788" y="1845989"/>
            <a:ext cx="8396749" cy="3964876"/>
            <a:chOff x="1927788" y="1845989"/>
            <a:chExt cx="8396749" cy="396487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9E20EB3-0701-FB21-F687-8B36C0D88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645" t="5534" r="14113" b="12439"/>
            <a:stretch>
              <a:fillRect/>
            </a:stretch>
          </p:blipFill>
          <p:spPr>
            <a:xfrm>
              <a:off x="1927788" y="1845989"/>
              <a:ext cx="8396749" cy="3964876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5F5CBC3-57A0-8A87-C81D-36FB31EA3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186203">
              <a:off x="5523499" y="3198958"/>
              <a:ext cx="884652" cy="810931"/>
            </a:xfrm>
            <a:prstGeom prst="rect">
              <a:avLst/>
            </a:prstGeom>
          </p:spPr>
        </p:pic>
      </p:grpSp>
      <p:sp>
        <p:nvSpPr>
          <p:cNvPr id="17" name="Google Shape;119;p7">
            <a:extLst>
              <a:ext uri="{FF2B5EF4-FFF2-40B4-BE49-F238E27FC236}">
                <a16:creationId xmlns:a16="http://schemas.microsoft.com/office/drawing/2014/main" id="{6C337AC7-B39A-670F-E5F0-62117EC62776}"/>
              </a:ext>
            </a:extLst>
          </p:cNvPr>
          <p:cNvSpPr/>
          <p:nvPr/>
        </p:nvSpPr>
        <p:spPr>
          <a:xfrm>
            <a:off x="3133502" y="2080598"/>
            <a:ext cx="290466" cy="304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20;p7">
            <a:extLst>
              <a:ext uri="{FF2B5EF4-FFF2-40B4-BE49-F238E27FC236}">
                <a16:creationId xmlns:a16="http://schemas.microsoft.com/office/drawing/2014/main" id="{C2C87CB9-5117-C769-A5E5-FD48DCF60C9D}"/>
              </a:ext>
            </a:extLst>
          </p:cNvPr>
          <p:cNvSpPr/>
          <p:nvPr/>
        </p:nvSpPr>
        <p:spPr>
          <a:xfrm>
            <a:off x="5409606" y="2084202"/>
            <a:ext cx="290466" cy="304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21;p7">
            <a:extLst>
              <a:ext uri="{FF2B5EF4-FFF2-40B4-BE49-F238E27FC236}">
                <a16:creationId xmlns:a16="http://schemas.microsoft.com/office/drawing/2014/main" id="{E68C88B9-297C-8EFD-1B5D-4374BACE46D8}"/>
              </a:ext>
            </a:extLst>
          </p:cNvPr>
          <p:cNvSpPr/>
          <p:nvPr/>
        </p:nvSpPr>
        <p:spPr>
          <a:xfrm>
            <a:off x="7462453" y="2080598"/>
            <a:ext cx="290466" cy="304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22;p7">
            <a:extLst>
              <a:ext uri="{FF2B5EF4-FFF2-40B4-BE49-F238E27FC236}">
                <a16:creationId xmlns:a16="http://schemas.microsoft.com/office/drawing/2014/main" id="{FBCCDADB-1674-6142-E165-ABBF22B63121}"/>
              </a:ext>
            </a:extLst>
          </p:cNvPr>
          <p:cNvSpPr/>
          <p:nvPr/>
        </p:nvSpPr>
        <p:spPr>
          <a:xfrm>
            <a:off x="7690275" y="3523627"/>
            <a:ext cx="290466" cy="304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23;p7">
            <a:extLst>
              <a:ext uri="{FF2B5EF4-FFF2-40B4-BE49-F238E27FC236}">
                <a16:creationId xmlns:a16="http://schemas.microsoft.com/office/drawing/2014/main" id="{6995E21F-5BAF-29B7-174B-5953C48210FA}"/>
              </a:ext>
            </a:extLst>
          </p:cNvPr>
          <p:cNvSpPr/>
          <p:nvPr/>
        </p:nvSpPr>
        <p:spPr>
          <a:xfrm>
            <a:off x="10034071" y="3523627"/>
            <a:ext cx="290466" cy="304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24;p7">
            <a:extLst>
              <a:ext uri="{FF2B5EF4-FFF2-40B4-BE49-F238E27FC236}">
                <a16:creationId xmlns:a16="http://schemas.microsoft.com/office/drawing/2014/main" id="{8A867CD8-E416-5DC9-A392-0C0FEE594AB3}"/>
              </a:ext>
            </a:extLst>
          </p:cNvPr>
          <p:cNvSpPr/>
          <p:nvPr/>
        </p:nvSpPr>
        <p:spPr>
          <a:xfrm>
            <a:off x="10038951" y="4686783"/>
            <a:ext cx="290466" cy="3048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385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ES" dirty="0"/>
              <a:t>Diseño de la interfaz del usuario - Proceso </a:t>
            </a:r>
            <a:endParaRPr dirty="0"/>
          </a:p>
        </p:txBody>
      </p:sp>
      <p:sp>
        <p:nvSpPr>
          <p:cNvPr id="130" name="Google Shape;130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B747BE-507F-8020-1033-F0FE4858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DAE0CA9-23AA-EB4F-D3F9-CA0CB5BD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Ingeniería de Software II</a:t>
            </a:r>
          </a:p>
        </p:txBody>
      </p:sp>
      <p:sp>
        <p:nvSpPr>
          <p:cNvPr id="4" name="Google Shape;134;p4">
            <a:extLst>
              <a:ext uri="{FF2B5EF4-FFF2-40B4-BE49-F238E27FC236}">
                <a16:creationId xmlns:a16="http://schemas.microsoft.com/office/drawing/2014/main" id="{F3AE9263-05D3-D5F1-1BCF-65B174EADCC3}"/>
              </a:ext>
            </a:extLst>
          </p:cNvPr>
          <p:cNvSpPr txBox="1">
            <a:spLocks/>
          </p:cNvSpPr>
          <p:nvPr/>
        </p:nvSpPr>
        <p:spPr bwMode="auto">
          <a:xfrm>
            <a:off x="1030288" y="1958360"/>
            <a:ext cx="10414460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El proceso de análisis y diseño de interfaces de usuario es iterativo.</a:t>
            </a:r>
            <a:endParaRPr lang="es-ES" sz="2800"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8CA4FB-B3D1-9B17-41D8-480998475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32" t="9993" r="6093" b="14441"/>
          <a:stretch>
            <a:fillRect/>
          </a:stretch>
        </p:blipFill>
        <p:spPr>
          <a:xfrm>
            <a:off x="2122718" y="2612605"/>
            <a:ext cx="8229600" cy="3397276"/>
          </a:xfrm>
          <a:prstGeom prst="rect">
            <a:avLst/>
          </a:prstGeom>
        </p:spPr>
      </p:pic>
      <p:sp>
        <p:nvSpPr>
          <p:cNvPr id="7" name="Google Shape;804;p45">
            <a:extLst>
              <a:ext uri="{FF2B5EF4-FFF2-40B4-BE49-F238E27FC236}">
                <a16:creationId xmlns:a16="http://schemas.microsoft.com/office/drawing/2014/main" id="{90E7A46D-1C89-0808-AE2C-C9C1877322EF}"/>
              </a:ext>
            </a:extLst>
          </p:cNvPr>
          <p:cNvSpPr/>
          <p:nvPr/>
        </p:nvSpPr>
        <p:spPr>
          <a:xfrm>
            <a:off x="9263029" y="1958360"/>
            <a:ext cx="2906729" cy="1097156"/>
          </a:xfrm>
          <a:prstGeom prst="borderCallout2">
            <a:avLst>
              <a:gd name="adj1" fmla="val 49667"/>
              <a:gd name="adj2" fmla="val -722"/>
              <a:gd name="adj3" fmla="val 49667"/>
              <a:gd name="adj4" fmla="val -17174"/>
              <a:gd name="adj5" fmla="val 112500"/>
              <a:gd name="adj6" fmla="val -46667"/>
            </a:avLst>
          </a:prstGeom>
          <a:solidFill>
            <a:srgbClr val="DF695B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>
              <a:buSzPts val="1800"/>
            </a:pPr>
            <a:r>
              <a:rPr lang="es-ES" sz="1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Definir objetos y acciones de la interfaz (operaciones) con el uso de la información desarrollada en el análisis de la interfaz. 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05;p45">
            <a:extLst>
              <a:ext uri="{FF2B5EF4-FFF2-40B4-BE49-F238E27FC236}">
                <a16:creationId xmlns:a16="http://schemas.microsoft.com/office/drawing/2014/main" id="{DC338259-E2EF-70F5-57E7-B57054647B93}"/>
              </a:ext>
            </a:extLst>
          </p:cNvPr>
          <p:cNvSpPr/>
          <p:nvPr/>
        </p:nvSpPr>
        <p:spPr>
          <a:xfrm>
            <a:off x="8804976" y="5398900"/>
            <a:ext cx="3360535" cy="1046531"/>
          </a:xfrm>
          <a:prstGeom prst="borderCallout2">
            <a:avLst>
              <a:gd name="adj1" fmla="val 46935"/>
              <a:gd name="adj2" fmla="val 444"/>
              <a:gd name="adj3" fmla="val 46936"/>
              <a:gd name="adj4" fmla="val -16228"/>
              <a:gd name="adj5" fmla="val -10106"/>
              <a:gd name="adj6" fmla="val -43157"/>
            </a:avLst>
          </a:prstGeom>
          <a:solidFill>
            <a:srgbClr val="DF695B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Definir eventos (acciones del usuario) que harán que cambie el estado de la interfaz de usuario. Hay que modelar este comportamiento. 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804;p45">
            <a:extLst>
              <a:ext uri="{FF2B5EF4-FFF2-40B4-BE49-F238E27FC236}">
                <a16:creationId xmlns:a16="http://schemas.microsoft.com/office/drawing/2014/main" id="{4433153B-5CE8-D5F4-2678-99F9C089A85D}"/>
              </a:ext>
            </a:extLst>
          </p:cNvPr>
          <p:cNvSpPr/>
          <p:nvPr/>
        </p:nvSpPr>
        <p:spPr>
          <a:xfrm>
            <a:off x="26489" y="5256579"/>
            <a:ext cx="2473326" cy="853860"/>
          </a:xfrm>
          <a:prstGeom prst="borderCallout2">
            <a:avLst>
              <a:gd name="adj1" fmla="val 49667"/>
              <a:gd name="adj2" fmla="val 99233"/>
              <a:gd name="adj3" fmla="val 49667"/>
              <a:gd name="adj4" fmla="val 117284"/>
              <a:gd name="adj5" fmla="val 4961"/>
              <a:gd name="adj6" fmla="val 144618"/>
            </a:avLst>
          </a:prstGeom>
          <a:solidFill>
            <a:srgbClr val="DF695B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>
              <a:buSzPts val="1800"/>
            </a:pPr>
            <a:r>
              <a:rPr lang="es-ES" sz="1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Ilustrar cada estado de la interfaz como lo vería en la realidad el usuario final. 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04;p45">
            <a:extLst>
              <a:ext uri="{FF2B5EF4-FFF2-40B4-BE49-F238E27FC236}">
                <a16:creationId xmlns:a16="http://schemas.microsoft.com/office/drawing/2014/main" id="{2F6C7AA4-1FE0-5248-4435-196148AE74F3}"/>
              </a:ext>
            </a:extLst>
          </p:cNvPr>
          <p:cNvSpPr/>
          <p:nvPr/>
        </p:nvSpPr>
        <p:spPr>
          <a:xfrm>
            <a:off x="24604" y="2186382"/>
            <a:ext cx="2746208" cy="982772"/>
          </a:xfrm>
          <a:prstGeom prst="borderCallout2">
            <a:avLst>
              <a:gd name="adj1" fmla="val 49667"/>
              <a:gd name="adj2" fmla="val 99233"/>
              <a:gd name="adj3" fmla="val 49667"/>
              <a:gd name="adj4" fmla="val 117284"/>
              <a:gd name="adj5" fmla="val 96503"/>
              <a:gd name="adj6" fmla="val 138173"/>
            </a:avLst>
          </a:prstGeom>
          <a:solidFill>
            <a:srgbClr val="DF695B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lvl="0" algn="ctr">
              <a:buSzPts val="1800"/>
            </a:pPr>
            <a:r>
              <a:rPr lang="es-ES" sz="16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Indicar cómo interpreta el usuario el estado del sistema a partir de la información provista a través de la interfaz.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D313F0DC-A659-F09D-7FF2-E98756C2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29933B86-5C30-5845-2F92-836967DA4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135625"/>
            <a:ext cx="3200400" cy="1744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ES" dirty="0"/>
              <a:t>Diseño de Experiencia de Usuario</a:t>
            </a:r>
            <a:endParaRPr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9275E7B-A4E0-5F20-D0B4-1EB492963CD9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</a:rPr>
              <a:t>Conjunto de métodos aplicados al proceso de diseño que buscan satisfacer las necesidades del cliente y proporciona una buena experiencia a los usuarios destinatarios.</a:t>
            </a:r>
          </a:p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es-ES" sz="2800" dirty="0">
              <a:solidFill>
                <a:schemeClr val="tx1"/>
              </a:solidFill>
            </a:endParaRPr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58C97FF9-6990-C103-35E7-06E39655A3FE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</a:pPr>
            <a:r>
              <a:rPr lang="es-ES" sz="1600" dirty="0">
                <a:solidFill>
                  <a:schemeClr val="bg1"/>
                </a:solidFill>
              </a:rPr>
              <a:t>UX - </a:t>
            </a:r>
            <a:r>
              <a:rPr lang="es-ES" sz="1600" dirty="0" err="1">
                <a:solidFill>
                  <a:schemeClr val="bg1"/>
                </a:solidFill>
              </a:rPr>
              <a:t>User</a:t>
            </a:r>
            <a:r>
              <a:rPr lang="es-ES" sz="1600" dirty="0">
                <a:solidFill>
                  <a:schemeClr val="bg1"/>
                </a:solidFill>
              </a:rPr>
              <a:t> </a:t>
            </a:r>
            <a:r>
              <a:rPr lang="es-ES" sz="1600" dirty="0" err="1">
                <a:solidFill>
                  <a:schemeClr val="bg1"/>
                </a:solidFill>
              </a:rPr>
              <a:t>Experience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514410-225D-0DC2-8A93-0BD95CCA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303F73-5EBA-3866-CA59-F2001CA8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86DF6D-316E-91D5-ECD7-015144C6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10</a:t>
            </a:fld>
            <a:endParaRPr lang="es-AR"/>
          </a:p>
        </p:txBody>
      </p:sp>
      <p:pic>
        <p:nvPicPr>
          <p:cNvPr id="6" name="Google Shape;146;p9">
            <a:extLst>
              <a:ext uri="{FF2B5EF4-FFF2-40B4-BE49-F238E27FC236}">
                <a16:creationId xmlns:a16="http://schemas.microsoft.com/office/drawing/2014/main" id="{1E8EEC95-7B4A-2119-F8A5-5DEA826401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6734"/>
          <a:stretch>
            <a:fillRect/>
          </a:stretch>
        </p:blipFill>
        <p:spPr>
          <a:xfrm>
            <a:off x="5026819" y="2720602"/>
            <a:ext cx="6492240" cy="379008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50934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3A4A1351-9C39-4C54-4947-40283D40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F4BEB8DC-86C0-42BE-943C-05A45F912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diseño de UX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4B41F3-294B-506A-7B69-9397D556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34EE12-A4AF-CE32-3376-BE0FA20F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29123C-DF31-D205-7926-9076248C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11</a:t>
            </a:fld>
            <a:endParaRPr lang="es-AR"/>
          </a:p>
        </p:txBody>
      </p:sp>
      <p:pic>
        <p:nvPicPr>
          <p:cNvPr id="5" name="Google Shape;152;p10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5421D6E6-ACEA-22F8-FE9A-60D845CC06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653" t="20878" r="3570" b="7029"/>
          <a:stretch>
            <a:fillRect/>
          </a:stretch>
        </p:blipFill>
        <p:spPr>
          <a:xfrm>
            <a:off x="1605782" y="1834254"/>
            <a:ext cx="9040762" cy="4468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2697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5E68265C-F1CE-2D56-27B7-A76D4014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>
            <a:extLst>
              <a:ext uri="{FF2B5EF4-FFF2-40B4-BE49-F238E27FC236}">
                <a16:creationId xmlns:a16="http://schemas.microsoft.com/office/drawing/2014/main" id="{35E19FEC-57EC-81B9-CA72-4BC64F57FB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ES" dirty="0"/>
              <a:t>Diseño de Experiencia de Usuario - Proceso </a:t>
            </a:r>
            <a:endParaRPr dirty="0"/>
          </a:p>
        </p:txBody>
      </p:sp>
      <p:sp>
        <p:nvSpPr>
          <p:cNvPr id="130" name="Google Shape;130;p8">
            <a:extLst>
              <a:ext uri="{FF2B5EF4-FFF2-40B4-BE49-F238E27FC236}">
                <a16:creationId xmlns:a16="http://schemas.microsoft.com/office/drawing/2014/main" id="{38F90406-D24E-3201-475F-2C2F490C433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A10A75-C850-B078-B038-457AB6B9D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2026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2D97A0-D08A-43A1-4FC2-D61FB9787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Ingeniería de Software II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C91B58D-9D81-566F-E07E-8D8B6C756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184275"/>
            <a:ext cx="9753600" cy="27813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583DF59-E73E-C2A9-C2CF-858E7F38F6BB}"/>
              </a:ext>
            </a:extLst>
          </p:cNvPr>
          <p:cNvSpPr txBox="1"/>
          <p:nvPr/>
        </p:nvSpPr>
        <p:spPr>
          <a:xfrm>
            <a:off x="266736" y="4936976"/>
            <a:ext cx="2712438" cy="873889"/>
          </a:xfrm>
          <a:prstGeom prst="borderCallout2">
            <a:avLst>
              <a:gd name="adj1" fmla="val 186"/>
              <a:gd name="adj2" fmla="val 12329"/>
              <a:gd name="adj3" fmla="val -60571"/>
              <a:gd name="adj4" fmla="val 12151"/>
              <a:gd name="adj5" fmla="val -233473"/>
              <a:gd name="adj6" fmla="val 59904"/>
            </a:avLst>
          </a:prstGeom>
          <a:solidFill>
            <a:srgbClr val="DF695B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1800"/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/>
              <a:t>Obtener toda la información posible del proyecto y del producto a diseñar.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5F9D3D-D44B-046E-C8CF-B012AA5F66CB}"/>
              </a:ext>
            </a:extLst>
          </p:cNvPr>
          <p:cNvSpPr txBox="1"/>
          <p:nvPr/>
        </p:nvSpPr>
        <p:spPr>
          <a:xfrm>
            <a:off x="3125659" y="5157999"/>
            <a:ext cx="2536721" cy="873889"/>
          </a:xfrm>
          <a:prstGeom prst="borderCallout2">
            <a:avLst>
              <a:gd name="adj1" fmla="val -1502"/>
              <a:gd name="adj2" fmla="val 78295"/>
              <a:gd name="adj3" fmla="val -65634"/>
              <a:gd name="adj4" fmla="val 78101"/>
              <a:gd name="adj5" fmla="val -265539"/>
              <a:gd name="adj6" fmla="val 52170"/>
            </a:avLst>
          </a:prstGeom>
          <a:solidFill>
            <a:srgbClr val="DF695B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1800"/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/>
              <a:t>Organizar toda la información obtenida para convertirla en un producto.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ECD9BFF-2A81-7D7C-0200-7535FE37A1B2}"/>
              </a:ext>
            </a:extLst>
          </p:cNvPr>
          <p:cNvSpPr txBox="1"/>
          <p:nvPr/>
        </p:nvSpPr>
        <p:spPr>
          <a:xfrm>
            <a:off x="5921068" y="4991585"/>
            <a:ext cx="2109837" cy="873888"/>
          </a:xfrm>
          <a:prstGeom prst="borderCallout2">
            <a:avLst>
              <a:gd name="adj1" fmla="val 186"/>
              <a:gd name="adj2" fmla="val 60172"/>
              <a:gd name="adj3" fmla="val -52132"/>
              <a:gd name="adj4" fmla="val 60226"/>
              <a:gd name="adj5" fmla="val -250350"/>
              <a:gd name="adj6" fmla="val 24634"/>
            </a:avLst>
          </a:prstGeom>
          <a:solidFill>
            <a:srgbClr val="DF695B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1800"/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/>
              <a:t>Proponer el diseño del producto a partir de lo organizado.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64E839-2852-4C2E-C49C-7FF87C72B2F8}"/>
              </a:ext>
            </a:extLst>
          </p:cNvPr>
          <p:cNvSpPr txBox="1"/>
          <p:nvPr/>
        </p:nvSpPr>
        <p:spPr>
          <a:xfrm>
            <a:off x="8289593" y="5129211"/>
            <a:ext cx="1874447" cy="736262"/>
          </a:xfrm>
          <a:prstGeom prst="borderCallout2">
            <a:avLst>
              <a:gd name="adj1" fmla="val 722"/>
              <a:gd name="adj2" fmla="val 29434"/>
              <a:gd name="adj3" fmla="val -65382"/>
              <a:gd name="adj4" fmla="val 29755"/>
              <a:gd name="adj5" fmla="val -312166"/>
              <a:gd name="adj6" fmla="val 542"/>
            </a:avLst>
          </a:prstGeom>
          <a:solidFill>
            <a:srgbClr val="DF695B"/>
          </a:solidFill>
          <a:ln w="254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SzPts val="1800"/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s-ES" dirty="0"/>
              <a:t>Comprobar el diseño propuesto del producto.</a:t>
            </a:r>
          </a:p>
        </p:txBody>
      </p:sp>
    </p:spTree>
    <p:extLst>
      <p:ext uri="{BB962C8B-B14F-4D97-AF65-F5344CB8AC3E}">
        <p14:creationId xmlns:p14="http://schemas.microsoft.com/office/powerpoint/2010/main" val="250786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EAA4F552-797C-2F1D-B5B3-BA70AEEB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C4CAAB22-B4A7-99C1-4FBA-E5081EA85E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sz="3850" dirty="0"/>
              <a:t>UX – Fuentes de datos de investigación de usuarios</a:t>
            </a:r>
            <a:endParaRPr sz="385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A158A8-D0A5-3182-D3B8-792FB856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21B7E1-CF91-9601-6918-07F84631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92B074-B58B-F8C5-F4DA-9A07B0C4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13</a:t>
            </a:fld>
            <a:endParaRPr lang="es-AR"/>
          </a:p>
        </p:txBody>
      </p:sp>
      <p:pic>
        <p:nvPicPr>
          <p:cNvPr id="6" name="Google Shape;179;p13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32CA246C-250F-B542-63E5-707ED7A15C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402" t="22477" r="3208" b="7360"/>
          <a:stretch>
            <a:fillRect/>
          </a:stretch>
        </p:blipFill>
        <p:spPr>
          <a:xfrm>
            <a:off x="1306966" y="1880653"/>
            <a:ext cx="9578067" cy="43431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8416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C58A156-B838-9A34-44A0-217B39EA6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B1364F8D-0F33-11FB-C37E-20C615325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UI y UX – Creación de perfil de usuario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B8378C-8156-E1C5-8B9A-37E46B42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9F0167-DAB9-8077-E958-0CE07C04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862A91-0985-033A-6613-19407046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14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AD66B417-4A0C-0898-D552-F539C7D88A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182225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Información a  relevar del usuario para crear el perfil de usuario: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Franja de edad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Etnia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Género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Experiencia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Nivel de ingresos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Idioma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Nivel de Estudios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Localización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Ocupación o profesión</a:t>
            </a:r>
          </a:p>
          <a:p>
            <a:pPr marL="722313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Religión</a:t>
            </a:r>
            <a:endParaRPr lang="es-ES" sz="2800" dirty="0">
              <a:solidFill>
                <a:schemeClr val="tx1"/>
              </a:solidFill>
            </a:endParaRPr>
          </a:p>
        </p:txBody>
      </p:sp>
      <p:pic>
        <p:nvPicPr>
          <p:cNvPr id="6" name="Google Shape;188;p14">
            <a:extLst>
              <a:ext uri="{FF2B5EF4-FFF2-40B4-BE49-F238E27FC236}">
                <a16:creationId xmlns:a16="http://schemas.microsoft.com/office/drawing/2014/main" id="{8B485314-EC84-1671-A6F5-AB77A3E970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6499" y="2852610"/>
            <a:ext cx="6096000" cy="304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592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E66E18D-FB30-DC8E-439F-CA467901C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BCCE8939-1F81-2EC3-2FC9-9D1AF378C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UI y UX – Relevamiento de la tarea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5003F9-ED19-9A8D-9BD2-E97EF4EDD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3D3237-ACAB-ACFF-26CE-2467A846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654EEC-84EB-4104-7CE9-C1DD216A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15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C000CD08-B2EE-3EB5-CB5D-0301D2A6212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30288" y="1958360"/>
            <a:ext cx="10561944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Contexto y ambiente de trabajo: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Estudio de las partes implicadas en el sistema.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Revisión de las competencias del producto.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Recorridos del usuario dentro del sistema físico o virtual.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¿Qué trabajo realizará el usuario en circunstancias específicas? 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¿Qué tareas y subtareas se efectuarán cuando el usuario haga su trabajo? 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¿Qué dominio de problema específico manipulará el usuario al realizar su labor? 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¿Cuál es la secuencia de las tareas (el flujo del trabajo)? 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¿Cuál es la jerarquía de las tareas? 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1800" i="1" dirty="0"/>
              <a:t>Esta etapa se realiza en paralelo a la generación de la especificación de requerimientos que se esté utilizando</a:t>
            </a:r>
          </a:p>
          <a:p>
            <a:pPr marL="176212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299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B0F0F1DC-B9EB-AB4A-1D2E-E8A6C851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476EB78A-F5FC-9ADA-4CD0-1A50067A07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Iceberg de UX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20872BB-FC7C-9523-33DF-605041DC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8BAD7C-E490-5249-B887-0C4CCA2AD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F87A7-7C99-CB60-5925-CE5B28BB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16</a:t>
            </a:fld>
            <a:endParaRPr lang="es-AR"/>
          </a:p>
        </p:txBody>
      </p:sp>
      <p:pic>
        <p:nvPicPr>
          <p:cNvPr id="5" name="Google Shape;204;p16">
            <a:extLst>
              <a:ext uri="{FF2B5EF4-FFF2-40B4-BE49-F238E27FC236}">
                <a16:creationId xmlns:a16="http://schemas.microsoft.com/office/drawing/2014/main" id="{DDC49D96-AADC-605F-9CFF-23472CB9B7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756" b="5685"/>
          <a:stretch>
            <a:fillRect/>
          </a:stretch>
        </p:blipFill>
        <p:spPr>
          <a:xfrm>
            <a:off x="2479282" y="1736725"/>
            <a:ext cx="7293762" cy="4606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3018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DF625B9F-A3C9-DCD2-D72A-3EDF7ED7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C10FD19B-3249-56F9-5B31-1E53ABC06E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Diferencia entre UI y UX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B56139F-EC42-2778-69B7-B4B4C0457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BB0DCA-75E2-FE29-A87E-D10C86A1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83F3AE-88F1-5AE8-03E5-F2C6E524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17</a:t>
            </a:fld>
            <a:endParaRPr lang="es-AR"/>
          </a:p>
        </p:txBody>
      </p:sp>
      <p:pic>
        <p:nvPicPr>
          <p:cNvPr id="6" name="Google Shape;213;p17">
            <a:extLst>
              <a:ext uri="{FF2B5EF4-FFF2-40B4-BE49-F238E27FC236}">
                <a16:creationId xmlns:a16="http://schemas.microsoft.com/office/drawing/2014/main" id="{0C48E04C-82EC-92B6-5DDB-9CA3F266FE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354" t="22777" r="4925" b="3458"/>
          <a:stretch>
            <a:fillRect/>
          </a:stretch>
        </p:blipFill>
        <p:spPr>
          <a:xfrm>
            <a:off x="3958150" y="1799304"/>
            <a:ext cx="4271450" cy="45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686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3BE91E8-EFA2-B98B-B791-C75C60B0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AF0AE066-D2FE-E2F4-9013-6683F60DFF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Ambos conceptos colaboran en el diseño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9E620FB-7A12-B20F-2786-63EEBD0F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B798F1-6016-CCCF-AA39-4337F21E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B8A288-B39D-F395-128A-B0DFA3A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18</a:t>
            </a:fld>
            <a:endParaRPr lang="es-AR"/>
          </a:p>
        </p:txBody>
      </p:sp>
      <p:pic>
        <p:nvPicPr>
          <p:cNvPr id="5" name="Google Shape;221;p18">
            <a:extLst>
              <a:ext uri="{FF2B5EF4-FFF2-40B4-BE49-F238E27FC236}">
                <a16:creationId xmlns:a16="http://schemas.microsoft.com/office/drawing/2014/main" id="{402C4AE7-8847-C5A6-7391-14197C2474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352" t="3939" r="6967" b="6281"/>
          <a:stretch>
            <a:fillRect/>
          </a:stretch>
        </p:blipFill>
        <p:spPr>
          <a:xfrm>
            <a:off x="2881146" y="1795717"/>
            <a:ext cx="6490034" cy="451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9051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400"/>
              <a:buFont typeface="Calibri"/>
              <a:buNone/>
            </a:pPr>
            <a:r>
              <a:rPr lang="es-ES" dirty="0">
                <a:solidFill>
                  <a:schemeClr val="bg1"/>
                </a:solidFill>
              </a:rPr>
              <a:t>Aspectos de Diseño de Interfaz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1ADB52-3B63-CA1A-4F6A-378EF608D33F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  <a:sym typeface="Arial"/>
              </a:rPr>
              <a:t>Reglas básicas (o reglas doradas) del Diseño – Theo </a:t>
            </a:r>
            <a:r>
              <a:rPr lang="es-ES" sz="2800" dirty="0" err="1">
                <a:solidFill>
                  <a:schemeClr val="tx1"/>
                </a:solidFill>
                <a:sym typeface="Arial"/>
              </a:rPr>
              <a:t>Mandel</a:t>
            </a:r>
            <a:endParaRPr lang="es-ES" sz="2800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92F997-C3AC-D190-E9FE-1ADBD3599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828850-5FF7-132A-9463-2F014AAA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DCE18E-FA3F-E9BE-7F50-D610580D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Ingeniería de Software II</a:t>
            </a:r>
          </a:p>
        </p:txBody>
      </p:sp>
      <p:sp>
        <p:nvSpPr>
          <p:cNvPr id="227" name="Google Shape;227;p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  <p:pic>
        <p:nvPicPr>
          <p:cNvPr id="235" name="Google Shape;235;p20" descr="Diagrama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l="4920" t="15289" r="4886" b="1419"/>
          <a:stretch>
            <a:fillRect/>
          </a:stretch>
        </p:blipFill>
        <p:spPr>
          <a:xfrm>
            <a:off x="4800600" y="1690483"/>
            <a:ext cx="7207045" cy="4769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6;p20" descr="Código QR&#10;&#10;El contenido generado por IA puede ser incorrecto.">
            <a:extLst>
              <a:ext uri="{FF2B5EF4-FFF2-40B4-BE49-F238E27FC236}">
                <a16:creationId xmlns:a16="http://schemas.microsoft.com/office/drawing/2014/main" id="{D3B51D79-1C33-9431-1261-DE1DD0DF55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690" t="7791" r="6015" b="7107"/>
          <a:stretch>
            <a:fillRect/>
          </a:stretch>
        </p:blipFill>
        <p:spPr>
          <a:xfrm>
            <a:off x="10043811" y="4365268"/>
            <a:ext cx="2148189" cy="2094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9B75A1F-2E01-FA21-747E-AE38DCE2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AA9B210A-E121-F14E-23C1-AAFF0995E0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Reglas básicas del Diseño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2294FE-61BB-4872-76B4-F8E6BA1E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C0B646-1B75-07F0-24BF-7B0AAA92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EB3CBB-9543-8542-20E8-D608BEA6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20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FE03635C-BF6E-9208-82E0-9D2059EF00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6963" y="2516673"/>
            <a:ext cx="10115550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El usuario busca un sistema que reaccione a sus necesidades  y lo ayude a hacer  sus tareas.</a:t>
            </a:r>
          </a:p>
          <a:p>
            <a:pPr marL="0" lv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sz="1000" dirty="0">
              <a:solidFill>
                <a:schemeClr val="tx1"/>
              </a:solidFill>
            </a:endParaRP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Definir modos de interacción de forma que el usuario no realice acciones innecesarias.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Proporcionar una interacción flexible.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Incluir las opciones de interrumpir y deshacer.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Depurar la interacción a medida que aumenta la destreza del usuario.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Ocultar al usuario ocasional los elementos técnicos internos.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Diseñar interacción directa con los objetos que aparecen en pantalla.</a:t>
            </a: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5" name="Google Shape;235;p20" descr="Diagrama&#10;&#10;El contenido generado por IA puede ser incorrecto.">
            <a:extLst>
              <a:ext uri="{FF2B5EF4-FFF2-40B4-BE49-F238E27FC236}">
                <a16:creationId xmlns:a16="http://schemas.microsoft.com/office/drawing/2014/main" id="{D5290414-6248-FD3E-39B4-2284196CC4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5796" t="21471" r="7993" b="69932"/>
          <a:stretch>
            <a:fillRect/>
          </a:stretch>
        </p:blipFill>
        <p:spPr>
          <a:xfrm>
            <a:off x="1685925" y="1880560"/>
            <a:ext cx="1295400" cy="492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5;p20" descr="Diagrama&#10;&#10;El contenido generado por IA puede ser incorrecto.">
            <a:extLst>
              <a:ext uri="{FF2B5EF4-FFF2-40B4-BE49-F238E27FC236}">
                <a16:creationId xmlns:a16="http://schemas.microsoft.com/office/drawing/2014/main" id="{8EC32874-8809-6D54-A782-8E9A4AD678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662" t="27165" r="38509" b="63305"/>
          <a:stretch>
            <a:fillRect/>
          </a:stretch>
        </p:blipFill>
        <p:spPr>
          <a:xfrm>
            <a:off x="1140234" y="1824498"/>
            <a:ext cx="545691" cy="54569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4021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E61292B-4104-FC02-3750-0A55F9E48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7131F9D5-F018-1794-3F1F-AC983DFA19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Reglas básicas del Diseño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8A5E396-F24E-D7CF-A9D0-8BD875CBE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1006AF-65FB-4670-44EC-E5887521B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8C7E80-CEA0-B953-48D5-F5966C69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21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F16A5D3D-328D-571B-2880-98D91E48E0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6963" y="2516673"/>
            <a:ext cx="10115550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El usuario busca un sistema que minimice el esfuerzo de recordar información, presentando opciones, instrucciones y datos de forma clara y accesible en todo momento.</a:t>
            </a:r>
          </a:p>
          <a:p>
            <a:pPr marL="0" lv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sz="1500" dirty="0">
              <a:solidFill>
                <a:schemeClr val="tx1"/>
              </a:solidFill>
            </a:endParaRP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Reducir la demanda a corto plazo.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Definir valores por defecto que tengan significado.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Definir accesos directos intuitivos.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El formato visual de la interfaz debe basarse en una metáfora de la realidad.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Desglosar la información de manera progresiva.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5" name="Google Shape;235;p20" descr="Diagrama&#10;&#10;El contenido generado por IA puede ser incorrecto.">
            <a:extLst>
              <a:ext uri="{FF2B5EF4-FFF2-40B4-BE49-F238E27FC236}">
                <a16:creationId xmlns:a16="http://schemas.microsoft.com/office/drawing/2014/main" id="{316ADC31-C267-4B7D-293E-329721878A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1894" t="77850" r="41894" b="11041"/>
          <a:stretch>
            <a:fillRect/>
          </a:stretch>
        </p:blipFill>
        <p:spPr>
          <a:xfrm>
            <a:off x="1685925" y="1767720"/>
            <a:ext cx="1295400" cy="636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5;p20" descr="Diagrama&#10;&#10;El contenido generado por IA puede ser incorrecto.">
            <a:extLst>
              <a:ext uri="{FF2B5EF4-FFF2-40B4-BE49-F238E27FC236}">
                <a16:creationId xmlns:a16="http://schemas.microsoft.com/office/drawing/2014/main" id="{9D14466B-6DFC-C73A-DD9E-CA12A8B953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6772" t="46557" r="46311" b="43789"/>
          <a:stretch>
            <a:fillRect/>
          </a:stretch>
        </p:blipFill>
        <p:spPr>
          <a:xfrm>
            <a:off x="1140234" y="1824498"/>
            <a:ext cx="545691" cy="54569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2759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5C319262-1773-F97A-3C01-A509B28A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D65D810B-CF8F-2D7E-98A0-5E6E56100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Reglas básicas del Diseño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D9288B-63E2-81BF-0F3E-C47D46715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ACCF01A-DB18-7E02-0822-60292CFB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676CE5-9AB3-BB98-891B-1724BBB8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22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6A3C7F5C-CDA8-012B-B1A3-660FE0B9E40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6963" y="2516673"/>
            <a:ext cx="10115550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El usuario busca un sistema que mantenga una estructura y comportamiento uniforme.</a:t>
            </a:r>
            <a:endParaRPr lang="es-ES" sz="1000" dirty="0">
              <a:solidFill>
                <a:schemeClr val="tx1"/>
              </a:solidFill>
            </a:endParaRP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Permitir que el usuario incluya la tarea actual en un contexto que tenga algún significado.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El usuario debe tener la capacidad de determinar de donde viene y hacia donde puede ir.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Mantener consistencia en toda la familia de aplicaciones. 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Utilizar las mismas reglas de diseños para las mismas interacciones.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Mantener modelos que son prácticos para el usuario, a menos que sea imprescindible cambiarlos.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lv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5" name="Google Shape;235;p20" descr="Diagrama&#10;&#10;El contenido generado por IA puede ser incorrecto.">
            <a:extLst>
              <a:ext uri="{FF2B5EF4-FFF2-40B4-BE49-F238E27FC236}">
                <a16:creationId xmlns:a16="http://schemas.microsoft.com/office/drawing/2014/main" id="{41A7CBE5-51BE-E668-D594-5C40F3F2B1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147" t="20988" r="73641" b="69482"/>
          <a:stretch>
            <a:fillRect/>
          </a:stretch>
        </p:blipFill>
        <p:spPr>
          <a:xfrm>
            <a:off x="1685925" y="1767720"/>
            <a:ext cx="1295400" cy="54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5;p20" descr="Diagrama&#10;&#10;El contenido generado por IA puede ser incorrecto.">
            <a:extLst>
              <a:ext uri="{FF2B5EF4-FFF2-40B4-BE49-F238E27FC236}">
                <a16:creationId xmlns:a16="http://schemas.microsoft.com/office/drawing/2014/main" id="{47F8C048-3FD7-B37C-83A1-0E0CE6B71A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8266" t="27160" r="54589" b="62869"/>
          <a:stretch>
            <a:fillRect/>
          </a:stretch>
        </p:blipFill>
        <p:spPr>
          <a:xfrm>
            <a:off x="1140234" y="1824498"/>
            <a:ext cx="545691" cy="54569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4496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A3A9A2E4-58D6-BB9E-E6EE-F36561C7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584FD2FB-4A30-380F-4DF9-3363516E6B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Reglas básicas del Diseño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55EFD4-38CF-7900-2FDE-779A06FA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D8B9C2-990B-C48B-42E5-EB6DC1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847E33-E29B-8B67-CFE6-A3D3DED8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23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C6A11075-9057-AC13-C1E1-40A3CB1393B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6963" y="2516673"/>
            <a:ext cx="10115550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Percepción visual/auditiva/táctil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Memoria humana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Razonamiento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Capacitación 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Comportamiento/Habilidad personales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Diversidad de usuarios</a:t>
            </a:r>
          </a:p>
          <a:p>
            <a:pPr marL="722313" lvl="2" indent="-279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/>
                </a:solidFill>
              </a:rPr>
              <a:t>Usuarios casuales: Necesitan interfaces que los guíen.</a:t>
            </a:r>
          </a:p>
          <a:p>
            <a:pPr marL="722313" lvl="2" indent="-279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/>
                </a:solidFill>
              </a:rPr>
              <a:t>Usuarios experimentados: Requieren interfaces ágiles.</a:t>
            </a:r>
          </a:p>
          <a:p>
            <a:pPr marL="0" lvl="0" indent="0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DCAA8C-45D2-098E-CFBB-30F206F6EBDD}"/>
              </a:ext>
            </a:extLst>
          </p:cNvPr>
          <p:cNvSpPr txBox="1"/>
          <p:nvPr/>
        </p:nvSpPr>
        <p:spPr>
          <a:xfrm>
            <a:off x="1096963" y="1865089"/>
            <a:ext cx="8635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+mn-lt"/>
              </a:rPr>
              <a:t>Factores Humanos (la sumamos a las 3 de Theo </a:t>
            </a:r>
            <a:r>
              <a:rPr lang="es-ES" sz="2800" b="1" dirty="0" err="1">
                <a:latin typeface="+mn-lt"/>
              </a:rPr>
              <a:t>Mandel</a:t>
            </a:r>
            <a:r>
              <a:rPr lang="es-ES" sz="2800" b="1" dirty="0">
                <a:latin typeface="+mn-lt"/>
              </a:rPr>
              <a:t>)</a:t>
            </a:r>
          </a:p>
        </p:txBody>
      </p:sp>
      <p:pic>
        <p:nvPicPr>
          <p:cNvPr id="8" name="Google Shape;270;p24">
            <a:extLst>
              <a:ext uri="{FF2B5EF4-FFF2-40B4-BE49-F238E27FC236}">
                <a16:creationId xmlns:a16="http://schemas.microsoft.com/office/drawing/2014/main" id="{19DF0907-B8E8-46A2-5025-FC3A39208D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1104" y="2695194"/>
            <a:ext cx="4263111" cy="280587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917622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21BC270E-F101-0D65-4E70-2A35DECE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69F48321-3AF9-967F-E9E7-187870372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Usabilidad - Concepto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ABEA820-3249-8081-A5F9-6AB8F8DFD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9BC4CF-B69D-BD55-3D50-7160EA6A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348111-0589-6B57-D125-EB244C1E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24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C3C9B2E4-4D6E-8B3E-F5E4-066702C3FF7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6963" y="1958360"/>
            <a:ext cx="10115550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La usabilidad no proviene de la estética, de mecanismos de interacción avanzados o de interfaces inteligentes. En vez de eso, se obtiene cuando la arquitectura de la interfaz se ajusta a las necesidades de las personas que la emplearán.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Es ilusorio llegar a una definición formal de usabilidad. Es parte de lo semántico del software y las necesidades de las personas.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Donahue  la define como: </a:t>
            </a:r>
          </a:p>
          <a:p>
            <a:pPr marL="530225" lvl="0" indent="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r>
              <a:rPr lang="es-ES" sz="2400" i="1" dirty="0">
                <a:solidFill>
                  <a:schemeClr val="tx1"/>
                </a:solidFill>
              </a:rPr>
              <a:t>“La usabilidad es una medida de cuán bien un sistema de cómputo […] facilita el aprendizaje, ayuda a quienes lo emplean a recordar lo aprendido, reduce la probabilidad de cometer errores, les permite ser eficientes y los deja satisfechos con el sistema.”</a:t>
            </a:r>
            <a:endParaRPr lang="es-ES" sz="2800" i="1" dirty="0">
              <a:solidFill>
                <a:schemeClr val="tx1"/>
              </a:solidFill>
            </a:endParaRP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20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8D0B89F3-05AA-A09A-CA05-BA20B4B9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92E5D368-887B-35F9-1525-0CB201E81B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Usabilidad - ¿Cuándo existe?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753951-6657-9F81-393A-72F5A417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B097FB-7B12-7EF3-2731-3FA0B59E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96C78A-C21F-6F29-1386-8C606BE58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25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64495F86-3A77-B1BF-00B1-61C8F2841B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6964" y="1847542"/>
            <a:ext cx="10058400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400" dirty="0">
                <a:solidFill>
                  <a:schemeClr val="tx1"/>
                </a:solidFill>
              </a:rPr>
              <a:t>La forma de determinar si existe “usabilidad” en un sistema que se construye es evaluarla o probarla. </a:t>
            </a:r>
          </a:p>
          <a:p>
            <a:pPr marL="442913" lvl="0" indent="-442913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400" dirty="0">
                <a:solidFill>
                  <a:schemeClr val="tx1"/>
                </a:solidFill>
              </a:rPr>
              <a:t>Los usuarios interactúan con el sistema y  deben responden las siguientes preguntas: </a:t>
            </a:r>
          </a:p>
          <a:p>
            <a:pPr marL="176212"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sp>
        <p:nvSpPr>
          <p:cNvPr id="5" name="Google Shape;134;p4">
            <a:extLst>
              <a:ext uri="{FF2B5EF4-FFF2-40B4-BE49-F238E27FC236}">
                <a16:creationId xmlns:a16="http://schemas.microsoft.com/office/drawing/2014/main" id="{7D9C7C2C-3780-96CB-F0E3-20339E13458B}"/>
              </a:ext>
            </a:extLst>
          </p:cNvPr>
          <p:cNvSpPr txBox="1">
            <a:spLocks/>
          </p:cNvSpPr>
          <p:nvPr/>
        </p:nvSpPr>
        <p:spPr bwMode="auto">
          <a:xfrm>
            <a:off x="1036636" y="3230049"/>
            <a:ext cx="10775489" cy="316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¿El sistema es utilizable sin ayuda o enseñanza continua? 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¿Las reglas de interacción ayudan a un usuario preparado a trabajar con eficiencia?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¿Los mecanismos de interacción se hacen más flexibles a medida que los usuarios conocen más?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¿Se ha adaptado el sistema al ambiente físico y social en el que se usará?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¿El usuario está al tanto del estado del sistema? ¿Sabe en todo momento dónde está? 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¿La interfaz está estructurada de manera lógica y consistente? 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¿Los mecanismos, iconos y procedimientos de interacción son consistentes en toda la interfaz? 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¿La interacción prevé errores y ayuda al usuario a corregirlos? 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¿La interfaz es tolerante a los errores que se cometen? 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dirty="0">
                <a:solidFill>
                  <a:schemeClr val="tx1"/>
                </a:solidFill>
              </a:rPr>
              <a:t>¿Es sencilla la interacción?</a:t>
            </a:r>
          </a:p>
          <a:p>
            <a:pPr marL="63341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sp>
        <p:nvSpPr>
          <p:cNvPr id="6" name="Google Shape;329;p14">
            <a:extLst>
              <a:ext uri="{FF2B5EF4-FFF2-40B4-BE49-F238E27FC236}">
                <a16:creationId xmlns:a16="http://schemas.microsoft.com/office/drawing/2014/main" id="{52AAE4BF-D578-70E8-DB15-023703A3A733}"/>
              </a:ext>
            </a:extLst>
          </p:cNvPr>
          <p:cNvSpPr/>
          <p:nvPr/>
        </p:nvSpPr>
        <p:spPr>
          <a:xfrm>
            <a:off x="7718638" y="4570886"/>
            <a:ext cx="4365200" cy="1568206"/>
          </a:xfrm>
          <a:prstGeom prst="rect">
            <a:avLst/>
          </a:prstGeom>
          <a:solidFill>
            <a:srgbClr val="CC5E5E"/>
          </a:solidFill>
          <a:ln w="9525" cap="flat" cmpd="sng">
            <a:solidFill>
              <a:srgbClr val="BF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 algn="ctr">
              <a:buSzPts val="2800"/>
            </a:pPr>
            <a:r>
              <a:rPr lang="es-E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 cada una de estas preguntas obtiene un “SI” como respuesta, es probable que se haya logrado la usabilidad.</a:t>
            </a:r>
          </a:p>
        </p:txBody>
      </p:sp>
    </p:spTree>
    <p:extLst>
      <p:ext uri="{BB962C8B-B14F-4D97-AF65-F5344CB8AC3E}">
        <p14:creationId xmlns:p14="http://schemas.microsoft.com/office/powerpoint/2010/main" val="400723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DBBA6E2F-1CEF-4FA7-151E-0204F57C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0D3F0EF3-D925-AD51-10BF-B8C01630AA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Usabilidad - Jakob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23C039-D1D9-9DF1-E188-585BBD481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311E6C-0129-5BDB-23E4-EAE952DB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22D38F-ADAA-54FD-7325-B817332B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26</a:t>
            </a:fld>
            <a:endParaRPr lang="es-AR"/>
          </a:p>
        </p:txBody>
      </p:sp>
      <p:sp>
        <p:nvSpPr>
          <p:cNvPr id="134" name="Google Shape;134;p4">
            <a:extLst>
              <a:ext uri="{FF2B5EF4-FFF2-40B4-BE49-F238E27FC236}">
                <a16:creationId xmlns:a16="http://schemas.microsoft.com/office/drawing/2014/main" id="{DB58B517-0415-62BF-6DEC-1FF8AEA530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96963" y="1958360"/>
            <a:ext cx="10115550" cy="31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Existen ciertos principios de diseño que enuncian el </a:t>
            </a:r>
            <a:r>
              <a:rPr lang="es-ES" sz="2800" u="sng" dirty="0">
                <a:solidFill>
                  <a:schemeClr val="tx1"/>
                </a:solidFill>
              </a:rPr>
              <a:t>diálogo correcto</a:t>
            </a:r>
            <a:r>
              <a:rPr lang="es-ES" sz="2800" dirty="0">
                <a:solidFill>
                  <a:schemeClr val="tx1"/>
                </a:solidFill>
              </a:rPr>
              <a:t> que debe proveer una interfaz de usuario.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Estos principios fueron desarrollados por Jakob Nielsen y son utilizados para el diseño de interfaces y, como métricas de evaluación de interfaces ya desarrolladas.</a:t>
            </a:r>
          </a:p>
          <a:p>
            <a:pPr marL="530225" lvl="0" indent="-530225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442913" lvl="0" indent="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None/>
            </a:pPr>
            <a:r>
              <a:rPr lang="es-ES" sz="2300" i="1" dirty="0">
                <a:solidFill>
                  <a:schemeClr val="tx1"/>
                </a:solidFill>
              </a:rPr>
              <a:t>Aunque estos principios fueron pensados inicialmente para interfaces textuales, sirven de base para el diseño preliminar de cualquier otro tipo de interfaz.</a:t>
            </a:r>
          </a:p>
          <a:p>
            <a:pPr marL="811213" lvl="0" indent="-3683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lvl="0" indent="-35401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lv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7228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B3184A2-7352-F947-F7EB-1A2569AA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DF58EBE5-89DF-AAC3-02B7-DC943A1883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BB9A4C-BC37-E663-3A8A-1E99E90E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560449-63D0-A40D-33BD-C116CE47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32A598-DFCB-693D-68CE-5CC9D3E8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27</a:t>
            </a:fld>
            <a:endParaRPr lang="es-AR"/>
          </a:p>
        </p:txBody>
      </p:sp>
      <p:pic>
        <p:nvPicPr>
          <p:cNvPr id="5" name="Google Shape;311;p28" descr="Tabla&#10;&#10;El contenido generado por IA puede ser incorrecto.">
            <a:extLst>
              <a:ext uri="{FF2B5EF4-FFF2-40B4-BE49-F238E27FC236}">
                <a16:creationId xmlns:a16="http://schemas.microsoft.com/office/drawing/2014/main" id="{91052F3D-5D5E-A5F3-CD89-1BB6290CDE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0486"/>
          <a:stretch>
            <a:fillRect/>
          </a:stretch>
        </p:blipFill>
        <p:spPr>
          <a:xfrm>
            <a:off x="930719" y="1902620"/>
            <a:ext cx="4953000" cy="4285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12;p28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FD197F7A-8C5F-D417-BA62-4DA4A2FF4C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8283" y="1850090"/>
            <a:ext cx="5057775" cy="4391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797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1AD43A38-ECD0-5FD9-E396-24E5CDF4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320;p72" descr="Cuadros de diálogo verdes">
            <a:extLst>
              <a:ext uri="{FF2B5EF4-FFF2-40B4-BE49-F238E27FC236}">
                <a16:creationId xmlns:a16="http://schemas.microsoft.com/office/drawing/2014/main" id="{265F5A93-C04D-F56E-0BB0-1BB65FCD3B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356" t="13558" r="13969" b="16673"/>
          <a:stretch>
            <a:fillRect/>
          </a:stretch>
        </p:blipFill>
        <p:spPr>
          <a:xfrm>
            <a:off x="8754293" y="3878826"/>
            <a:ext cx="3165987" cy="240398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FC066287-E522-F4B1-A3F0-B4023E2D32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B7313F-DF55-60BF-B627-F109846B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3ED44D-0BE3-E8CC-C457-E56D652D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8021E0-2E7A-9205-4697-CA2D12A5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28</a:t>
            </a:fld>
            <a:endParaRPr lang="es-AR"/>
          </a:p>
        </p:txBody>
      </p:sp>
      <p:pic>
        <p:nvPicPr>
          <p:cNvPr id="5" name="Google Shape;311;p28" descr="Tabla&#10;&#10;El contenido generado por IA puede ser incorrecto.">
            <a:extLst>
              <a:ext uri="{FF2B5EF4-FFF2-40B4-BE49-F238E27FC236}">
                <a16:creationId xmlns:a16="http://schemas.microsoft.com/office/drawing/2014/main" id="{7A2FED3A-7971-5419-8AEF-0086229B318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0486" r="35416" b="70726"/>
          <a:stretch>
            <a:fillRect/>
          </a:stretch>
        </p:blipFill>
        <p:spPr>
          <a:xfrm>
            <a:off x="930719" y="1902621"/>
            <a:ext cx="3198829" cy="89957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6611A531-809E-F0D6-ED7E-EAFCF7062C7F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Forma en que la interacción con el usuario debe llevarse a cabo.</a:t>
            </a:r>
            <a:endParaRPr lang="es-ES" sz="10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Realizar una escritura correcta, sin errores de tipeo.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No mezclar la información importante con la irrelevante.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Distribución adecuada de la información.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 err="1">
                <a:solidFill>
                  <a:schemeClr val="tx1"/>
                </a:solidFill>
              </a:rPr>
              <a:t>Prompts</a:t>
            </a:r>
            <a:r>
              <a:rPr lang="es-ES" sz="2350" dirty="0">
                <a:solidFill>
                  <a:schemeClr val="tx1"/>
                </a:solidFill>
              </a:rPr>
              <a:t> lógicamente bien diseñados.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Evitar el uso excesivo de mayúsculas y de abreviaturas.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Unificar el empleo de las funciones predefinidas.</a:t>
            </a: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626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A20816D7-5637-5758-38ED-47445BA5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A2EE8ED3-78A6-9B5A-0261-75C01D84A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AFAB4A-5543-764D-6A7C-FFEE26F90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6A056F-FA14-1EA9-C4F2-44702C20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01A931-5DE2-40BF-7033-82AA208C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29</a:t>
            </a:fld>
            <a:endParaRPr lang="es-AR"/>
          </a:p>
        </p:txBody>
      </p:sp>
      <p:pic>
        <p:nvPicPr>
          <p:cNvPr id="5" name="Google Shape;311;p28" descr="Tabla&#10;&#10;El contenido generado por IA puede ser incorrecto.">
            <a:extLst>
              <a:ext uri="{FF2B5EF4-FFF2-40B4-BE49-F238E27FC236}">
                <a16:creationId xmlns:a16="http://schemas.microsoft.com/office/drawing/2014/main" id="{73716917-F6C9-C647-9889-6A776BDEEE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3" t="28385" r="35393" b="57212"/>
          <a:stretch>
            <a:fillRect/>
          </a:stretch>
        </p:blipFill>
        <p:spPr>
          <a:xfrm>
            <a:off x="930719" y="2022246"/>
            <a:ext cx="3198829" cy="6895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C8D27A73-D165-AA49-7E48-B8C50DBC61C6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Emplear en el sistema un lenguaje familiar para el usuario, usar el lenguaje del usuario.</a:t>
            </a: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sz="10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No utilizar palabras técnicas, ni extranjeras.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Evitar el truncamiento excesivo de palabras.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Diseñar correctamente las entradas de datos.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Emplear un grado adecuado de información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(ni excesivo ni escaso).</a:t>
            </a: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6" name="Google Shape;327;p73" descr="Dibujos en un papel de colores">
            <a:extLst>
              <a:ext uri="{FF2B5EF4-FFF2-40B4-BE49-F238E27FC236}">
                <a16:creationId xmlns:a16="http://schemas.microsoft.com/office/drawing/2014/main" id="{3A36DCC1-6ADF-0CDB-2BBA-D2DB707629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4803" r="35059" b="22160"/>
          <a:stretch>
            <a:fillRect/>
          </a:stretch>
        </p:blipFill>
        <p:spPr>
          <a:xfrm>
            <a:off x="9332758" y="3429000"/>
            <a:ext cx="2448233" cy="28316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5699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442BC966-7F0E-2B6C-7FAA-7FF6B46E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E0307A80-EE69-C22A-9A6B-B4B134317B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9482877-7659-F963-8F97-EB9B1BDA0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AFB83C-DFE9-ACFA-44D5-479C7127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F90808-1937-8084-DF43-44DB7716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30</a:t>
            </a:fld>
            <a:endParaRPr lang="es-AR"/>
          </a:p>
        </p:txBody>
      </p:sp>
      <p:pic>
        <p:nvPicPr>
          <p:cNvPr id="5" name="Google Shape;311;p28" descr="Tabla&#10;&#10;El contenido generado por IA puede ser incorrecto.">
            <a:extLst>
              <a:ext uri="{FF2B5EF4-FFF2-40B4-BE49-F238E27FC236}">
                <a16:creationId xmlns:a16="http://schemas.microsoft.com/office/drawing/2014/main" id="{2C311CFE-B6D9-2139-51FC-954E3FB59D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214" t="43654" r="35989" b="39750"/>
          <a:stretch>
            <a:fillRect/>
          </a:stretch>
        </p:blipFill>
        <p:spPr>
          <a:xfrm>
            <a:off x="930719" y="1917291"/>
            <a:ext cx="3110339" cy="79454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B943A97F-17B3-A19B-849C-DE143AAC7055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Evitar que el usuario esfuerce su memoria para interactuar con el sistema. </a:t>
            </a: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sz="10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información de contexto de la App.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información de la navegación y sesión actual del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usuario.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Visualización de rangos de entrada admisibles, ejemplos,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formatos.</a:t>
            </a: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8" name="Google Shape;334;p74" descr="Dispositivo móvil con aplicaciones">
            <a:extLst>
              <a:ext uri="{FF2B5EF4-FFF2-40B4-BE49-F238E27FC236}">
                <a16:creationId xmlns:a16="http://schemas.microsoft.com/office/drawing/2014/main" id="{5767B730-BBE7-5BE1-C2CF-3A4746A35C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7944" t="17980" r="16545" b="9366"/>
          <a:stretch>
            <a:fillRect/>
          </a:stretch>
        </p:blipFill>
        <p:spPr>
          <a:xfrm>
            <a:off x="9438967" y="3429000"/>
            <a:ext cx="2448233" cy="2785628"/>
          </a:xfrm>
          <a:prstGeom prst="rect">
            <a:avLst/>
          </a:prstGeom>
          <a:noFill/>
          <a:ln>
            <a:noFill/>
          </a:ln>
          <a:effectLst>
            <a:outerShdw blurRad="127000" dist="50800" dir="10800000" sx="99000" sy="99000" algn="r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5945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40E71AC-552F-E83A-DE7E-D97DBE7D2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81A16970-FDBF-CFA6-BDD3-772B8F0DE3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770B0B-1319-D03F-D47D-4B5DB899A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97BC2B-323E-C60E-DAEF-8D0C1145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6536F1-41A2-DB9B-050E-C74751CD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31</a:t>
            </a:fld>
            <a:endParaRPr lang="es-AR"/>
          </a:p>
        </p:txBody>
      </p:sp>
      <p:pic>
        <p:nvPicPr>
          <p:cNvPr id="5" name="Google Shape;311;p28" descr="Tabla&#10;&#10;El contenido generado por IA puede ser incorrecto.">
            <a:extLst>
              <a:ext uri="{FF2B5EF4-FFF2-40B4-BE49-F238E27FC236}">
                <a16:creationId xmlns:a16="http://schemas.microsoft.com/office/drawing/2014/main" id="{A92BB1F3-30D0-FABE-2ED0-0B9FBFE6EE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11" t="63270" r="35691" b="20134"/>
          <a:stretch>
            <a:fillRect/>
          </a:stretch>
        </p:blipFill>
        <p:spPr>
          <a:xfrm>
            <a:off x="930719" y="1917291"/>
            <a:ext cx="3110339" cy="79454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B6B131EC-3B93-A08A-CBA2-F6130E3D07F2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Que no existan ambigüedades en el aspecto visual ni tecnológico en el diálogo o en el comportamiento del sistema. </a:t>
            </a: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sz="10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La consistencia es un punto clave para ofrecer confiabilidad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y seguridad al sistema.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Debe existir una consistencia terminológica y visual.</a:t>
            </a: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6" name="Google Shape;341;p75" descr="Un patrón en 3D de formas de anillos conectados por líneas">
            <a:extLst>
              <a:ext uri="{FF2B5EF4-FFF2-40B4-BE49-F238E27FC236}">
                <a16:creationId xmlns:a16="http://schemas.microsoft.com/office/drawing/2014/main" id="{945917AD-65A6-4965-13DB-67594DCAD6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2513" t="7302" r="51131" b="7273"/>
          <a:stretch>
            <a:fillRect/>
          </a:stretch>
        </p:blipFill>
        <p:spPr>
          <a:xfrm>
            <a:off x="9313653" y="3215149"/>
            <a:ext cx="2486444" cy="30937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9156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E653C5E-B559-E3DF-0F0B-659E4D459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1DB5AD29-9930-EADF-7D96-1C5A8F9982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0EA83B-FCF6-91C7-9DE9-E5342E03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3F01B9-A8CE-6840-323B-35BC1ECA9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E9AD4C-2AEF-696D-F542-F9AB715C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32</a:t>
            </a:fld>
            <a:endParaRPr lang="es-AR"/>
          </a:p>
        </p:txBody>
      </p:sp>
      <p:pic>
        <p:nvPicPr>
          <p:cNvPr id="5" name="Google Shape;311;p28" descr="Tabla&#10;&#10;El contenido generado por IA puede ser incorrecto.">
            <a:extLst>
              <a:ext uri="{FF2B5EF4-FFF2-40B4-BE49-F238E27FC236}">
                <a16:creationId xmlns:a16="http://schemas.microsoft.com/office/drawing/2014/main" id="{7C4CA0C3-A992-6FB0-7FB9-8188F77435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11" t="81517" r="35691" b="-1"/>
          <a:stretch>
            <a:fillRect/>
          </a:stretch>
        </p:blipFill>
        <p:spPr>
          <a:xfrm>
            <a:off x="930719" y="1917291"/>
            <a:ext cx="3110339" cy="88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DC9F5B11-C85F-F1EB-B82A-FEAE4664AF50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Es una respuesta gráfica o textual en la pantalla,  frente a una acción del usuario. El sistema debe mantener al usuario informado de lo que está sucediendo.</a:t>
            </a: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sz="10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información de los estados de los procesos.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información del estado del sistema y del usuario.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Utilización  de mensajes de aclaración, validaciones, confirmación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y cierre.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Realizar validaciones de los datos ingresados por el usuario.</a:t>
            </a: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8" name="Google Shape;348;p76">
            <a:extLst>
              <a:ext uri="{FF2B5EF4-FFF2-40B4-BE49-F238E27FC236}">
                <a16:creationId xmlns:a16="http://schemas.microsoft.com/office/drawing/2014/main" id="{C638EC79-412E-0AFF-EFFB-F9F504D729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567" r="61251" b="-444"/>
          <a:stretch>
            <a:fillRect/>
          </a:stretch>
        </p:blipFill>
        <p:spPr>
          <a:xfrm>
            <a:off x="10074462" y="3539612"/>
            <a:ext cx="2041150" cy="2713703"/>
          </a:xfrm>
          <a:prstGeom prst="rect">
            <a:avLst/>
          </a:prstGeom>
          <a:noFill/>
          <a:ln>
            <a:noFill/>
          </a:ln>
          <a:effectLst>
            <a:outerShdw blurRad="127000" dist="50800" dir="10800000" sx="99000" sy="99000" algn="r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6722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14879C2E-0354-908C-AC42-E793C59D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9AE658B0-4A8B-5A6C-1388-77B14BC37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4D16EA-EE94-8E95-7061-D4ABC8FF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1822FC-8EA0-F6BA-CD32-7CF8CE08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E38341-4187-CDAC-7B18-E9C68845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33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95136FD6-1E83-5845-3ACD-0BE89D17BD4F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Que el usuario tenga a su alcance de forma identificable y accesible una opción de salida (</a:t>
            </a:r>
            <a:r>
              <a:rPr lang="es-ES" sz="2800" dirty="0" err="1">
                <a:solidFill>
                  <a:schemeClr val="tx1"/>
                </a:solidFill>
              </a:rPr>
              <a:t>exit</a:t>
            </a:r>
            <a:r>
              <a:rPr lang="es-ES" sz="2800" dirty="0">
                <a:solidFill>
                  <a:schemeClr val="tx1"/>
                </a:solidFill>
              </a:rPr>
              <a:t>) de la interfaz.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0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salidas de cada pantalla.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Salidas para cada contexto.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Salidas para cada acción, tarea o transacción.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salidas en cada estado.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Visualización de opciones de cancelación, salida del sistema,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suspender, deshacer, rehacer y modificación.</a:t>
            </a: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6" name="Google Shape;312;p28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F7A9858D-6D4B-FAFB-8419-92DCA95062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750" t="1633" r="36754" b="78595"/>
          <a:stretch>
            <a:fillRect/>
          </a:stretch>
        </p:blipFill>
        <p:spPr>
          <a:xfrm>
            <a:off x="949991" y="1963531"/>
            <a:ext cx="3110339" cy="868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53;p77" descr="Degradado azul y naranja con flechas">
            <a:extLst>
              <a:ext uri="{FF2B5EF4-FFF2-40B4-BE49-F238E27FC236}">
                <a16:creationId xmlns:a16="http://schemas.microsoft.com/office/drawing/2014/main" id="{1D6BD0C6-EBE7-AFC7-88D8-BF8FEAD4BE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2999" r="20485" b="19784"/>
          <a:stretch>
            <a:fillRect/>
          </a:stretch>
        </p:blipFill>
        <p:spPr>
          <a:xfrm>
            <a:off x="9565659" y="3424800"/>
            <a:ext cx="2286001" cy="28815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3567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8A4B79C0-8902-9ABB-9FFD-EC923717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490D2320-C256-38FA-F710-83ABD73E2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25FC24-2036-B4EB-ABBA-B8EF634D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B846709-C58A-4C9A-5A01-BD25A89C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B26ABB-2A7D-4E2A-CCDF-1F0DD50C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34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4DFD5E2F-133D-BE7E-A1D0-722644B74861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Información que brinda el sistema ante la presencia de un error. De qué forma se ayuda al sistema para que salga de la situación en la que se encuentra.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Deben existir mensajes de error para ser usados en los momentos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que corresponda.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información del error, explicar el error y dar alternativas.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Se deben categorizar los diferentes tipos de mensajes. 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No deben existir mensajes de error intimidatorios.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Manejar adecuadamente la forma de aparición de los mensajes.</a:t>
            </a: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6" name="Google Shape;312;p28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02230DF0-CFAD-A5EF-CF24-49688CED70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750" t="20871" r="36754" b="62380"/>
          <a:stretch>
            <a:fillRect/>
          </a:stretch>
        </p:blipFill>
        <p:spPr>
          <a:xfrm>
            <a:off x="949991" y="1963531"/>
            <a:ext cx="3110339" cy="735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62;p78" descr="Símbolos amarillo y azul">
            <a:extLst>
              <a:ext uri="{FF2B5EF4-FFF2-40B4-BE49-F238E27FC236}">
                <a16:creationId xmlns:a16="http://schemas.microsoft.com/office/drawing/2014/main" id="{4452A698-01BE-17C0-2B53-1FD7847635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110" t="16774" r="27029" b="19571"/>
          <a:stretch>
            <a:fillRect/>
          </a:stretch>
        </p:blipFill>
        <p:spPr>
          <a:xfrm>
            <a:off x="10065185" y="3952566"/>
            <a:ext cx="2059704" cy="2256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85666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56268C8-40C0-4583-E53E-949BDDB3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AE7D5DA0-5645-D404-3E91-F7578A17B9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36345C-9554-3963-A26C-9E80FC55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0358C2-297E-2CEF-2064-6CA55E8F5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2D37C0-12F9-1C73-055B-BA561AD4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35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C6734FF5-268C-ABB3-B7F4-36EB2CB208F3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Evitar que el usuario llegue a una instancia de error.</a:t>
            </a: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sz="15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rangos de entradas posibles para que el usuario seleccione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y no tenga que tipear (escribir).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Mostrar ejemplos, valores por defecto y formatos de entrada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admisibles.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mecanismos de corrección automática en el ingreso de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los datos.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Flexibilidad en las entradas de los usuarios.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6" name="Google Shape;312;p28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DAF87585-1EC9-EB6F-5305-4A59CC7966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42" t="39781" r="36462" b="43470"/>
          <a:stretch>
            <a:fillRect/>
          </a:stretch>
        </p:blipFill>
        <p:spPr>
          <a:xfrm>
            <a:off x="949991" y="1963531"/>
            <a:ext cx="3110339" cy="735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69;p79" descr="Advertencia">
            <a:extLst>
              <a:ext uri="{FF2B5EF4-FFF2-40B4-BE49-F238E27FC236}">
                <a16:creationId xmlns:a16="http://schemas.microsoft.com/office/drawing/2014/main" id="{A2D2EA13-61D7-04DC-B62A-C920592189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43" t="8581" r="4307" b="9249"/>
          <a:stretch>
            <a:fillRect/>
          </a:stretch>
        </p:blipFill>
        <p:spPr>
          <a:xfrm>
            <a:off x="9335727" y="3819832"/>
            <a:ext cx="2694039" cy="23597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3096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7B52F5B-E3D1-A6A1-7FF2-60DB7682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016D4AD5-28D5-DA7B-F686-9CEDC1FD5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469F76-C49B-04DA-FA66-A3B01F31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CD83EEC-19A2-2374-011C-5D175A47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3F064-8C64-5225-A1DE-B5522BD0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36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BECEE8AF-F74E-B3C8-739E-885710443ADD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La interfaz debería proveer de alternativas de manejo para que resulte cómodo y amigable tanto para usuarios novatos como para usuarios experimentados.</a:t>
            </a:r>
          </a:p>
          <a:p>
            <a:pPr marL="0" indent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None/>
            </a:pPr>
            <a:endParaRPr lang="es-ES" sz="15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mecanismos alternativos para acelerar la interacción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con el sistema.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la posibilidad de reorganizar barras de herramientas,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menús, de acuerdo con la necesidad del usuario.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Brindar mecanismos de macros, definición de teclas de función.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6" name="Google Shape;312;p28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5473C51A-E26C-17E8-A72F-A8FE9CAA45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459" t="59676" r="37045" b="21224"/>
          <a:stretch>
            <a:fillRect/>
          </a:stretch>
        </p:blipFill>
        <p:spPr>
          <a:xfrm>
            <a:off x="949991" y="1963531"/>
            <a:ext cx="3110339" cy="838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74;p80" descr="Persona viendo un teléfono vacío">
            <a:extLst>
              <a:ext uri="{FF2B5EF4-FFF2-40B4-BE49-F238E27FC236}">
                <a16:creationId xmlns:a16="http://schemas.microsoft.com/office/drawing/2014/main" id="{69052BB5-0AF6-F13F-D5B6-4654163B55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1864" t="19136" r="11095" b="7432"/>
          <a:stretch>
            <a:fillRect/>
          </a:stretch>
        </p:blipFill>
        <p:spPr>
          <a:xfrm>
            <a:off x="9721677" y="3672347"/>
            <a:ext cx="2174943" cy="2529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5344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741FA86A-2C9A-5FFF-903E-961DD3831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A525114B-8F84-D152-B261-67E0B88082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Principios de Nielsen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3D66168-6204-A663-3893-65C801511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565F1E-A881-EA92-4555-205BFA5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C8386D-89DB-9A9C-45AF-BBF5B3D5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37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43DC72F9-D4E9-123A-DDF0-FFE3F9291420}"/>
              </a:ext>
            </a:extLst>
          </p:cNvPr>
          <p:cNvSpPr txBox="1">
            <a:spLocks/>
          </p:cNvSpPr>
          <p:nvPr/>
        </p:nvSpPr>
        <p:spPr bwMode="auto">
          <a:xfrm>
            <a:off x="1096963" y="2802195"/>
            <a:ext cx="10115550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Componentes de asistencia para el usuario. Un mal diseño de las ayudas puede llegar a entorpecer y dificultar la usabilidad.</a:t>
            </a:r>
            <a:endParaRPr lang="es-ES" sz="15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Deben existir las ayudas en la interface y un manual.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Se deben brindar diferentes tipos de ayuda : generales,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  <a:tabLst>
                <a:tab pos="811213" algn="l"/>
              </a:tabLst>
            </a:pPr>
            <a:r>
              <a:rPr lang="es-ES" sz="2350" dirty="0">
                <a:solidFill>
                  <a:schemeClr val="tx1"/>
                </a:solidFill>
              </a:rPr>
              <a:t>contextuales, específicas, en línea.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Las ayudas deben proveer diferentes formas de lectura.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Se deben brindar diferentes mecanismos de asistencia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como búsquedas, soporte en línea,  e-mail del soporte </a:t>
            </a:r>
          </a:p>
          <a:p>
            <a:pPr marL="8112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350" dirty="0">
                <a:solidFill>
                  <a:schemeClr val="tx1"/>
                </a:solidFill>
              </a:rPr>
              <a:t>técnico, acceso a las preguntas frecuente.</a:t>
            </a:r>
          </a:p>
          <a:p>
            <a:pPr marL="530225" indent="-3540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6" name="Google Shape;312;p28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7F7F75C6-FBAB-3BB0-98A8-B8A3B6C25B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750" t="80900" r="36754"/>
          <a:stretch>
            <a:fillRect/>
          </a:stretch>
        </p:blipFill>
        <p:spPr>
          <a:xfrm>
            <a:off x="949991" y="1963531"/>
            <a:ext cx="3110339" cy="838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83;p8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885AEA7-843E-E11A-0059-0A2A5B7BF9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37522" y="3613355"/>
            <a:ext cx="2843846" cy="2605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5155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400"/>
              <a:buFont typeface="Calibri"/>
              <a:buNone/>
            </a:pPr>
            <a:r>
              <a:rPr lang="es-ES" dirty="0">
                <a:solidFill>
                  <a:schemeClr val="bg1"/>
                </a:solidFill>
              </a:rPr>
              <a:t>Estilos de Interfaces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63A426-CFE1-7C47-D04E-5E240E613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528195-0FCE-9204-D040-241188E5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41CD6A-7F0D-88BB-9322-8C0B5880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Ingeniería de Software II</a:t>
            </a:r>
          </a:p>
        </p:txBody>
      </p:sp>
      <p:sp>
        <p:nvSpPr>
          <p:cNvPr id="389" name="Google Shape;389;p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s-ES"/>
              <a:t>38</a:t>
            </a:fld>
            <a:endParaRPr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D7C88AB7-5420-E36E-59B1-D5085EFE2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731838"/>
            <a:ext cx="6492875" cy="52578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800" dirty="0">
                <a:solidFill>
                  <a:schemeClr val="tx1"/>
                </a:solidFill>
                <a:sym typeface="Arial"/>
              </a:rPr>
              <a:t>Tipos de Interfaces de Usuario</a:t>
            </a:r>
          </a:p>
        </p:txBody>
      </p:sp>
      <p:pic>
        <p:nvPicPr>
          <p:cNvPr id="7" name="Google Shape;397;p41" descr="Diagrama, Escala de tiempo&#10;&#10;El contenido generado por IA puede ser incorrecto.">
            <a:extLst>
              <a:ext uri="{FF2B5EF4-FFF2-40B4-BE49-F238E27FC236}">
                <a16:creationId xmlns:a16="http://schemas.microsoft.com/office/drawing/2014/main" id="{0E33A21D-2942-37D4-E8EF-5635728D3E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985" t="18194" r="5389" b="6494"/>
          <a:stretch>
            <a:fillRect/>
          </a:stretch>
        </p:blipFill>
        <p:spPr>
          <a:xfrm>
            <a:off x="4513006" y="1327100"/>
            <a:ext cx="7403690" cy="513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D7FD7B82-3765-EFAE-3848-2DE99BCF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A6002E44-39F3-90BC-3298-7065A286C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67F2FE2-84CF-2387-7D87-67DAE3E09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808E34D-8BC4-787D-47D0-915FBC4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EE6FF0-F242-1944-1AA1-B38CD93D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39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029100AC-EC86-33F7-50EF-7710715B9C13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Es la interfaz más elemental</a:t>
            </a:r>
            <a:endParaRPr lang="es-ES" sz="175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Solo se interactúa con texto.</a:t>
            </a: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Generalmente se interactúa desde una línea de comando de una consola  de una aplicación en particular con el teclado.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Características: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Poderoso y flexible.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Administración de errores pobre.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Difícil de aprender.</a:t>
            </a: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3F33F31-D769-BC89-0AA4-078EBDE35E01}"/>
              </a:ext>
            </a:extLst>
          </p:cNvPr>
          <p:cNvGrpSpPr/>
          <p:nvPr/>
        </p:nvGrpSpPr>
        <p:grpSpPr>
          <a:xfrm>
            <a:off x="1096963" y="1757620"/>
            <a:ext cx="1778972" cy="1886079"/>
            <a:chOff x="1096963" y="1757620"/>
            <a:chExt cx="1778972" cy="1886079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F026A8ED-9463-9CDF-D0C0-A2D42EBC22D8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1886079"/>
              <a:chOff x="1096963" y="1814051"/>
              <a:chExt cx="1778972" cy="1886079"/>
            </a:xfrm>
          </p:grpSpPr>
          <p:pic>
            <p:nvPicPr>
              <p:cNvPr id="10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06F4185F-DD19-78E9-C672-6A7AC0B10D14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985" t="18896" r="73479" b="66171"/>
              <a:stretch>
                <a:fillRect/>
              </a:stretch>
            </p:blipFill>
            <p:spPr>
              <a:xfrm>
                <a:off x="1096963" y="1814051"/>
                <a:ext cx="1778972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092FD9CF-AB06-D06F-FBC5-B6CBC917A19E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985" t="43951" r="73769" b="41117"/>
              <a:stretch>
                <a:fillRect/>
              </a:stretch>
            </p:blipFill>
            <p:spPr>
              <a:xfrm>
                <a:off x="1098036" y="2682490"/>
                <a:ext cx="1755059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7DDCD81-F1ED-AFC8-C71E-AD797A1198A5}"/>
                </a:ext>
              </a:extLst>
            </p:cNvPr>
            <p:cNvSpPr/>
            <p:nvPr/>
          </p:nvSpPr>
          <p:spPr>
            <a:xfrm>
              <a:off x="2558744" y="3409049"/>
              <a:ext cx="294351" cy="23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5" name="Google Shape;408;p42" descr="http://i.technet.microsoft.com/dd392036.fig02_L(es-es).gif">
            <a:extLst>
              <a:ext uri="{FF2B5EF4-FFF2-40B4-BE49-F238E27FC236}">
                <a16:creationId xmlns:a16="http://schemas.microsoft.com/office/drawing/2014/main" id="{D71C7E64-9AAA-3046-0269-AE7EF78EE6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31597" y="3832478"/>
            <a:ext cx="4260403" cy="197838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" name="Google Shape;407;p42" descr="http://3.bp.blogspot.com/_G5Ik2tj7mmg/TTIG1LiG5hI/AAAAAAAAACE/6U12YOLrmVI/s1600/tip-terminal.png">
            <a:extLst>
              <a:ext uri="{FF2B5EF4-FFF2-40B4-BE49-F238E27FC236}">
                <a16:creationId xmlns:a16="http://schemas.microsoft.com/office/drawing/2014/main" id="{3A95C92D-E6A8-8903-EE57-AFA0C665C4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55363" y="5325065"/>
            <a:ext cx="971600" cy="9716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F8BB963-30B8-C990-F7B4-00BD4FBB1E38}"/>
              </a:ext>
            </a:extLst>
          </p:cNvPr>
          <p:cNvSpPr txBox="1"/>
          <p:nvPr/>
        </p:nvSpPr>
        <p:spPr>
          <a:xfrm>
            <a:off x="9006101" y="5899876"/>
            <a:ext cx="2084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+mn-lt"/>
              </a:rPr>
              <a:t>Consola del S.O. Windows</a:t>
            </a:r>
          </a:p>
        </p:txBody>
      </p:sp>
    </p:spTree>
    <p:extLst>
      <p:ext uri="{BB962C8B-B14F-4D97-AF65-F5344CB8AC3E}">
        <p14:creationId xmlns:p14="http://schemas.microsoft.com/office/powerpoint/2010/main" val="9844110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DE896A5-7BB2-AA88-F1E8-B71747A6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5FBB9501-9FDB-08FC-68BC-8AE6948E27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C56013-C6B1-2793-12A7-3A45A637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E2AB52B-CB99-0BA1-9709-D1B220257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5F4D8E-1C0A-A757-9601-B1FA0A6D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40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DD623970-F291-7C49-53DC-E7B7D3168E05}"/>
              </a:ext>
            </a:extLst>
          </p:cNvPr>
          <p:cNvSpPr txBox="1">
            <a:spLocks/>
          </p:cNvSpPr>
          <p:nvPr/>
        </p:nvSpPr>
        <p:spPr bwMode="auto">
          <a:xfrm>
            <a:off x="2853095" y="1770783"/>
            <a:ext cx="8588937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Comandos del tipo pregunta-respuesta.</a:t>
            </a:r>
            <a:endParaRPr lang="es-ES" sz="23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7DBF6F7-6F3A-0DA8-58EF-35D62DDD0A01}"/>
              </a:ext>
            </a:extLst>
          </p:cNvPr>
          <p:cNvGrpSpPr/>
          <p:nvPr/>
        </p:nvGrpSpPr>
        <p:grpSpPr>
          <a:xfrm>
            <a:off x="1096963" y="1757620"/>
            <a:ext cx="1778972" cy="1886079"/>
            <a:chOff x="1096963" y="1757620"/>
            <a:chExt cx="1778972" cy="1886079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40BB88D8-7A0A-C838-4B08-A8D0CAE44248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1886079"/>
              <a:chOff x="1096963" y="1814051"/>
              <a:chExt cx="1778972" cy="1886079"/>
            </a:xfrm>
          </p:grpSpPr>
          <p:pic>
            <p:nvPicPr>
              <p:cNvPr id="10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14DE86AD-4E68-B8A9-07F0-215AEF9F1D55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985" t="18896" r="73479" b="66171"/>
              <a:stretch>
                <a:fillRect/>
              </a:stretch>
            </p:blipFill>
            <p:spPr>
              <a:xfrm>
                <a:off x="1096963" y="1814051"/>
                <a:ext cx="1778972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36F49597-C671-C725-5301-545DB72D0EBF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985" t="43951" r="73769" b="41117"/>
              <a:stretch>
                <a:fillRect/>
              </a:stretch>
            </p:blipFill>
            <p:spPr>
              <a:xfrm>
                <a:off x="1098036" y="2682490"/>
                <a:ext cx="1755059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39A806A7-8FB4-877E-E78B-8551010BC81E}"/>
                </a:ext>
              </a:extLst>
            </p:cNvPr>
            <p:cNvSpPr/>
            <p:nvPr/>
          </p:nvSpPr>
          <p:spPr>
            <a:xfrm>
              <a:off x="2558744" y="3409049"/>
              <a:ext cx="294351" cy="23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5" name="Google Shape;418;p43" descr="http://servergrove.es/images/cp/cp-cli.png">
            <a:extLst>
              <a:ext uri="{FF2B5EF4-FFF2-40B4-BE49-F238E27FC236}">
                <a16:creationId xmlns:a16="http://schemas.microsoft.com/office/drawing/2014/main" id="{A1F40A23-E7B3-0F53-29D2-340AEB9717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4594" y="2306522"/>
            <a:ext cx="6745938" cy="381707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74429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477A95B-06DC-8AC0-897E-66F447BD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42610773-5C4D-C19B-607E-7C05A6A36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A880306-F6F8-2188-CFB2-28A8898D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B062AD-EE7F-626E-4AB5-AB3F499F0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F92A70-35FC-5E9E-DC2D-2C00EBC0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41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9B65D0FB-D52B-AE0A-D34D-1D20EFF4C60A}"/>
              </a:ext>
            </a:extLst>
          </p:cNvPr>
          <p:cNvSpPr txBox="1">
            <a:spLocks/>
          </p:cNvSpPr>
          <p:nvPr/>
        </p:nvSpPr>
        <p:spPr bwMode="auto">
          <a:xfrm>
            <a:off x="2853095" y="1770783"/>
            <a:ext cx="8588937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Interfaz de comandos a través de una interfaz gráfica</a:t>
            </a:r>
            <a:r>
              <a:rPr lang="es-ES" sz="2350" dirty="0">
                <a:solidFill>
                  <a:schemeClr val="tx1"/>
                </a:solidFill>
              </a:rPr>
              <a:t>.</a:t>
            </a:r>
            <a:endParaRPr lang="es-ES" sz="2800" dirty="0">
              <a:solidFill>
                <a:schemeClr val="tx1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880D96E-B587-228B-E2EC-B31F2E1AC079}"/>
              </a:ext>
            </a:extLst>
          </p:cNvPr>
          <p:cNvGrpSpPr/>
          <p:nvPr/>
        </p:nvGrpSpPr>
        <p:grpSpPr>
          <a:xfrm>
            <a:off x="1096963" y="1757620"/>
            <a:ext cx="1778972" cy="1886079"/>
            <a:chOff x="1096963" y="1757620"/>
            <a:chExt cx="1778972" cy="1886079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7ADE9C3E-1BC5-65C6-B714-9910706C1000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1886079"/>
              <a:chOff x="1096963" y="1814051"/>
              <a:chExt cx="1778972" cy="1886079"/>
            </a:xfrm>
          </p:grpSpPr>
          <p:pic>
            <p:nvPicPr>
              <p:cNvPr id="10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E5A73457-DA5D-1FA4-C495-37B5617DA9C0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985" t="18896" r="73479" b="66171"/>
              <a:stretch>
                <a:fillRect/>
              </a:stretch>
            </p:blipFill>
            <p:spPr>
              <a:xfrm>
                <a:off x="1096963" y="1814051"/>
                <a:ext cx="1778972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3DF3A7AA-6598-8F9C-AE49-92861BC9FFD7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985" t="43951" r="73769" b="41117"/>
              <a:stretch>
                <a:fillRect/>
              </a:stretch>
            </p:blipFill>
            <p:spPr>
              <a:xfrm>
                <a:off x="1098036" y="2682490"/>
                <a:ext cx="1755059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88C8A0E-758F-0808-E49D-F3C21D96DC9A}"/>
                </a:ext>
              </a:extLst>
            </p:cNvPr>
            <p:cNvSpPr/>
            <p:nvPr/>
          </p:nvSpPr>
          <p:spPr>
            <a:xfrm>
              <a:off x="2558744" y="3409049"/>
              <a:ext cx="294351" cy="23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6" name="Google Shape;428;p44" descr="http://gpd.sip.ucm.es/rafa/docencia/bdsi/practicas/practica1/createuser.JPG">
            <a:extLst>
              <a:ext uri="{FF2B5EF4-FFF2-40B4-BE49-F238E27FC236}">
                <a16:creationId xmlns:a16="http://schemas.microsoft.com/office/drawing/2014/main" id="{9F11CC52-6767-F715-00F0-76719918BB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8718" y="2591780"/>
            <a:ext cx="4029075" cy="23145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Google Shape;429;p44" descr="http://4.bp.blogspot.com/_sAQdlHuMLCM/TUAYKjALRKI/AAAAAAAAAA0/gfvv-fBOvvw/s1600/cmd.png">
            <a:extLst>
              <a:ext uri="{FF2B5EF4-FFF2-40B4-BE49-F238E27FC236}">
                <a16:creationId xmlns:a16="http://schemas.microsoft.com/office/drawing/2014/main" id="{86CF6ECF-B02C-5022-4D28-05DC057B776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815" t="3219" r="4798" b="7990"/>
          <a:stretch/>
        </p:blipFill>
        <p:spPr>
          <a:xfrm>
            <a:off x="3549337" y="2662398"/>
            <a:ext cx="3325090" cy="210589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Google Shape;430;p44">
            <a:extLst>
              <a:ext uri="{FF2B5EF4-FFF2-40B4-BE49-F238E27FC236}">
                <a16:creationId xmlns:a16="http://schemas.microsoft.com/office/drawing/2014/main" id="{8F6965B8-2A3D-9D4A-4B27-5D36F004BE0B}"/>
              </a:ext>
            </a:extLst>
          </p:cNvPr>
          <p:cNvSpPr txBox="1"/>
          <p:nvPr/>
        </p:nvSpPr>
        <p:spPr>
          <a:xfrm>
            <a:off x="3907172" y="4856798"/>
            <a:ext cx="348044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comandos de Windows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431;p44">
            <a:extLst>
              <a:ext uri="{FF2B5EF4-FFF2-40B4-BE49-F238E27FC236}">
                <a16:creationId xmlns:a16="http://schemas.microsoft.com/office/drawing/2014/main" id="{7034CFA7-C199-4F82-CA01-E363C095AD17}"/>
              </a:ext>
            </a:extLst>
          </p:cNvPr>
          <p:cNvSpPr txBox="1"/>
          <p:nvPr/>
        </p:nvSpPr>
        <p:spPr>
          <a:xfrm>
            <a:off x="7903377" y="4945994"/>
            <a:ext cx="37444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una consulta SQL utilizando la línea de comandos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3869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42D9A5B-786C-79CF-4E33-6637D0D2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C8DBD4CC-40EF-C4E7-0297-4A376CAA4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EE2E5E0-53A8-3EC1-F6A6-5A9923B6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5FDD49F-B483-6FBF-BF3F-8460A793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0D1707-248B-21DA-8EB8-0EF71308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42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CA714137-EE13-4D1B-E848-41D1504FE9B6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Se presentan un conjunto de opciones, que pueden ser seleccionadas por el usuario.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Solo se interactúa con  los caracteres indicados.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Características: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Evita errores del usuario.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Lento para usuarios </a:t>
            </a:r>
          </a:p>
          <a:p>
            <a:pPr marL="80645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r>
              <a:rPr lang="es-ES" sz="2400" dirty="0">
                <a:solidFill>
                  <a:schemeClr val="tx1"/>
                </a:solidFill>
              </a:rPr>
              <a:t>experimentados.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297CC78-67E1-6921-3853-72D538C5AFB9}"/>
              </a:ext>
            </a:extLst>
          </p:cNvPr>
          <p:cNvGrpSpPr/>
          <p:nvPr/>
        </p:nvGrpSpPr>
        <p:grpSpPr>
          <a:xfrm>
            <a:off x="1096962" y="1757619"/>
            <a:ext cx="1846007" cy="1670355"/>
            <a:chOff x="1096962" y="1757619"/>
            <a:chExt cx="1846007" cy="1670355"/>
          </a:xfrm>
        </p:grpSpPr>
        <p:pic>
          <p:nvPicPr>
            <p:cNvPr id="10" name="Google Shape;397;p41" descr="Diagrama, Escala de tiempo&#10;&#10;El contenido generado por IA puede ser incorrecto.">
              <a:extLst>
                <a:ext uri="{FF2B5EF4-FFF2-40B4-BE49-F238E27FC236}">
                  <a16:creationId xmlns:a16="http://schemas.microsoft.com/office/drawing/2014/main" id="{8B351AE4-AC1E-3087-EF09-AAA18F1E1BC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5980" t="56628" r="62484" b="18862"/>
            <a:stretch>
              <a:fillRect/>
            </a:stretch>
          </p:blipFill>
          <p:spPr>
            <a:xfrm>
              <a:off x="1096963" y="1757619"/>
              <a:ext cx="1778972" cy="16703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08BAD145-4963-6293-C4C2-F2B3DDE4E202}"/>
                </a:ext>
              </a:extLst>
            </p:cNvPr>
            <p:cNvSpPr/>
            <p:nvPr/>
          </p:nvSpPr>
          <p:spPr>
            <a:xfrm>
              <a:off x="1096962" y="1757619"/>
              <a:ext cx="394953" cy="168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49250BD-8861-1563-63EE-6A763B1FEFE7}"/>
                </a:ext>
              </a:extLst>
            </p:cNvPr>
            <p:cNvSpPr/>
            <p:nvPr/>
          </p:nvSpPr>
          <p:spPr>
            <a:xfrm>
              <a:off x="2548016" y="1760789"/>
              <a:ext cx="394953" cy="168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9" name="Google Shape;440;p45" descr="http://support.usr.com/support/9003/9003-es-ug/images/tui/image034.jpg">
            <a:extLst>
              <a:ext uri="{FF2B5EF4-FFF2-40B4-BE49-F238E27FC236}">
                <a16:creationId xmlns:a16="http://schemas.microsoft.com/office/drawing/2014/main" id="{118662ED-E491-E886-3C00-842319FD129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0688" y="3317348"/>
            <a:ext cx="4736432" cy="298802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61389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50949890-6154-8691-898C-BBBDAE7F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E1333196-54A0-CEBE-0601-20DBF221E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2ACA654-0E65-8D6A-ACC2-9CADE07E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B9CC4D-8562-B470-5AB0-8FF1949B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47989-8103-948D-23F1-B4BA846B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43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64B213BB-B16C-4C1A-967C-0E12AAA1B4BF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Interfaz gráfica de usuarios</a:t>
            </a:r>
            <a:endParaRPr lang="es-ES" sz="1750" dirty="0">
              <a:solidFill>
                <a:schemeClr val="tx1"/>
              </a:solidFill>
            </a:endParaRPr>
          </a:p>
          <a:p>
            <a:pPr marL="442913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None/>
            </a:pPr>
            <a:endParaRPr lang="es-ES" sz="235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Se caracterizan por la utilización de todo tipo de recursos visuales para la representación e interacción con el usuario.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Ventajas: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Son relativamente fáciles de aprender y utilizar.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Los usuarios cuentan con pantallas múltiples (ventanas) para interactuar con el sistema.</a:t>
            </a:r>
          </a:p>
          <a:p>
            <a:pPr marL="811213" indent="-368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350" dirty="0">
                <a:solidFill>
                  <a:schemeClr val="tx1"/>
                </a:solidFill>
              </a:rPr>
              <a:t>Se tiene acceso inmediato a cualquier punto de la pantalla.</a:t>
            </a: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F04F694-9546-ACAA-DD32-235BE28413DA}"/>
              </a:ext>
            </a:extLst>
          </p:cNvPr>
          <p:cNvGrpSpPr/>
          <p:nvPr/>
        </p:nvGrpSpPr>
        <p:grpSpPr>
          <a:xfrm>
            <a:off x="1096963" y="1757620"/>
            <a:ext cx="1778972" cy="1886079"/>
            <a:chOff x="1096963" y="1757620"/>
            <a:chExt cx="1778972" cy="1886079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38218974-4092-8EDC-AB83-04B605B19E06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1886079"/>
              <a:chOff x="1096963" y="1814051"/>
              <a:chExt cx="1778972" cy="1886079"/>
            </a:xfrm>
          </p:grpSpPr>
          <p:pic>
            <p:nvPicPr>
              <p:cNvPr id="10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ABF2BEDB-7175-C5D6-9436-2AFB1820A7D7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7841" t="19553" r="50623" b="65514"/>
              <a:stretch>
                <a:fillRect/>
              </a:stretch>
            </p:blipFill>
            <p:spPr>
              <a:xfrm>
                <a:off x="1096963" y="1814051"/>
                <a:ext cx="1778972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7420C18F-1768-8629-83FF-6B62F2557A87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7857" t="43751" r="50897" b="41317"/>
              <a:stretch>
                <a:fillRect/>
              </a:stretch>
            </p:blipFill>
            <p:spPr>
              <a:xfrm>
                <a:off x="1098036" y="2682490"/>
                <a:ext cx="1755059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1C9412A-E721-9970-32D4-B537F23D5082}"/>
                </a:ext>
              </a:extLst>
            </p:cNvPr>
            <p:cNvSpPr/>
            <p:nvPr/>
          </p:nvSpPr>
          <p:spPr>
            <a:xfrm>
              <a:off x="2558744" y="3409049"/>
              <a:ext cx="294351" cy="23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630222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505E7960-50FA-C3A9-5BE8-C095B3ED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87667B9E-1F87-DE8F-277E-A074AF57B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E893DB-F3A4-3B82-0263-F98D2453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61D8A7A-3E80-821C-9980-DDBE84DA7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037ADF-593C-9D0F-5F30-B1447C81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44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B62823BD-FECA-0533-5BDE-33F51BF7C9F7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Ventanas</a:t>
            </a: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B3AA922F-EBE2-1FAF-A87D-4838932C571D}"/>
              </a:ext>
            </a:extLst>
          </p:cNvPr>
          <p:cNvGrpSpPr/>
          <p:nvPr/>
        </p:nvGrpSpPr>
        <p:grpSpPr>
          <a:xfrm>
            <a:off x="1096963" y="1757620"/>
            <a:ext cx="1778972" cy="1886079"/>
            <a:chOff x="1096963" y="1757620"/>
            <a:chExt cx="1778972" cy="1886079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0A533C15-0969-D54B-162C-05AF88286D16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1886079"/>
              <a:chOff x="1096963" y="1814051"/>
              <a:chExt cx="1778972" cy="1886079"/>
            </a:xfrm>
          </p:grpSpPr>
          <p:pic>
            <p:nvPicPr>
              <p:cNvPr id="10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A284A13B-A26F-3B61-F2A1-11CC9EF3C7BC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7841" t="19553" r="50623" b="65514"/>
              <a:stretch>
                <a:fillRect/>
              </a:stretch>
            </p:blipFill>
            <p:spPr>
              <a:xfrm>
                <a:off x="1096963" y="1814051"/>
                <a:ext cx="1778972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3664F648-1C39-4FAD-3D0B-2BBD9E3562EB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7857" t="43751" r="50897" b="41317"/>
              <a:stretch>
                <a:fillRect/>
              </a:stretch>
            </p:blipFill>
            <p:spPr>
              <a:xfrm>
                <a:off x="1098036" y="2682490"/>
                <a:ext cx="1755059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5DA5AB39-D5BE-79A0-3148-770B82D61334}"/>
                </a:ext>
              </a:extLst>
            </p:cNvPr>
            <p:cNvSpPr/>
            <p:nvPr/>
          </p:nvSpPr>
          <p:spPr>
            <a:xfrm>
              <a:off x="2558744" y="3409049"/>
              <a:ext cx="294351" cy="23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5" name="Google Shape;458;p47" descr="http://2.bp.blogspot.com/-0ner9LkLfco/T10XYqPuYnI/AAAAAAAAACQ/q-3xPSST3c4/s1600/PARA+GLOG+YAII.jpg">
            <a:extLst>
              <a:ext uri="{FF2B5EF4-FFF2-40B4-BE49-F238E27FC236}">
                <a16:creationId xmlns:a16="http://schemas.microsoft.com/office/drawing/2014/main" id="{132BB2BE-E18A-58E3-E4E7-15D9925C1F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5955" y="2393123"/>
            <a:ext cx="6193699" cy="360606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77588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9D4962E-7C8F-8F06-8EB2-35271F345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B07BF9EA-A0FF-1C89-A686-D561A35BB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CD027EE-4CA2-0020-E68D-1EAC687FA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14CCF2-10BE-A019-16EA-46BC939E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9CD2B9-7C06-408E-D906-E5BFF9F9F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45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733DC42A-76C1-3324-5511-6319F8C93098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Íconos y menús</a:t>
            </a: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E473DF42-75B2-B3A9-7883-B5512A5E4322}"/>
              </a:ext>
            </a:extLst>
          </p:cNvPr>
          <p:cNvGrpSpPr/>
          <p:nvPr/>
        </p:nvGrpSpPr>
        <p:grpSpPr>
          <a:xfrm>
            <a:off x="1096963" y="1757620"/>
            <a:ext cx="1778972" cy="1886079"/>
            <a:chOff x="1096963" y="1757620"/>
            <a:chExt cx="1778972" cy="1886079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8C5FD20-21B5-62A5-ED29-FC43EDD2BA40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1886079"/>
              <a:chOff x="1096963" y="1814051"/>
              <a:chExt cx="1778972" cy="1886079"/>
            </a:xfrm>
          </p:grpSpPr>
          <p:pic>
            <p:nvPicPr>
              <p:cNvPr id="10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240490BF-9BA0-A59A-AF71-AC50FA506000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7841" t="19553" r="50623" b="65514"/>
              <a:stretch>
                <a:fillRect/>
              </a:stretch>
            </p:blipFill>
            <p:spPr>
              <a:xfrm>
                <a:off x="1096963" y="1814051"/>
                <a:ext cx="1778972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397;p41" descr="Diagrama, 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C5722317-E3C8-CD51-D882-A5E51CF4C050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27857" t="43751" r="50897" b="41317"/>
              <a:stretch>
                <a:fillRect/>
              </a:stretch>
            </p:blipFill>
            <p:spPr>
              <a:xfrm>
                <a:off x="1098036" y="2682490"/>
                <a:ext cx="1755059" cy="1017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F27C4188-5FE1-8758-06A2-ED08C06F64EF}"/>
                </a:ext>
              </a:extLst>
            </p:cNvPr>
            <p:cNvSpPr/>
            <p:nvPr/>
          </p:nvSpPr>
          <p:spPr>
            <a:xfrm>
              <a:off x="2558744" y="3409049"/>
              <a:ext cx="294351" cy="23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6" name="Google Shape;478;p49" descr="http://docs.oracle.com/cd/E26921_01/html/E25809/figures/printmgr-cups.png">
            <a:extLst>
              <a:ext uri="{FF2B5EF4-FFF2-40B4-BE49-F238E27FC236}">
                <a16:creationId xmlns:a16="http://schemas.microsoft.com/office/drawing/2014/main" id="{A0625558-99F9-3787-1750-9C21A3EE92A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9034" y="2266440"/>
            <a:ext cx="6813375" cy="392583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576002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30EC973B-BFF5-8C20-6BD9-2D7910B1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84DBC4BD-B460-514B-7F00-96E461F72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A020AD-CD93-AA92-CD04-EBB60647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5DA592-574C-93E2-DB5B-B6CE66D84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B0AA97-D1AB-D8D4-FCAB-5060F348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46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02F5C8E8-06D3-6974-413F-6B37265B2F8A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Introducción de datos sencilla en los campos de un formulario. 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Es fácil de aprender, pero ocupa mucho espacio en la pantalla.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5196AF7-CF19-B726-4EA4-A9B3AD993B7C}"/>
              </a:ext>
            </a:extLst>
          </p:cNvPr>
          <p:cNvGrpSpPr/>
          <p:nvPr/>
        </p:nvGrpSpPr>
        <p:grpSpPr>
          <a:xfrm>
            <a:off x="1096962" y="1757619"/>
            <a:ext cx="1846007" cy="1670355"/>
            <a:chOff x="1096962" y="1757619"/>
            <a:chExt cx="1846007" cy="1670355"/>
          </a:xfrm>
        </p:grpSpPr>
        <p:pic>
          <p:nvPicPr>
            <p:cNvPr id="10" name="Google Shape;397;p41" descr="Diagrama, Escala de tiempo&#10;&#10;El contenido generado por IA puede ser incorrecto.">
              <a:extLst>
                <a:ext uri="{FF2B5EF4-FFF2-40B4-BE49-F238E27FC236}">
                  <a16:creationId xmlns:a16="http://schemas.microsoft.com/office/drawing/2014/main" id="{B7227286-B15C-C440-E53E-F812F159821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39482" t="57086" r="38982" b="18404"/>
            <a:stretch>
              <a:fillRect/>
            </a:stretch>
          </p:blipFill>
          <p:spPr>
            <a:xfrm>
              <a:off x="1096963" y="1757619"/>
              <a:ext cx="1778972" cy="16703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565B5D8-BE08-F36E-110D-E34391DE3340}"/>
                </a:ext>
              </a:extLst>
            </p:cNvPr>
            <p:cNvSpPr/>
            <p:nvPr/>
          </p:nvSpPr>
          <p:spPr>
            <a:xfrm>
              <a:off x="1096962" y="1757619"/>
              <a:ext cx="394953" cy="168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F31C16C4-54A9-DD2A-BB34-7231FD974AEA}"/>
                </a:ext>
              </a:extLst>
            </p:cNvPr>
            <p:cNvSpPr/>
            <p:nvPr/>
          </p:nvSpPr>
          <p:spPr>
            <a:xfrm>
              <a:off x="2548016" y="1760789"/>
              <a:ext cx="394953" cy="168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6" name="Google Shape;467;p48">
            <a:extLst>
              <a:ext uri="{FF2B5EF4-FFF2-40B4-BE49-F238E27FC236}">
                <a16:creationId xmlns:a16="http://schemas.microsoft.com/office/drawing/2014/main" id="{2D64434E-D8FA-B5BD-F15F-7E16D1E7BBB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4936"/>
          <a:stretch>
            <a:fillRect/>
          </a:stretch>
        </p:blipFill>
        <p:spPr>
          <a:xfrm>
            <a:off x="6919414" y="3302758"/>
            <a:ext cx="4394579" cy="300679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1FC5FE5-2D98-0E23-3E63-2A8836629DDA}"/>
              </a:ext>
            </a:extLst>
          </p:cNvPr>
          <p:cNvSpPr txBox="1"/>
          <p:nvPr/>
        </p:nvSpPr>
        <p:spPr>
          <a:xfrm>
            <a:off x="1986449" y="5922879"/>
            <a:ext cx="60937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800"/>
            </a:pPr>
            <a:r>
              <a:rPr lang="es-ES" b="0" i="1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Más </a:t>
            </a:r>
            <a:r>
              <a:rPr lang="es-ES" b="0" i="1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r>
              <a:rPr lang="es-ES" b="0" i="1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en: </a:t>
            </a:r>
            <a:r>
              <a:rPr lang="es-ES" i="1" u="sng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https://martinfowler.com/eaaDev/uiArchs.html</a:t>
            </a:r>
            <a:endParaRPr lang="es-ES" i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5038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5D571EE6-DFBB-59F5-0BFC-69E45F47E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D385AD7C-0D5A-35CF-451E-025D93EE1B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26BB99-1321-AACD-2A43-B75448B2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2913B1-A482-11C4-C729-5F3F5E4E8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41A219-1A12-B6BF-7624-AC7D8161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47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AB6EE896-E58A-246D-1594-70F86723C8E8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Hardware específico: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Hardware</a:t>
            </a:r>
            <a:r>
              <a:rPr lang="es-ES" sz="2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Específico y evolución a la pantalla táctil: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9" name="Google Shape;489;p50" descr="http://2.bp.blogspot.com/_VoVmTQteRV8/S-bkWtDfZoI/AAAAAAAAAXg/JQKcmni2yLg/s1600/20090305%2520fundacion%2520once%2520estudio%2520interface%2520moviles%2520para%2520cajeros%2520automaticos%2520cajero%2520automatico.jpg">
            <a:extLst>
              <a:ext uri="{FF2B5EF4-FFF2-40B4-BE49-F238E27FC236}">
                <a16:creationId xmlns:a16="http://schemas.microsoft.com/office/drawing/2014/main" id="{5EF5B66F-1121-B993-A2DB-89E6B1B6F9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1800"/>
          <a:stretch>
            <a:fillRect/>
          </a:stretch>
        </p:blipFill>
        <p:spPr>
          <a:xfrm>
            <a:off x="7032805" y="1770783"/>
            <a:ext cx="3384376" cy="206410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" name="Google Shape;488;p50" descr="http://www.fabricantes-maquinaria-industrial.es/images/easyblog_images/74/b2ap3_thumbnail_16.-interfaz-humano-maquina.jpg">
            <a:extLst>
              <a:ext uri="{FF2B5EF4-FFF2-40B4-BE49-F238E27FC236}">
                <a16:creationId xmlns:a16="http://schemas.microsoft.com/office/drawing/2014/main" id="{0D26B713-99A4-DC2D-6E63-B164544D318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32805" y="4367284"/>
            <a:ext cx="3039243" cy="191921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9578128F-9AAB-43DE-518E-3B4DE7675A4F}"/>
              </a:ext>
            </a:extLst>
          </p:cNvPr>
          <p:cNvGrpSpPr/>
          <p:nvPr/>
        </p:nvGrpSpPr>
        <p:grpSpPr>
          <a:xfrm>
            <a:off x="1096963" y="1757620"/>
            <a:ext cx="1778972" cy="2003404"/>
            <a:chOff x="1096963" y="1757620"/>
            <a:chExt cx="1778972" cy="2003404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DB6C2E16-2605-D9E9-1854-F39188179D22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1895604"/>
              <a:chOff x="1096963" y="1757620"/>
              <a:chExt cx="1778972" cy="1895604"/>
            </a:xfrm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BADBFEA5-17B9-EAD7-EBE7-A4BC79A11479}"/>
                  </a:ext>
                </a:extLst>
              </p:cNvPr>
              <p:cNvGrpSpPr/>
              <p:nvPr/>
            </p:nvGrpSpPr>
            <p:grpSpPr>
              <a:xfrm>
                <a:off x="1096963" y="1757620"/>
                <a:ext cx="1778972" cy="1886079"/>
                <a:chOff x="1096963" y="1814051"/>
                <a:chExt cx="1778972" cy="1886079"/>
              </a:xfrm>
            </p:grpSpPr>
            <p:pic>
              <p:nvPicPr>
                <p:cNvPr id="10" name="Google Shape;397;p41" descr="Diagrama, Escala de tiempo&#10;&#10;El contenido generado por IA puede ser incorrecto.">
                  <a:extLst>
                    <a:ext uri="{FF2B5EF4-FFF2-40B4-BE49-F238E27FC236}">
                      <a16:creationId xmlns:a16="http://schemas.microsoft.com/office/drawing/2014/main" id="{E6DD58F8-19FE-1D0F-3366-4A1AB7F7B9F0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l="50494" t="19518" r="27970" b="65549"/>
                <a:stretch>
                  <a:fillRect/>
                </a:stretch>
              </p:blipFill>
              <p:spPr>
                <a:xfrm>
                  <a:off x="1096963" y="1814051"/>
                  <a:ext cx="1778972" cy="1017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397;p41" descr="Diagrama, Escala de tiempo&#10;&#10;El contenido generado por IA puede ser incorrecto.">
                  <a:extLst>
                    <a:ext uri="{FF2B5EF4-FFF2-40B4-BE49-F238E27FC236}">
                      <a16:creationId xmlns:a16="http://schemas.microsoft.com/office/drawing/2014/main" id="{6110784D-34B7-057E-79F2-3C4273DDEF43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l="50743" t="45116" r="28011" b="40950"/>
                <a:stretch>
                  <a:fillRect/>
                </a:stretch>
              </p:blipFill>
              <p:spPr>
                <a:xfrm>
                  <a:off x="1111684" y="2750509"/>
                  <a:ext cx="1755059" cy="94962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EB94BE54-13FA-0057-DBBC-CFE53909A77E}"/>
                  </a:ext>
                </a:extLst>
              </p:cNvPr>
              <p:cNvSpPr/>
              <p:nvPr/>
            </p:nvSpPr>
            <p:spPr>
              <a:xfrm>
                <a:off x="2577794" y="3418574"/>
                <a:ext cx="294351" cy="2346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4775A123-43DA-07BE-EB6A-A3DDCBA45571}"/>
                </a:ext>
              </a:extLst>
            </p:cNvPr>
            <p:cNvSpPr/>
            <p:nvPr/>
          </p:nvSpPr>
          <p:spPr>
            <a:xfrm>
              <a:off x="1096963" y="3526374"/>
              <a:ext cx="294351" cy="23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443313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E345E7B-8833-B6C0-082C-8FC22A74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FA447E81-8F39-23A4-9C29-17BFBCABB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50E0612-097F-C6DB-60A1-77B9E46A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521FA5A-5870-D72E-3C7E-7B80D7B4A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DA4BC5-E9DD-F689-016D-91AE0970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48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3BEC1D11-3A48-11FF-7266-FED9C844391F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Interfaces de manipulación directa táctil: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42421DF-5C66-9FCA-4FE3-2B57DB5575CB}"/>
              </a:ext>
            </a:extLst>
          </p:cNvPr>
          <p:cNvGrpSpPr/>
          <p:nvPr/>
        </p:nvGrpSpPr>
        <p:grpSpPr>
          <a:xfrm>
            <a:off x="1096963" y="1757620"/>
            <a:ext cx="1778972" cy="2003404"/>
            <a:chOff x="1096963" y="1757620"/>
            <a:chExt cx="1778972" cy="2003404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9908D4B8-54A6-1ECC-C8A7-122ADF69AEFE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1895604"/>
              <a:chOff x="1096963" y="1757620"/>
              <a:chExt cx="1778972" cy="1895604"/>
            </a:xfrm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4FDAFD28-55D4-80D7-DDAC-FF8405D213E3}"/>
                  </a:ext>
                </a:extLst>
              </p:cNvPr>
              <p:cNvGrpSpPr/>
              <p:nvPr/>
            </p:nvGrpSpPr>
            <p:grpSpPr>
              <a:xfrm>
                <a:off x="1096963" y="1757620"/>
                <a:ext cx="1778972" cy="1886079"/>
                <a:chOff x="1096963" y="1814051"/>
                <a:chExt cx="1778972" cy="1886079"/>
              </a:xfrm>
            </p:grpSpPr>
            <p:pic>
              <p:nvPicPr>
                <p:cNvPr id="10" name="Google Shape;397;p41" descr="Diagrama, Escala de tiempo&#10;&#10;El contenido generado por IA puede ser incorrecto.">
                  <a:extLst>
                    <a:ext uri="{FF2B5EF4-FFF2-40B4-BE49-F238E27FC236}">
                      <a16:creationId xmlns:a16="http://schemas.microsoft.com/office/drawing/2014/main" id="{DB2B940F-C1B5-7A4E-E0D6-AEEE24CA58A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l="50494" t="19518" r="27970" b="65549"/>
                <a:stretch>
                  <a:fillRect/>
                </a:stretch>
              </p:blipFill>
              <p:spPr>
                <a:xfrm>
                  <a:off x="1096963" y="1814051"/>
                  <a:ext cx="1778972" cy="1017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1" name="Google Shape;397;p41" descr="Diagrama, Escala de tiempo&#10;&#10;El contenido generado por IA puede ser incorrecto.">
                  <a:extLst>
                    <a:ext uri="{FF2B5EF4-FFF2-40B4-BE49-F238E27FC236}">
                      <a16:creationId xmlns:a16="http://schemas.microsoft.com/office/drawing/2014/main" id="{EE9100B1-64CF-4097-B14A-CF79E593E13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l="50743" t="45116" r="28011" b="40950"/>
                <a:stretch>
                  <a:fillRect/>
                </a:stretch>
              </p:blipFill>
              <p:spPr>
                <a:xfrm>
                  <a:off x="1111684" y="2750509"/>
                  <a:ext cx="1755059" cy="94962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921D7BD-D9C9-F7EB-0DFF-E316CF0E42D7}"/>
                  </a:ext>
                </a:extLst>
              </p:cNvPr>
              <p:cNvSpPr/>
              <p:nvPr/>
            </p:nvSpPr>
            <p:spPr>
              <a:xfrm>
                <a:off x="2577794" y="3418574"/>
                <a:ext cx="294351" cy="2346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063D04AB-95A7-AC3B-2B1E-5E51C608A387}"/>
                </a:ext>
              </a:extLst>
            </p:cNvPr>
            <p:cNvSpPr/>
            <p:nvPr/>
          </p:nvSpPr>
          <p:spPr>
            <a:xfrm>
              <a:off x="1096963" y="3526374"/>
              <a:ext cx="294351" cy="23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5" name="Google Shape;501;p51" descr="http://ocw.uoc.edu/informatica-tecnologia-i-multimedia/disseny-dinteraccio/disseny-dinteraccio/CCBYNCSA_DanielWilliams_flickr.png">
            <a:extLst>
              <a:ext uri="{FF2B5EF4-FFF2-40B4-BE49-F238E27FC236}">
                <a16:creationId xmlns:a16="http://schemas.microsoft.com/office/drawing/2014/main" id="{5CB02F8A-6282-D7ED-4293-BBC91BB76E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0288" y="2612651"/>
            <a:ext cx="3462517" cy="338196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" name="Google Shape;502;p51" descr="http://blogs.cccb.org/lab/wp-content/uploads/reactable_0007_01.jpg">
            <a:extLst>
              <a:ext uri="{FF2B5EF4-FFF2-40B4-BE49-F238E27FC236}">
                <a16:creationId xmlns:a16="http://schemas.microsoft.com/office/drawing/2014/main" id="{CFCE8013-2B00-2CE3-B225-CABDC2F12F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27159" y="3168888"/>
            <a:ext cx="3760658" cy="1703363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2459048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88A10057-C342-AD63-F384-543376E66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D366E482-3CB2-259E-2CBD-C255B9D7E6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181D98F-F662-4856-3347-83E1A46A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C38821-BB00-992A-5825-98B3646E4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E7D265-FBBC-B144-36B6-1B4DE9E0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49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B7145389-FAEA-1C66-8C95-5CDD6B9DFD6A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lvl="0" indent="-9144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800" dirty="0">
                <a:solidFill>
                  <a:schemeClr val="tx1"/>
                </a:solidFill>
              </a:rPr>
              <a:t>Comunicación con los dispositivos a través de la voz.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2F238611-4888-0289-854A-D3C6B1DA5356}"/>
              </a:ext>
            </a:extLst>
          </p:cNvPr>
          <p:cNvGrpSpPr/>
          <p:nvPr/>
        </p:nvGrpSpPr>
        <p:grpSpPr>
          <a:xfrm>
            <a:off x="1096962" y="1757619"/>
            <a:ext cx="1846007" cy="1670355"/>
            <a:chOff x="1096962" y="1757619"/>
            <a:chExt cx="1846007" cy="1670355"/>
          </a:xfrm>
        </p:grpSpPr>
        <p:pic>
          <p:nvPicPr>
            <p:cNvPr id="10" name="Google Shape;397;p41" descr="Diagrama, Escala de tiempo&#10;&#10;El contenido generado por IA puede ser incorrecto.">
              <a:extLst>
                <a:ext uri="{FF2B5EF4-FFF2-40B4-BE49-F238E27FC236}">
                  <a16:creationId xmlns:a16="http://schemas.microsoft.com/office/drawing/2014/main" id="{75A178D2-545D-E404-2DB6-A51EF0EAEAD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61889" t="56654" r="16575" b="18836"/>
            <a:stretch>
              <a:fillRect/>
            </a:stretch>
          </p:blipFill>
          <p:spPr>
            <a:xfrm>
              <a:off x="1096963" y="1757619"/>
              <a:ext cx="1778972" cy="16703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E33BC7AD-9478-CDB0-1256-170B795E8F02}"/>
                </a:ext>
              </a:extLst>
            </p:cNvPr>
            <p:cNvSpPr/>
            <p:nvPr/>
          </p:nvSpPr>
          <p:spPr>
            <a:xfrm>
              <a:off x="1096962" y="1757619"/>
              <a:ext cx="394953" cy="168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DD96DAD-94CA-408F-006A-50A28346D817}"/>
                </a:ext>
              </a:extLst>
            </p:cNvPr>
            <p:cNvSpPr/>
            <p:nvPr/>
          </p:nvSpPr>
          <p:spPr>
            <a:xfrm>
              <a:off x="2548016" y="1760789"/>
              <a:ext cx="394953" cy="1684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8" name="Google Shape;512;p52" descr="http://img.applesfera.com/2011/02/iphone-control-por-voz.jpg">
            <a:extLst>
              <a:ext uri="{FF2B5EF4-FFF2-40B4-BE49-F238E27FC236}">
                <a16:creationId xmlns:a16="http://schemas.microsoft.com/office/drawing/2014/main" id="{8345A94E-2CDF-2000-1506-812CD9CAF4C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2346" y="2839976"/>
            <a:ext cx="4190078" cy="2713882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513;p52" descr="http://i0.wp.com/www.esferaiphone.com/uploads/Siri-post.jpg">
            <a:extLst>
              <a:ext uri="{FF2B5EF4-FFF2-40B4-BE49-F238E27FC236}">
                <a16:creationId xmlns:a16="http://schemas.microsoft.com/office/drawing/2014/main" id="{6E97D1BC-BAA0-A0D7-27A5-05EFB848E0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3973" y="3238501"/>
            <a:ext cx="3333621" cy="1916832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9613292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CA5D52B7-20EF-F9DA-B0CA-DCC322B7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3D24580A-D233-CB39-20F9-F9D03F7878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47498FB-54F8-2A32-FE19-97C6F948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9C98D7F-9F97-FD89-C728-BB0F59326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3BE559-CB74-DFE5-6D1D-BB8660C7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50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DD69D049-6F59-42C0-3544-793931230948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  <a:hlinkClick r:id="rId3"/>
              </a:rPr>
              <a:t>https://www.wolframalpha.com/</a:t>
            </a:r>
            <a:r>
              <a:rPr lang="es-ES" sz="2800" dirty="0">
                <a:solidFill>
                  <a:schemeClr val="tx1"/>
                </a:solidFill>
              </a:rPr>
              <a:t> 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E0E2A09-170A-1AF3-C6E2-2578252DA41B}"/>
              </a:ext>
            </a:extLst>
          </p:cNvPr>
          <p:cNvGrpSpPr/>
          <p:nvPr/>
        </p:nvGrpSpPr>
        <p:grpSpPr>
          <a:xfrm>
            <a:off x="1096963" y="1757620"/>
            <a:ext cx="1778972" cy="2003404"/>
            <a:chOff x="1096963" y="1757620"/>
            <a:chExt cx="1778972" cy="2003404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E3D0D5BE-AD13-61C3-FA6F-549A1F1710A2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2003404"/>
              <a:chOff x="1096963" y="1757620"/>
              <a:chExt cx="1778972" cy="2003404"/>
            </a:xfrm>
          </p:grpSpPr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C0C2DC00-799C-56AE-26BA-B44D04EF244A}"/>
                  </a:ext>
                </a:extLst>
              </p:cNvPr>
              <p:cNvGrpSpPr/>
              <p:nvPr/>
            </p:nvGrpSpPr>
            <p:grpSpPr>
              <a:xfrm>
                <a:off x="1096963" y="1757620"/>
                <a:ext cx="1778972" cy="2003404"/>
                <a:chOff x="1096963" y="1757620"/>
                <a:chExt cx="1778972" cy="2003404"/>
              </a:xfrm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CECBBAE3-0CFE-B823-2EC4-0DF171E819B0}"/>
                    </a:ext>
                  </a:extLst>
                </p:cNvPr>
                <p:cNvGrpSpPr/>
                <p:nvPr/>
              </p:nvGrpSpPr>
              <p:grpSpPr>
                <a:xfrm>
                  <a:off x="1096963" y="1757620"/>
                  <a:ext cx="1778972" cy="1895604"/>
                  <a:chOff x="1096963" y="1757620"/>
                  <a:chExt cx="1778972" cy="1895604"/>
                </a:xfrm>
              </p:grpSpPr>
              <p:grpSp>
                <p:nvGrpSpPr>
                  <p:cNvPr id="12" name="Grupo 11">
                    <a:extLst>
                      <a:ext uri="{FF2B5EF4-FFF2-40B4-BE49-F238E27FC236}">
                        <a16:creationId xmlns:a16="http://schemas.microsoft.com/office/drawing/2014/main" id="{C20BD20D-565C-CE48-A75E-CD920BD6ED66}"/>
                      </a:ext>
                    </a:extLst>
                  </p:cNvPr>
                  <p:cNvGrpSpPr/>
                  <p:nvPr/>
                </p:nvGrpSpPr>
                <p:grpSpPr>
                  <a:xfrm>
                    <a:off x="1096963" y="1757620"/>
                    <a:ext cx="1778972" cy="1886080"/>
                    <a:chOff x="1096963" y="1814051"/>
                    <a:chExt cx="1778972" cy="1886080"/>
                  </a:xfrm>
                </p:grpSpPr>
                <p:pic>
                  <p:nvPicPr>
                    <p:cNvPr id="10" name="Google Shape;397;p41" descr="Diagrama, Escala de tiempo&#10;&#10;El contenido generado por IA puede ser incorrecto.">
                      <a:extLst>
                        <a:ext uri="{FF2B5EF4-FFF2-40B4-BE49-F238E27FC236}">
                          <a16:creationId xmlns:a16="http://schemas.microsoft.com/office/drawing/2014/main" id="{C15E1B2E-201E-02E2-A2E5-9B5DBC5B9E3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 l="73580" t="19285" r="4884" b="65782"/>
                    <a:stretch>
                      <a:fillRect/>
                    </a:stretch>
                  </p:blipFill>
                  <p:spPr>
                    <a:xfrm>
                      <a:off x="1096963" y="1814051"/>
                      <a:ext cx="1778972" cy="101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1" name="Google Shape;397;p41" descr="Diagrama, Escala de tiempo&#10;&#10;El contenido generado por IA puede ser incorrecto.">
                      <a:extLst>
                        <a:ext uri="{FF2B5EF4-FFF2-40B4-BE49-F238E27FC236}">
                          <a16:creationId xmlns:a16="http://schemas.microsoft.com/office/drawing/2014/main" id="{60D7A2EE-15FF-F2E8-8F22-28E8407B829F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 l="73748" t="43092" r="5006" b="41976"/>
                    <a:stretch>
                      <a:fillRect/>
                    </a:stretch>
                  </p:blipFill>
                  <p:spPr>
                    <a:xfrm>
                      <a:off x="1102159" y="2682491"/>
                      <a:ext cx="1755059" cy="101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sp>
                <p:nvSpPr>
                  <p:cNvPr id="13" name="Rectángulo 12">
                    <a:extLst>
                      <a:ext uri="{FF2B5EF4-FFF2-40B4-BE49-F238E27FC236}">
                        <a16:creationId xmlns:a16="http://schemas.microsoft.com/office/drawing/2014/main" id="{B6E60859-F1B0-C536-B44A-2E50A4EB4A3B}"/>
                      </a:ext>
                    </a:extLst>
                  </p:cNvPr>
                  <p:cNvSpPr/>
                  <p:nvPr/>
                </p:nvSpPr>
                <p:spPr>
                  <a:xfrm>
                    <a:off x="2577794" y="3418574"/>
                    <a:ext cx="294351" cy="23465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16" name="Rectángulo 15">
                  <a:extLst>
                    <a:ext uri="{FF2B5EF4-FFF2-40B4-BE49-F238E27FC236}">
                      <a16:creationId xmlns:a16="http://schemas.microsoft.com/office/drawing/2014/main" id="{EC903E72-548C-67EE-1E08-5180BBACE0A6}"/>
                    </a:ext>
                  </a:extLst>
                </p:cNvPr>
                <p:cNvSpPr/>
                <p:nvPr/>
              </p:nvSpPr>
              <p:spPr>
                <a:xfrm>
                  <a:off x="1096963" y="3526374"/>
                  <a:ext cx="294351" cy="2346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8A869AD0-C946-CDF8-BD83-991D9AF7110A}"/>
                  </a:ext>
                </a:extLst>
              </p:cNvPr>
              <p:cNvSpPr/>
              <p:nvPr/>
            </p:nvSpPr>
            <p:spPr>
              <a:xfrm>
                <a:off x="1391314" y="2449002"/>
                <a:ext cx="1186480" cy="238539"/>
              </a:xfrm>
              <a:prstGeom prst="rect">
                <a:avLst/>
              </a:prstGeom>
              <a:solidFill>
                <a:srgbClr val="F5E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AEE9C54-69A1-B504-7A37-C15A3A517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2213" y="2118778"/>
              <a:ext cx="1295581" cy="609685"/>
            </a:xfrm>
            <a:prstGeom prst="rect">
              <a:avLst/>
            </a:prstGeom>
          </p:spPr>
        </p:pic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7414CCE-B49D-3B57-D068-F621163A305C}"/>
                </a:ext>
              </a:extLst>
            </p:cNvPr>
            <p:cNvSpPr/>
            <p:nvPr/>
          </p:nvSpPr>
          <p:spPr>
            <a:xfrm>
              <a:off x="1447800" y="1876425"/>
              <a:ext cx="1129994" cy="242353"/>
            </a:xfrm>
            <a:prstGeom prst="rect">
              <a:avLst/>
            </a:prstGeom>
            <a:solidFill>
              <a:srgbClr val="F5E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21" name="Google Shape;524;p53">
            <a:extLst>
              <a:ext uri="{FF2B5EF4-FFF2-40B4-BE49-F238E27FC236}">
                <a16:creationId xmlns:a16="http://schemas.microsoft.com/office/drawing/2014/main" id="{29697A27-CD76-17F9-AD68-B482A04186C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74278" y="2266440"/>
            <a:ext cx="7170976" cy="3902348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1230109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C933736-EABB-FFB7-F705-1335D464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9224251F-DAFD-5C78-16FF-55A0AD374E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7591E45-583E-26ED-22BA-EF0ED992C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A1246D-2FE6-82F3-8210-59536180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CB3791-87B0-C922-BF62-3D4873D3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51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D8C19900-E3DA-3836-C9A5-8FD22CE70E1F}"/>
              </a:ext>
            </a:extLst>
          </p:cNvPr>
          <p:cNvSpPr txBox="1">
            <a:spLocks/>
          </p:cNvSpPr>
          <p:nvPr/>
        </p:nvSpPr>
        <p:spPr bwMode="auto">
          <a:xfrm>
            <a:off x="2853096" y="1770783"/>
            <a:ext cx="8359418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 err="1">
                <a:solidFill>
                  <a:schemeClr val="tx1"/>
                </a:solidFill>
              </a:rPr>
              <a:t>ChatGPT</a:t>
            </a:r>
            <a:r>
              <a:rPr lang="es-ES" sz="2800" dirty="0">
                <a:solidFill>
                  <a:schemeClr val="tx1"/>
                </a:solidFill>
              </a:rPr>
              <a:t>  </a:t>
            </a:r>
            <a:r>
              <a:rPr lang="es-ES" sz="2800" dirty="0">
                <a:solidFill>
                  <a:schemeClr val="tx1"/>
                </a:solidFill>
                <a:hlinkClick r:id="rId3"/>
              </a:rPr>
              <a:t>https://chat.openai.com/chat</a:t>
            </a:r>
            <a:r>
              <a:rPr lang="es-ES" sz="2800" dirty="0">
                <a:solidFill>
                  <a:schemeClr val="tx1"/>
                </a:solidFill>
              </a:rPr>
              <a:t> 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05B3280F-BCB4-1492-582C-19CCDB32FE5D}"/>
              </a:ext>
            </a:extLst>
          </p:cNvPr>
          <p:cNvGrpSpPr/>
          <p:nvPr/>
        </p:nvGrpSpPr>
        <p:grpSpPr>
          <a:xfrm>
            <a:off x="1096963" y="1757620"/>
            <a:ext cx="1778972" cy="2003404"/>
            <a:chOff x="1096963" y="1757620"/>
            <a:chExt cx="1778972" cy="2003404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0C4AA2E9-AD98-C186-33AE-488266C2244D}"/>
                </a:ext>
              </a:extLst>
            </p:cNvPr>
            <p:cNvGrpSpPr/>
            <p:nvPr/>
          </p:nvGrpSpPr>
          <p:grpSpPr>
            <a:xfrm>
              <a:off x="1096963" y="1757620"/>
              <a:ext cx="1778972" cy="2003404"/>
              <a:chOff x="1096963" y="1757620"/>
              <a:chExt cx="1778972" cy="2003404"/>
            </a:xfrm>
          </p:grpSpPr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5748E6A4-C50F-F3FE-2608-3D343D021B9E}"/>
                  </a:ext>
                </a:extLst>
              </p:cNvPr>
              <p:cNvGrpSpPr/>
              <p:nvPr/>
            </p:nvGrpSpPr>
            <p:grpSpPr>
              <a:xfrm>
                <a:off x="1096963" y="1757620"/>
                <a:ext cx="1778972" cy="2003404"/>
                <a:chOff x="1096963" y="1757620"/>
                <a:chExt cx="1778972" cy="2003404"/>
              </a:xfrm>
            </p:grpSpPr>
            <p:grpSp>
              <p:nvGrpSpPr>
                <p:cNvPr id="14" name="Grupo 13">
                  <a:extLst>
                    <a:ext uri="{FF2B5EF4-FFF2-40B4-BE49-F238E27FC236}">
                      <a16:creationId xmlns:a16="http://schemas.microsoft.com/office/drawing/2014/main" id="{DF4D77D7-7AE8-F8C1-70EB-6BF63C8A2BB2}"/>
                    </a:ext>
                  </a:extLst>
                </p:cNvPr>
                <p:cNvGrpSpPr/>
                <p:nvPr/>
              </p:nvGrpSpPr>
              <p:grpSpPr>
                <a:xfrm>
                  <a:off x="1096963" y="1757620"/>
                  <a:ext cx="1778972" cy="1895604"/>
                  <a:chOff x="1096963" y="1757620"/>
                  <a:chExt cx="1778972" cy="1895604"/>
                </a:xfrm>
              </p:grpSpPr>
              <p:grpSp>
                <p:nvGrpSpPr>
                  <p:cNvPr id="12" name="Grupo 11">
                    <a:extLst>
                      <a:ext uri="{FF2B5EF4-FFF2-40B4-BE49-F238E27FC236}">
                        <a16:creationId xmlns:a16="http://schemas.microsoft.com/office/drawing/2014/main" id="{7ED13E97-2F1B-20CF-24A5-C2AE15DBEB57}"/>
                      </a:ext>
                    </a:extLst>
                  </p:cNvPr>
                  <p:cNvGrpSpPr/>
                  <p:nvPr/>
                </p:nvGrpSpPr>
                <p:grpSpPr>
                  <a:xfrm>
                    <a:off x="1096963" y="1757620"/>
                    <a:ext cx="1778972" cy="1886080"/>
                    <a:chOff x="1096963" y="1814051"/>
                    <a:chExt cx="1778972" cy="1886080"/>
                  </a:xfrm>
                </p:grpSpPr>
                <p:pic>
                  <p:nvPicPr>
                    <p:cNvPr id="10" name="Google Shape;397;p41" descr="Diagrama, Escala de tiempo&#10;&#10;El contenido generado por IA puede ser incorrecto.">
                      <a:extLst>
                        <a:ext uri="{FF2B5EF4-FFF2-40B4-BE49-F238E27FC236}">
                          <a16:creationId xmlns:a16="http://schemas.microsoft.com/office/drawing/2014/main" id="{2EADC635-EAAC-536B-FCA5-9DEDF76CECAD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 l="73580" t="19285" r="4884" b="65782"/>
                    <a:stretch>
                      <a:fillRect/>
                    </a:stretch>
                  </p:blipFill>
                  <p:spPr>
                    <a:xfrm>
                      <a:off x="1096963" y="1814051"/>
                      <a:ext cx="1778972" cy="101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id="11" name="Google Shape;397;p41" descr="Diagrama, Escala de tiempo&#10;&#10;El contenido generado por IA puede ser incorrecto.">
                      <a:extLst>
                        <a:ext uri="{FF2B5EF4-FFF2-40B4-BE49-F238E27FC236}">
                          <a16:creationId xmlns:a16="http://schemas.microsoft.com/office/drawing/2014/main" id="{187E0443-DA49-9559-A466-C22B9F56623E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4">
                      <a:alphaModFix/>
                    </a:blip>
                    <a:srcRect l="73748" t="43092" r="5006" b="41976"/>
                    <a:stretch>
                      <a:fillRect/>
                    </a:stretch>
                  </p:blipFill>
                  <p:spPr>
                    <a:xfrm>
                      <a:off x="1102159" y="2682491"/>
                      <a:ext cx="1755059" cy="10176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  <p:sp>
                <p:nvSpPr>
                  <p:cNvPr id="13" name="Rectángulo 12">
                    <a:extLst>
                      <a:ext uri="{FF2B5EF4-FFF2-40B4-BE49-F238E27FC236}">
                        <a16:creationId xmlns:a16="http://schemas.microsoft.com/office/drawing/2014/main" id="{69CFDA0A-50A1-962E-92DF-65E379AD752A}"/>
                      </a:ext>
                    </a:extLst>
                  </p:cNvPr>
                  <p:cNvSpPr/>
                  <p:nvPr/>
                </p:nvSpPr>
                <p:spPr>
                  <a:xfrm>
                    <a:off x="2577794" y="3418574"/>
                    <a:ext cx="294351" cy="23465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16" name="Rectángulo 15">
                  <a:extLst>
                    <a:ext uri="{FF2B5EF4-FFF2-40B4-BE49-F238E27FC236}">
                      <a16:creationId xmlns:a16="http://schemas.microsoft.com/office/drawing/2014/main" id="{A3403949-B7FC-1D06-E533-74E698B617CA}"/>
                    </a:ext>
                  </a:extLst>
                </p:cNvPr>
                <p:cNvSpPr/>
                <p:nvPr/>
              </p:nvSpPr>
              <p:spPr>
                <a:xfrm>
                  <a:off x="1096963" y="3526374"/>
                  <a:ext cx="294351" cy="2346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F3C728F1-613C-05C0-E4B1-8D5F2B5A6FA3}"/>
                  </a:ext>
                </a:extLst>
              </p:cNvPr>
              <p:cNvSpPr/>
              <p:nvPr/>
            </p:nvSpPr>
            <p:spPr>
              <a:xfrm>
                <a:off x="1391314" y="2449002"/>
                <a:ext cx="1186480" cy="238539"/>
              </a:xfrm>
              <a:prstGeom prst="rect">
                <a:avLst/>
              </a:prstGeom>
              <a:solidFill>
                <a:srgbClr val="F5E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559E9186-3D1A-4AF7-15EF-A3E7F9EB5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2213" y="2118778"/>
              <a:ext cx="1295581" cy="609685"/>
            </a:xfrm>
            <a:prstGeom prst="rect">
              <a:avLst/>
            </a:prstGeom>
          </p:spPr>
        </p:pic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973C589-70B6-AD2B-80B9-6D72C50C617D}"/>
                </a:ext>
              </a:extLst>
            </p:cNvPr>
            <p:cNvSpPr/>
            <p:nvPr/>
          </p:nvSpPr>
          <p:spPr>
            <a:xfrm>
              <a:off x="1447800" y="1876425"/>
              <a:ext cx="1129994" cy="242353"/>
            </a:xfrm>
            <a:prstGeom prst="rect">
              <a:avLst/>
            </a:prstGeom>
            <a:solidFill>
              <a:srgbClr val="F5E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5" name="Google Shape;534;p54">
            <a:extLst>
              <a:ext uri="{FF2B5EF4-FFF2-40B4-BE49-F238E27FC236}">
                <a16:creationId xmlns:a16="http://schemas.microsoft.com/office/drawing/2014/main" id="{D6D36312-8D0F-F132-718C-0B10AF35E0E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21302"/>
          <a:stretch/>
        </p:blipFill>
        <p:spPr>
          <a:xfrm>
            <a:off x="3166362" y="2333768"/>
            <a:ext cx="7634324" cy="3957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93195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760B2DC5-69D9-4E15-B051-A9C3E2042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374450C5-622E-1605-A8AF-EE0F2EA9CA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CC3025D-47E3-4E24-7F8A-711EB374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BB4974A-B075-AF1A-30D3-B4E44033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B50137-3600-123D-92D9-687673D9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52</a:t>
            </a:fld>
            <a:endParaRPr lang="es-AR"/>
          </a:p>
        </p:txBody>
      </p:sp>
      <p:grpSp>
        <p:nvGrpSpPr>
          <p:cNvPr id="5" name="Google Shape;561;p82">
            <a:extLst>
              <a:ext uri="{FF2B5EF4-FFF2-40B4-BE49-F238E27FC236}">
                <a16:creationId xmlns:a16="http://schemas.microsoft.com/office/drawing/2014/main" id="{AF654A42-AB25-A70A-9696-4BB26ECDF115}"/>
              </a:ext>
            </a:extLst>
          </p:cNvPr>
          <p:cNvGrpSpPr/>
          <p:nvPr/>
        </p:nvGrpSpPr>
        <p:grpSpPr>
          <a:xfrm>
            <a:off x="30163" y="1736725"/>
            <a:ext cx="12192000" cy="4014257"/>
            <a:chOff x="0" y="1481563"/>
            <a:chExt cx="12192000" cy="4014257"/>
          </a:xfrm>
        </p:grpSpPr>
        <p:pic>
          <p:nvPicPr>
            <p:cNvPr id="6" name="Google Shape;562;p82" descr="Tabla&#10;&#10;El contenido generado por IA puede ser incorrecto.">
              <a:extLst>
                <a:ext uri="{FF2B5EF4-FFF2-40B4-BE49-F238E27FC236}">
                  <a16:creationId xmlns:a16="http://schemas.microsoft.com/office/drawing/2014/main" id="{1A1497D6-677B-8804-09FF-E10D862583A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12876"/>
            <a:stretch>
              <a:fillRect/>
            </a:stretch>
          </p:blipFill>
          <p:spPr>
            <a:xfrm>
              <a:off x="0" y="1983071"/>
              <a:ext cx="12192000" cy="33933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563;p82" descr="Imagen que contiene Gráfico&#10;&#10;El contenido generado por IA puede ser incorrecto.">
              <a:extLst>
                <a:ext uri="{FF2B5EF4-FFF2-40B4-BE49-F238E27FC236}">
                  <a16:creationId xmlns:a16="http://schemas.microsoft.com/office/drawing/2014/main" id="{65F4C7EE-4C38-9EDD-A628-E0ABDB88EDE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63442"/>
            <a:stretch/>
          </p:blipFill>
          <p:spPr>
            <a:xfrm>
              <a:off x="7718404" y="1481563"/>
              <a:ext cx="4457075" cy="401425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63937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1CA6856C-0732-9084-D247-017811F7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5596B5B9-71AE-898E-005C-E96EBE1F5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BA9DB3-7DFE-EC79-2C31-0ADE0ADDC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CBFCAB-9904-F3DB-7A3A-78442AFE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73A17D-4ECE-5BE6-DE04-6C53D80B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53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19345BAB-6C94-1084-9807-6523A87EFBC6}"/>
              </a:ext>
            </a:extLst>
          </p:cNvPr>
          <p:cNvSpPr txBox="1">
            <a:spLocks/>
          </p:cNvSpPr>
          <p:nvPr/>
        </p:nvSpPr>
        <p:spPr bwMode="auto">
          <a:xfrm>
            <a:off x="1096963" y="1770783"/>
            <a:ext cx="10115551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Interfaces para diferentes dispositivos</a:t>
            </a:r>
            <a:endParaRPr lang="es-ES" sz="32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Responsive Web </a:t>
            </a:r>
            <a:r>
              <a:rPr lang="es-ES" sz="2400" dirty="0" err="1">
                <a:solidFill>
                  <a:schemeClr val="tx1"/>
                </a:solidFill>
              </a:rPr>
              <a:t>Design</a:t>
            </a:r>
            <a:r>
              <a:rPr lang="es-ES" sz="2400" dirty="0">
                <a:solidFill>
                  <a:schemeClr val="tx1"/>
                </a:solidFill>
              </a:rPr>
              <a:t> (Interface Web adaptable a cada dispositivo)</a:t>
            </a:r>
          </a:p>
          <a:p>
            <a:pPr marL="822325" lvl="1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2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6" name="Google Shape;541;p55" descr="C:\Users\ngaldamez\Desktop\Imagenes\La nacion - ipad.jpg">
            <a:extLst>
              <a:ext uri="{FF2B5EF4-FFF2-40B4-BE49-F238E27FC236}">
                <a16:creationId xmlns:a16="http://schemas.microsoft.com/office/drawing/2014/main" id="{86B61A03-FAD0-6B7B-5A3E-8CCEF84EED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2831"/>
          <a:stretch/>
        </p:blipFill>
        <p:spPr>
          <a:xfrm>
            <a:off x="5845909" y="3429000"/>
            <a:ext cx="2313905" cy="267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542;p55" descr="C:\Users\ngaldamez\Desktop\Imagenes\lanacion-pc.png">
            <a:extLst>
              <a:ext uri="{FF2B5EF4-FFF2-40B4-BE49-F238E27FC236}">
                <a16:creationId xmlns:a16="http://schemas.microsoft.com/office/drawing/2014/main" id="{43353264-D5CF-0DF0-948F-16119BFEA3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1063" y="2687428"/>
            <a:ext cx="2698998" cy="2866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543;p55" descr="C:\Users\ngaldamez\Desktop\Imagenes\lanacion-movil.png">
            <a:extLst>
              <a:ext uri="{FF2B5EF4-FFF2-40B4-BE49-F238E27FC236}">
                <a16:creationId xmlns:a16="http://schemas.microsoft.com/office/drawing/2014/main" id="{6EE4087D-5A80-CE73-DB23-51EBE6DAF70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85662" y="2758368"/>
            <a:ext cx="1038076" cy="2009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10980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09AB680C-D878-F90C-55D0-704C48F9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5247F840-5878-3A91-A565-BF313802E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Tipos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524940A-314F-0644-177A-09022D1C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EACD1FF-A27D-CEEC-7132-C00C570D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2C6180-3810-27DA-C505-598010CF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54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7DD1F90C-8CA4-5BFB-A80A-DA983EF6FC3C}"/>
              </a:ext>
            </a:extLst>
          </p:cNvPr>
          <p:cNvSpPr txBox="1">
            <a:spLocks/>
          </p:cNvSpPr>
          <p:nvPr/>
        </p:nvSpPr>
        <p:spPr bwMode="auto">
          <a:xfrm>
            <a:off x="1096963" y="1770783"/>
            <a:ext cx="10115551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Interfaces accesibles</a:t>
            </a:r>
            <a:endParaRPr lang="es-ES" sz="3600" dirty="0">
              <a:solidFill>
                <a:schemeClr val="tx1"/>
              </a:solidFill>
            </a:endParaRPr>
          </a:p>
          <a:p>
            <a:pPr marL="811213" indent="-36830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Arial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Son las interfaces que respetan las normas del diseño universal para que puedan ser accedidas por cualquier usuario independientemente de sus condiciones físicas y mentales.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22" name="Google Shape;553;p56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7A8A3C22-90B6-10E5-0F72-3FEF79F6BE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3180" y="3158258"/>
            <a:ext cx="2953059" cy="30479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79189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400"/>
              <a:buFont typeface="Calibri"/>
              <a:buNone/>
            </a:pPr>
            <a:r>
              <a:rPr lang="es-ES" dirty="0">
                <a:solidFill>
                  <a:schemeClr val="bg1"/>
                </a:solidFill>
              </a:rPr>
              <a:t>Presentación de la información en pantalla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AC918A-61DD-42D9-CB78-8076DC74C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F32025-2072-C107-C20A-FF53EB83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4609BE-0073-5AE7-3933-86C0E57C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Ingeniería de Software II</a:t>
            </a:r>
          </a:p>
        </p:txBody>
      </p:sp>
      <p:sp>
        <p:nvSpPr>
          <p:cNvPr id="569" name="Google Shape;569;p5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300"/>
              <a:buNone/>
            </a:pPr>
            <a:fld id="{00000000-1234-1234-1234-123412341234}" type="slidenum">
              <a:rPr lang="es-ES"/>
              <a:t>55</a:t>
            </a:fld>
            <a:endParaRPr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3B38F204-10C9-92AA-FB59-A464F80FB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731838"/>
            <a:ext cx="6492875" cy="52578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sym typeface="Arial"/>
              </a:rPr>
              <a:t>Se deben conocer los usuarios y como utilizarán el sistema.</a:t>
            </a:r>
          </a:p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sym typeface="Arial"/>
              </a:rPr>
              <a:t>¿Información precisa o relación entre los valores?</a:t>
            </a:r>
          </a:p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sym typeface="Arial"/>
              </a:rPr>
              <a:t>¿Es necesario presentar inmediatamente los cambios?</a:t>
            </a:r>
          </a:p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sym typeface="Arial"/>
              </a:rPr>
              <a:t>¿El usuario realiza acciones en función de los cambios?</a:t>
            </a:r>
          </a:p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sym typeface="Arial"/>
              </a:rPr>
              <a:t>¿Información textual o numérica?    </a:t>
            </a:r>
          </a:p>
          <a:p>
            <a:pPr marL="442913" indent="-442913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solidFill>
                  <a:schemeClr val="tx1"/>
                </a:solidFill>
                <a:sym typeface="Arial"/>
              </a:rPr>
              <a:t>¿Información estática o dinámica?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7060B0A7-2D1B-5260-E9C7-F781B116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5C54BF33-378B-5C79-67CF-FA59E97B35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Presentación de la información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27D5D9-A8F3-EA45-549E-302B48DB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B2347BF-44B7-939B-8D8D-488119932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B95734-4A6C-8C6D-5049-034F8DFA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56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414A2874-72B7-4E5A-8797-2D093E16E4C2}"/>
              </a:ext>
            </a:extLst>
          </p:cNvPr>
          <p:cNvSpPr txBox="1">
            <a:spLocks/>
          </p:cNvSpPr>
          <p:nvPr/>
        </p:nvSpPr>
        <p:spPr bwMode="auto">
          <a:xfrm>
            <a:off x="1096963" y="1770783"/>
            <a:ext cx="10115551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Mantener separada la lógica del software de la presentación y la información misma (enfoque MVC)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3B65FAC-7CA9-FA96-2841-DB499233AD78}"/>
              </a:ext>
            </a:extLst>
          </p:cNvPr>
          <p:cNvSpPr txBox="1"/>
          <p:nvPr/>
        </p:nvSpPr>
        <p:spPr>
          <a:xfrm>
            <a:off x="979486" y="3191835"/>
            <a:ext cx="6093724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lvl="1" indent="-342900" algn="l" rtl="0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000" dirty="0">
                <a:latin typeface="+mn-lt"/>
              </a:rPr>
              <a:t>Presentación de la información de manera directa</a:t>
            </a:r>
          </a:p>
        </p:txBody>
      </p:sp>
      <p:sp>
        <p:nvSpPr>
          <p:cNvPr id="8" name="Google Shape;587;p59">
            <a:extLst>
              <a:ext uri="{FF2B5EF4-FFF2-40B4-BE49-F238E27FC236}">
                <a16:creationId xmlns:a16="http://schemas.microsoft.com/office/drawing/2014/main" id="{7D5334E5-0454-DADB-1ACB-04B9A9F583C4}"/>
              </a:ext>
            </a:extLst>
          </p:cNvPr>
          <p:cNvSpPr txBox="1"/>
          <p:nvPr/>
        </p:nvSpPr>
        <p:spPr>
          <a:xfrm>
            <a:off x="3330949" y="3544133"/>
            <a:ext cx="710451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82 %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2ECFF9-8557-5AF5-2ABF-52FBDB4A2B07}"/>
              </a:ext>
            </a:extLst>
          </p:cNvPr>
          <p:cNvSpPr txBox="1"/>
          <p:nvPr/>
        </p:nvSpPr>
        <p:spPr>
          <a:xfrm>
            <a:off x="3049138" y="4214791"/>
            <a:ext cx="6093724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472" lvl="1" indent="-342900" algn="l" rtl="0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</a:pPr>
            <a:r>
              <a:rPr lang="es-ES" sz="2000" dirty="0">
                <a:latin typeface="+mn-lt"/>
              </a:rPr>
              <a:t>Presentación de la información de manera gráfica</a:t>
            </a:r>
          </a:p>
        </p:txBody>
      </p:sp>
      <p:pic>
        <p:nvPicPr>
          <p:cNvPr id="10" name="Google Shape;588;p59" descr="https://lh6.ggpht.com/aw8WrCpq2598iFAty-AceosCc5Vf4c1dJR4ivlqmVlRgMGpC7AQOlobnJd3PKRvLDnU=h900">
            <a:extLst>
              <a:ext uri="{FF2B5EF4-FFF2-40B4-BE49-F238E27FC236}">
                <a16:creationId xmlns:a16="http://schemas.microsoft.com/office/drawing/2014/main" id="{A7A86B14-DB56-0DD9-B625-162C47FFA3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34818" y="2552131"/>
            <a:ext cx="2262742" cy="3705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589;p59">
            <a:extLst>
              <a:ext uri="{FF2B5EF4-FFF2-40B4-BE49-F238E27FC236}">
                <a16:creationId xmlns:a16="http://schemas.microsoft.com/office/drawing/2014/main" id="{5ADAFAC5-2D81-BF97-5346-38D05F3D7EF8}"/>
              </a:ext>
            </a:extLst>
          </p:cNvPr>
          <p:cNvSpPr/>
          <p:nvPr/>
        </p:nvSpPr>
        <p:spPr>
          <a:xfrm>
            <a:off x="8267037" y="3596533"/>
            <a:ext cx="902692" cy="34973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590;p59">
            <a:extLst>
              <a:ext uri="{FF2B5EF4-FFF2-40B4-BE49-F238E27FC236}">
                <a16:creationId xmlns:a16="http://schemas.microsoft.com/office/drawing/2014/main" id="{D104C966-36A4-1649-AB55-55C2DCF707FD}"/>
              </a:ext>
            </a:extLst>
          </p:cNvPr>
          <p:cNvSpPr/>
          <p:nvPr/>
        </p:nvSpPr>
        <p:spPr>
          <a:xfrm rot="-1983701">
            <a:off x="8293953" y="4551418"/>
            <a:ext cx="1043498" cy="408387"/>
          </a:xfrm>
          <a:prstGeom prst="rightArrow">
            <a:avLst>
              <a:gd name="adj1" fmla="val 55866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631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  <p:bldP spid="11" grpId="0" animBg="1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7564BE1F-3C79-EE62-1D48-6A430FBE5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2AB1CB7E-F9B7-804B-C6B5-9B970DF8D2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Presentación de la información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ACFEF52-B2FC-8240-3FBF-132D6ACD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78DE9-DECD-E551-0FCA-3A977B96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26329B-3F4D-8C2B-24A4-97131618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57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E66E8211-1CCD-A628-F0BA-60213E67D92C}"/>
              </a:ext>
            </a:extLst>
          </p:cNvPr>
          <p:cNvSpPr txBox="1">
            <a:spLocks/>
          </p:cNvSpPr>
          <p:nvPr/>
        </p:nvSpPr>
        <p:spPr bwMode="auto">
          <a:xfrm>
            <a:off x="1096963" y="1770783"/>
            <a:ext cx="10115551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Simulador de una Central Hidroeléctrica 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598" name="Google Shape;598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1052" y="2175124"/>
            <a:ext cx="6849896" cy="40891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48534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83C7FB1D-98C8-9F1D-23BD-F26056EF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59C31C7E-0C22-4D8B-8304-E679203EB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Presentación de la información - Colores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120203-9A89-EDCD-9BE2-6EB61718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C5A65E-86AA-C74B-0677-49AF664B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EA06C-E40B-18A5-C0CF-AC16DAD6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58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00D8106D-6DE0-ADF4-E069-FB79DA169988}"/>
              </a:ext>
            </a:extLst>
          </p:cNvPr>
          <p:cNvSpPr txBox="1">
            <a:spLocks/>
          </p:cNvSpPr>
          <p:nvPr/>
        </p:nvSpPr>
        <p:spPr bwMode="auto">
          <a:xfrm>
            <a:off x="1096963" y="1770783"/>
            <a:ext cx="10115551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No utilizar mas de 4 o 5 colores diferentes en una ventana y no más de 7 en la interfaz total del sistema.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Utilizar el </a:t>
            </a:r>
            <a:r>
              <a:rPr lang="es-ES" sz="2800" b="1" dirty="0">
                <a:solidFill>
                  <a:schemeClr val="tx1"/>
                </a:solidFill>
              </a:rPr>
              <a:t>código de colores </a:t>
            </a:r>
            <a:r>
              <a:rPr lang="es-ES" sz="2800" dirty="0">
                <a:solidFill>
                  <a:schemeClr val="tx1"/>
                </a:solidFill>
              </a:rPr>
              <a:t>para apoyar la tarea que los usuarios están tratando de llevar a cabo.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Ser cuidadoso al utilizar </a:t>
            </a:r>
            <a:r>
              <a:rPr lang="es-ES" sz="2800" b="1" dirty="0">
                <a:solidFill>
                  <a:schemeClr val="tx1"/>
                </a:solidFill>
              </a:rPr>
              <a:t>grupos de colores</a:t>
            </a:r>
            <a:r>
              <a:rPr lang="es-ES" sz="2800" dirty="0">
                <a:solidFill>
                  <a:schemeClr val="tx1"/>
                </a:solidFill>
              </a:rPr>
              <a:t>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Si se utilizan muchos colores o sin son muy brillantes, el </a:t>
            </a:r>
            <a:r>
              <a:rPr lang="es-ES" sz="2800" b="1" dirty="0">
                <a:solidFill>
                  <a:schemeClr val="tx1"/>
                </a:solidFill>
              </a:rPr>
              <a:t>despliegue</a:t>
            </a:r>
            <a:r>
              <a:rPr lang="es-ES" sz="2800" dirty="0">
                <a:solidFill>
                  <a:schemeClr val="tx1"/>
                </a:solidFill>
              </a:rPr>
              <a:t> puede ser </a:t>
            </a:r>
            <a:r>
              <a:rPr lang="es-ES" sz="2800" b="1" dirty="0">
                <a:solidFill>
                  <a:schemeClr val="tx1"/>
                </a:solidFill>
              </a:rPr>
              <a:t>confuso</a:t>
            </a:r>
            <a:r>
              <a:rPr lang="es-ES" sz="2800" dirty="0">
                <a:solidFill>
                  <a:schemeClr val="tx1"/>
                </a:solidFill>
              </a:rPr>
              <a:t>.</a:t>
            </a:r>
            <a:endParaRPr lang="es-ES" sz="2800" b="1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3358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A2327A4-AF62-36A3-3F43-651639CE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B96C63-8938-DC13-578E-B3AE9B12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C7FF2E-BEFD-B110-DEFE-00A29A640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680C2A-47AF-1BBF-6A8D-62DCDE05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59</a:t>
            </a:fld>
            <a:endParaRPr lang="es-AR"/>
          </a:p>
        </p:txBody>
      </p:sp>
      <p:pic>
        <p:nvPicPr>
          <p:cNvPr id="608" name="Google Shape;608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5551" y="593558"/>
            <a:ext cx="6183860" cy="566005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1"/>
          <p:cNvSpPr/>
          <p:nvPr/>
        </p:nvSpPr>
        <p:spPr>
          <a:xfrm rot="1857518">
            <a:off x="4234206" y="1539880"/>
            <a:ext cx="3723586" cy="30713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61"/>
          <p:cNvSpPr/>
          <p:nvPr/>
        </p:nvSpPr>
        <p:spPr>
          <a:xfrm rot="3912274">
            <a:off x="4471174" y="1657300"/>
            <a:ext cx="3560431" cy="3212039"/>
          </a:xfrm>
          <a:prstGeom prst="triangle">
            <a:avLst>
              <a:gd name="adj" fmla="val 50986"/>
            </a:avLst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61"/>
          <p:cNvSpPr/>
          <p:nvPr/>
        </p:nvSpPr>
        <p:spPr>
          <a:xfrm rot="5225409">
            <a:off x="4544730" y="1761278"/>
            <a:ext cx="3560432" cy="3212039"/>
          </a:xfrm>
          <a:prstGeom prst="triangle">
            <a:avLst>
              <a:gd name="adj" fmla="val 50986"/>
            </a:avLst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1"/>
          <p:cNvSpPr/>
          <p:nvPr/>
        </p:nvSpPr>
        <p:spPr>
          <a:xfrm rot="7186789">
            <a:off x="4544731" y="2132029"/>
            <a:ext cx="3560432" cy="3212040"/>
          </a:xfrm>
          <a:prstGeom prst="triangle">
            <a:avLst>
              <a:gd name="adj" fmla="val 50986"/>
            </a:avLst>
          </a:prstGeom>
          <a:solidFill>
            <a:schemeClr val="accent1"/>
          </a:solidFill>
          <a:ln w="12700" cap="flat" cmpd="sng">
            <a:solidFill>
              <a:srgbClr val="8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431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886EC2A3-B6B8-103A-5E9B-78C75A22F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C028A9A8-90D3-B6F1-41A5-352136C20B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Presentación de la información - Colores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C7E1B23-529E-F07C-50ED-3B5BA42E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DC65FF-71A8-6179-241D-9BE2E92A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08B1D1-8201-B93C-5BA6-A02D92D8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60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D5AEF69E-7F17-C8F2-8208-597AB9210820}"/>
              </a:ext>
            </a:extLst>
          </p:cNvPr>
          <p:cNvSpPr txBox="1">
            <a:spLocks/>
          </p:cNvSpPr>
          <p:nvPr/>
        </p:nvSpPr>
        <p:spPr bwMode="auto">
          <a:xfrm>
            <a:off x="1096963" y="1770783"/>
            <a:ext cx="10115551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Limitar el número de colores utilizados. </a:t>
            </a:r>
          </a:p>
          <a:p>
            <a:pPr marL="898525" indent="-3524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No asociar solamente colores a significados. </a:t>
            </a:r>
          </a:p>
          <a:p>
            <a:pPr marL="898525" indent="-3524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El 10% de los humanos no perciben el color. 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Acompañarlos de algún otro tipo de identificación.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Usar los colores consistentemente.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Usar cambio de color para mostrar cambios en el estado del sistema.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Combinar los colores cuidadosamente.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2800" dirty="0">
              <a:solidFill>
                <a:schemeClr val="tx1"/>
              </a:solidFill>
            </a:endParaRP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9970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7DB74051-CD1D-CAA8-3046-5DB78FC1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230846E0-E362-BEF3-5E67-2006E4451D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Presentación de la información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717782-F653-80D8-79A1-628721E6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060EC7-68AE-4D94-419E-5A5371F3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DFADBF-78B2-2257-EAA1-9916F5CC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61</a:t>
            </a:fld>
            <a:endParaRPr lang="es-AR"/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54DC9FB6-1D09-7885-6501-3DCFC20B11B6}"/>
              </a:ext>
            </a:extLst>
          </p:cNvPr>
          <p:cNvSpPr txBox="1">
            <a:spLocks/>
          </p:cNvSpPr>
          <p:nvPr/>
        </p:nvSpPr>
        <p:spPr bwMode="auto">
          <a:xfrm>
            <a:off x="1096963" y="1770783"/>
            <a:ext cx="10115551" cy="2877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90488" indent="-90488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58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6738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1863" indent="-182563" algn="l" rtl="0" eaLnBrk="1" fontAlgn="base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r>
              <a:rPr lang="es-ES" sz="2800" dirty="0">
                <a:solidFill>
                  <a:schemeClr val="tx1"/>
                </a:solidFill>
              </a:rPr>
              <a:t>Soporte al usuario </a:t>
            </a:r>
          </a:p>
          <a:p>
            <a:pPr marL="898525" indent="-3524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Mensajes del sistema por acciones del usuario.</a:t>
            </a:r>
          </a:p>
          <a:p>
            <a:pPr marL="898525" indent="-3524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Ayudas en línea.</a:t>
            </a:r>
          </a:p>
          <a:p>
            <a:pPr marL="898525" indent="-352425" algn="just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Noto Sans Symbols2" panose="020B0502040504020204" pitchFamily="34" charset="0"/>
              <a:buChar char="»"/>
            </a:pPr>
            <a:r>
              <a:rPr lang="es-ES" sz="2400" dirty="0">
                <a:solidFill>
                  <a:schemeClr val="tx1"/>
                </a:solidFill>
              </a:rPr>
              <a:t>Documentación del sistema.</a:t>
            </a:r>
          </a:p>
          <a:p>
            <a:pPr marL="530225" indent="-530225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Font typeface="Noto Sans Symbols"/>
              <a:buChar char="❖"/>
            </a:pPr>
            <a:endParaRPr lang="es-ES" sz="1750" dirty="0">
              <a:solidFill>
                <a:schemeClr val="tx1"/>
              </a:solidFill>
            </a:endParaRPr>
          </a:p>
          <a:p>
            <a:pPr marL="176212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Pts val="2400"/>
              <a:buFont typeface="Calibri" panose="020F0502020204030204" pitchFamily="34" charset="0"/>
              <a:buNone/>
            </a:pPr>
            <a:endParaRPr lang="es-ES" sz="2350" dirty="0">
              <a:solidFill>
                <a:schemeClr val="tx1"/>
              </a:solidFill>
            </a:endParaRPr>
          </a:p>
        </p:txBody>
      </p:sp>
      <p:pic>
        <p:nvPicPr>
          <p:cNvPr id="5" name="Google Shape;631;p63" descr="https://wiki.openoffice.org/w/images/9/9f/ES_StarBasic_FuncionesSubrutinas.03.png">
            <a:extLst>
              <a:ext uri="{FF2B5EF4-FFF2-40B4-BE49-F238E27FC236}">
                <a16:creationId xmlns:a16="http://schemas.microsoft.com/office/drawing/2014/main" id="{D712299F-10F0-B522-89AD-DC31553259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935" y="3381351"/>
            <a:ext cx="4733925" cy="12668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32;p63">
            <a:extLst>
              <a:ext uri="{FF2B5EF4-FFF2-40B4-BE49-F238E27FC236}">
                <a16:creationId xmlns:a16="http://schemas.microsoft.com/office/drawing/2014/main" id="{624A0528-5F6F-8E83-706A-800FE5967DDC}"/>
              </a:ext>
            </a:extLst>
          </p:cNvPr>
          <p:cNvSpPr txBox="1"/>
          <p:nvPr/>
        </p:nvSpPr>
        <p:spPr>
          <a:xfrm>
            <a:off x="1252210" y="4682235"/>
            <a:ext cx="4339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Mensaje de error con aclaración técnica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633;p63" descr="http://www.usolab.com/wl/images/error_502_google.gif">
            <a:extLst>
              <a:ext uri="{FF2B5EF4-FFF2-40B4-BE49-F238E27FC236}">
                <a16:creationId xmlns:a16="http://schemas.microsoft.com/office/drawing/2014/main" id="{E48D6F12-DD04-94A8-86B4-432D051265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5387" y="3322806"/>
            <a:ext cx="4339650" cy="220177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4;p63">
            <a:extLst>
              <a:ext uri="{FF2B5EF4-FFF2-40B4-BE49-F238E27FC236}">
                <a16:creationId xmlns:a16="http://schemas.microsoft.com/office/drawing/2014/main" id="{6D5D5E3D-4A63-FE0E-8C80-551B440F3204}"/>
              </a:ext>
            </a:extLst>
          </p:cNvPr>
          <p:cNvSpPr txBox="1"/>
          <p:nvPr/>
        </p:nvSpPr>
        <p:spPr>
          <a:xfrm>
            <a:off x="7633622" y="5438063"/>
            <a:ext cx="31470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Mensaje de error por default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635;p63" descr="http://jordisan.net/uploads/wordpress/2006/12/disculpe.jpg">
            <a:extLst>
              <a:ext uri="{FF2B5EF4-FFF2-40B4-BE49-F238E27FC236}">
                <a16:creationId xmlns:a16="http://schemas.microsoft.com/office/drawing/2014/main" id="{7408DDBE-7C79-A9D0-5B85-F8A7A26B282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1124" y="3322806"/>
            <a:ext cx="4939655" cy="273334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637;p63">
            <a:extLst>
              <a:ext uri="{FF2B5EF4-FFF2-40B4-BE49-F238E27FC236}">
                <a16:creationId xmlns:a16="http://schemas.microsoft.com/office/drawing/2014/main" id="{04BCDC9A-66C2-D861-50EC-6290EF5A733C}"/>
              </a:ext>
            </a:extLst>
          </p:cNvPr>
          <p:cNvSpPr txBox="1"/>
          <p:nvPr/>
        </p:nvSpPr>
        <p:spPr>
          <a:xfrm>
            <a:off x="1516350" y="6015554"/>
            <a:ext cx="433964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Mensaje de error personalizado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638;p63">
            <a:extLst>
              <a:ext uri="{FF2B5EF4-FFF2-40B4-BE49-F238E27FC236}">
                <a16:creationId xmlns:a16="http://schemas.microsoft.com/office/drawing/2014/main" id="{4F23A41B-EEDF-0615-A2DD-68370E2399B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85930" y="2607686"/>
            <a:ext cx="5486121" cy="3384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639;p63">
            <a:extLst>
              <a:ext uri="{FF2B5EF4-FFF2-40B4-BE49-F238E27FC236}">
                <a16:creationId xmlns:a16="http://schemas.microsoft.com/office/drawing/2014/main" id="{CDCB504D-6AE3-9BD6-B527-EDC33BAC6559}"/>
              </a:ext>
            </a:extLst>
          </p:cNvPr>
          <p:cNvSpPr txBox="1"/>
          <p:nvPr/>
        </p:nvSpPr>
        <p:spPr>
          <a:xfrm>
            <a:off x="8308966" y="5986631"/>
            <a:ext cx="17963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Ayuda en Línea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640;p63">
            <a:extLst>
              <a:ext uri="{FF2B5EF4-FFF2-40B4-BE49-F238E27FC236}">
                <a16:creationId xmlns:a16="http://schemas.microsoft.com/office/drawing/2014/main" id="{13FA477D-49C3-EB02-6134-F08B955BA068}"/>
              </a:ext>
            </a:extLst>
          </p:cNvPr>
          <p:cNvGrpSpPr/>
          <p:nvPr/>
        </p:nvGrpSpPr>
        <p:grpSpPr>
          <a:xfrm>
            <a:off x="3302827" y="3209480"/>
            <a:ext cx="5347318" cy="3149310"/>
            <a:chOff x="2519024" y="1878210"/>
            <a:chExt cx="6680053" cy="4449020"/>
          </a:xfrm>
        </p:grpSpPr>
        <p:pic>
          <p:nvPicPr>
            <p:cNvPr id="15" name="Google Shape;641;p63">
              <a:extLst>
                <a:ext uri="{FF2B5EF4-FFF2-40B4-BE49-F238E27FC236}">
                  <a16:creationId xmlns:a16="http://schemas.microsoft.com/office/drawing/2014/main" id="{862C7F6E-363D-9EE1-8FD0-4076CC5E874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519024" y="1878210"/>
              <a:ext cx="6680053" cy="44490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642;p63">
              <a:extLst>
                <a:ext uri="{FF2B5EF4-FFF2-40B4-BE49-F238E27FC236}">
                  <a16:creationId xmlns:a16="http://schemas.microsoft.com/office/drawing/2014/main" id="{9FDEBD6F-7F2D-BBAE-6D5F-F1F53899241A}"/>
                </a:ext>
              </a:extLst>
            </p:cNvPr>
            <p:cNvSpPr txBox="1"/>
            <p:nvPr/>
          </p:nvSpPr>
          <p:spPr>
            <a:xfrm>
              <a:off x="2519024" y="2056480"/>
              <a:ext cx="2455697" cy="9130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lang="es-ES" sz="3600" b="1" i="0" u="none" strike="noStrike" cap="none" dirty="0" err="1">
                  <a:solidFill>
                    <a:schemeClr val="lt1"/>
                  </a:solidFill>
                  <a:highlight>
                    <a:srgbClr val="00FF00"/>
                  </a:highlight>
                  <a:latin typeface="Calibri"/>
                  <a:ea typeface="Calibri"/>
                  <a:cs typeface="Calibri"/>
                  <a:sym typeface="Calibri"/>
                </a:rPr>
                <a:t>Chatbot</a:t>
              </a:r>
              <a:endParaRPr sz="3600" b="1" i="0" u="none" strike="noStrike" cap="none" dirty="0">
                <a:solidFill>
                  <a:schemeClr val="lt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557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E453356F-789E-987D-9A7D-70F991182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7FDCCB0F-5EBB-AFD8-6DDA-AD928BF42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Herramientas de prototipado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2D8AD3-698A-FBFE-234A-D2C63B9F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6E3CB5-A938-7804-FE54-CF03D3A8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79C692-7473-4D95-EA67-4E29561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62</a:t>
            </a:fld>
            <a:endParaRPr lang="es-AR"/>
          </a:p>
        </p:txBody>
      </p:sp>
      <p:sp>
        <p:nvSpPr>
          <p:cNvPr id="17" name="Google Shape;649;p64">
            <a:extLst>
              <a:ext uri="{FF2B5EF4-FFF2-40B4-BE49-F238E27FC236}">
                <a16:creationId xmlns:a16="http://schemas.microsoft.com/office/drawing/2014/main" id="{2328FA2B-026F-F9A7-20EC-E31DB5D88B84}"/>
              </a:ext>
            </a:extLst>
          </p:cNvPr>
          <p:cNvSpPr txBox="1"/>
          <p:nvPr/>
        </p:nvSpPr>
        <p:spPr>
          <a:xfrm>
            <a:off x="1443789" y="3439518"/>
            <a:ext cx="9022029" cy="461665"/>
          </a:xfrm>
          <a:prstGeom prst="rect">
            <a:avLst/>
          </a:prstGeom>
          <a:solidFill>
            <a:srgbClr val="AAD95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 en el curso el apartado de “Recursos para el diseño de interfaces”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94561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003E1184-0F4A-59CF-FF29-33E42CF3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>
            <a:extLst>
              <a:ext uri="{FF2B5EF4-FFF2-40B4-BE49-F238E27FC236}">
                <a16:creationId xmlns:a16="http://schemas.microsoft.com/office/drawing/2014/main" id="{0FA7C870-2BAB-F686-334D-48AC53CC8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6963" y="1047135"/>
            <a:ext cx="10058400" cy="68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A6617"/>
              </a:buClr>
              <a:buSzPts val="4000"/>
              <a:buFont typeface="Calibri"/>
              <a:buNone/>
            </a:pPr>
            <a:r>
              <a:rPr lang="es-AR" dirty="0"/>
              <a:t>Ejemplos de Interfaces</a:t>
            </a:r>
            <a:endParaRPr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2EB189B-746D-BA4D-8304-2BD56BEC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C3789A-C3CF-AC46-B386-43DDE7CC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Ingeniería de Software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4FC806-9734-44E7-0574-FE4D6E20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mtClean="0"/>
              <a:t>63</a:t>
            </a:fld>
            <a:endParaRPr lang="es-AR"/>
          </a:p>
        </p:txBody>
      </p:sp>
      <p:sp>
        <p:nvSpPr>
          <p:cNvPr id="5" name="Google Shape;656;p65">
            <a:extLst>
              <a:ext uri="{FF2B5EF4-FFF2-40B4-BE49-F238E27FC236}">
                <a16:creationId xmlns:a16="http://schemas.microsoft.com/office/drawing/2014/main" id="{2ED53EC1-A5F1-93B4-2E4A-18B016CA2B92}"/>
              </a:ext>
            </a:extLst>
          </p:cNvPr>
          <p:cNvSpPr txBox="1"/>
          <p:nvPr/>
        </p:nvSpPr>
        <p:spPr>
          <a:xfrm>
            <a:off x="1443788" y="3429000"/>
            <a:ext cx="8967537" cy="461624"/>
          </a:xfrm>
          <a:prstGeom prst="rect">
            <a:avLst/>
          </a:prstGeom>
          <a:solidFill>
            <a:srgbClr val="FF3F4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 en el curso el apartado de “Ejemplos de interfaces para explorar”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279562"/>
      </p:ext>
    </p:extLst>
  </p:cSld>
  <p:clrMapOvr>
    <a:masterClrMapping/>
  </p:clrMapOvr>
</p:sld>
</file>

<file path=ppt/theme/theme1.xml><?xml version="1.0" encoding="utf-8"?>
<a:theme xmlns:a="http://schemas.openxmlformats.org/drawingml/2006/main" name="IS2 2026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2 2026" id="{16FBCDB9-40B2-4F63-BA84-B5526169C3F5}" vid="{B6418BC2-037E-42CA-8840-133335CAEFD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IS2 2026</Template>
  <TotalTime>396</TotalTime>
  <Words>3188</Words>
  <Application>Microsoft Office PowerPoint</Application>
  <PresentationFormat>Panorámica</PresentationFormat>
  <Paragraphs>647</Paragraphs>
  <Slides>63</Slides>
  <Notes>63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70" baseType="lpstr">
      <vt:lpstr>Noto Sans Symbols</vt:lpstr>
      <vt:lpstr>Wingdings</vt:lpstr>
      <vt:lpstr>Calibri</vt:lpstr>
      <vt:lpstr>Noto Sans Symbols2</vt:lpstr>
      <vt:lpstr>Arial</vt:lpstr>
      <vt:lpstr>Times New Roman</vt:lpstr>
      <vt:lpstr>IS2 2026</vt:lpstr>
      <vt:lpstr>Ingeniería de Software II</vt:lpstr>
      <vt:lpstr>Contenidos</vt:lpstr>
      <vt:lpstr>Diseño de Interfaz de Usuario </vt:lpstr>
      <vt:lpstr>UI - Objetivo</vt:lpstr>
      <vt:lpstr>UI - Conceptos iniciales</vt:lpstr>
      <vt:lpstr>UI - Conceptos iniciales</vt:lpstr>
      <vt:lpstr>UI - Conceptos iniciales</vt:lpstr>
      <vt:lpstr>Principios para el diseño de la interfaz de usuario</vt:lpstr>
      <vt:lpstr>Diseño de la interfaz del usuario - Proceso </vt:lpstr>
      <vt:lpstr>Diseño de Experiencia de Usuario</vt:lpstr>
      <vt:lpstr>Tipos de diseño de UX</vt:lpstr>
      <vt:lpstr>Diseño de Experiencia de Usuario - Proceso </vt:lpstr>
      <vt:lpstr>UX – Fuentes de datos de investigación de usuarios</vt:lpstr>
      <vt:lpstr>UI y UX – Creación de perfil de usuario</vt:lpstr>
      <vt:lpstr>UI y UX – Relevamiento de la tarea</vt:lpstr>
      <vt:lpstr>Iceberg de UX</vt:lpstr>
      <vt:lpstr>Diferencia entre UI y UX</vt:lpstr>
      <vt:lpstr>Ambos conceptos colaboran en el diseño</vt:lpstr>
      <vt:lpstr>Aspectos de Diseño de Interfaz</vt:lpstr>
      <vt:lpstr>Reglas básicas del Diseño</vt:lpstr>
      <vt:lpstr>Reglas básicas del Diseño</vt:lpstr>
      <vt:lpstr>Reglas básicas del Diseño</vt:lpstr>
      <vt:lpstr>Reglas básicas del Diseño</vt:lpstr>
      <vt:lpstr>Usabilidad - Concepto</vt:lpstr>
      <vt:lpstr>Usabilidad - ¿Cuándo existe?</vt:lpstr>
      <vt:lpstr>Principios de Usabilidad - Jakob Nielsen</vt:lpstr>
      <vt:lpstr>Principios de Nielsen</vt:lpstr>
      <vt:lpstr>Principios de Nielsen</vt:lpstr>
      <vt:lpstr>Principios de Nielsen</vt:lpstr>
      <vt:lpstr>Principios de Nielsen</vt:lpstr>
      <vt:lpstr>Principios de Nielsen</vt:lpstr>
      <vt:lpstr>Principios de Nielsen</vt:lpstr>
      <vt:lpstr>Principios de Nielsen</vt:lpstr>
      <vt:lpstr>Principios de Nielsen</vt:lpstr>
      <vt:lpstr>Principios de Nielsen</vt:lpstr>
      <vt:lpstr>Principios de Nielsen</vt:lpstr>
      <vt:lpstr>Principios de Nielsen</vt:lpstr>
      <vt:lpstr>Estilos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Tipos de Interfaces</vt:lpstr>
      <vt:lpstr>Presentación de la información en pantalla</vt:lpstr>
      <vt:lpstr>Presentación de la información</vt:lpstr>
      <vt:lpstr>Presentación de la información</vt:lpstr>
      <vt:lpstr>Presentación de la información - Colores</vt:lpstr>
      <vt:lpstr>Presentación de PowerPoint</vt:lpstr>
      <vt:lpstr>Presentación de la información - Colores</vt:lpstr>
      <vt:lpstr>Presentación de la información</vt:lpstr>
      <vt:lpstr>Herramientas de prototipado</vt:lpstr>
      <vt:lpstr>Ejemplos de Interfaces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Ariel Pasini</dc:creator>
  <cp:lastModifiedBy>Rocio Muñoz</cp:lastModifiedBy>
  <cp:revision>36</cp:revision>
  <dcterms:created xsi:type="dcterms:W3CDTF">2016-02-19T02:46:31Z</dcterms:created>
  <dcterms:modified xsi:type="dcterms:W3CDTF">2026-04-15T18:55:42Z</dcterms:modified>
</cp:coreProperties>
</file>