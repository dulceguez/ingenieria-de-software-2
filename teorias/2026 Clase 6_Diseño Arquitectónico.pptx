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7" r:id="rId1"/>
  </p:sldMasterIdLst>
  <p:notesMasterIdLst>
    <p:notesMasterId r:id="rId69"/>
  </p:notesMasterIdLst>
  <p:sldIdLst>
    <p:sldId id="256" r:id="rId2"/>
    <p:sldId id="323" r:id="rId3"/>
    <p:sldId id="324" r:id="rId4"/>
    <p:sldId id="325" r:id="rId5"/>
    <p:sldId id="326" r:id="rId6"/>
    <p:sldId id="328" r:id="rId7"/>
    <p:sldId id="329" r:id="rId8"/>
    <p:sldId id="334" r:id="rId9"/>
    <p:sldId id="335" r:id="rId10"/>
    <p:sldId id="336" r:id="rId11"/>
    <p:sldId id="337" r:id="rId12"/>
    <p:sldId id="338" r:id="rId13"/>
    <p:sldId id="339" r:id="rId14"/>
    <p:sldId id="340" r:id="rId15"/>
    <p:sldId id="341" r:id="rId16"/>
    <p:sldId id="342" r:id="rId17"/>
    <p:sldId id="343" r:id="rId18"/>
    <p:sldId id="344" r:id="rId19"/>
    <p:sldId id="345" r:id="rId20"/>
    <p:sldId id="346" r:id="rId21"/>
    <p:sldId id="347" r:id="rId22"/>
    <p:sldId id="330" r:id="rId23"/>
    <p:sldId id="348" r:id="rId24"/>
    <p:sldId id="349" r:id="rId25"/>
    <p:sldId id="350" r:id="rId26"/>
    <p:sldId id="351" r:id="rId27"/>
    <p:sldId id="331" r:id="rId28"/>
    <p:sldId id="352" r:id="rId29"/>
    <p:sldId id="353" r:id="rId30"/>
    <p:sldId id="354" r:id="rId31"/>
    <p:sldId id="355" r:id="rId32"/>
    <p:sldId id="356" r:id="rId33"/>
    <p:sldId id="357" r:id="rId34"/>
    <p:sldId id="358" r:id="rId35"/>
    <p:sldId id="359" r:id="rId36"/>
    <p:sldId id="360" r:id="rId37"/>
    <p:sldId id="361" r:id="rId38"/>
    <p:sldId id="362" r:id="rId39"/>
    <p:sldId id="332" r:id="rId40"/>
    <p:sldId id="363" r:id="rId41"/>
    <p:sldId id="364" r:id="rId42"/>
    <p:sldId id="388" r:id="rId43"/>
    <p:sldId id="365" r:id="rId44"/>
    <p:sldId id="366" r:id="rId45"/>
    <p:sldId id="367" r:id="rId46"/>
    <p:sldId id="368" r:id="rId47"/>
    <p:sldId id="369" r:id="rId48"/>
    <p:sldId id="370" r:id="rId49"/>
    <p:sldId id="371" r:id="rId50"/>
    <p:sldId id="372" r:id="rId51"/>
    <p:sldId id="373" r:id="rId52"/>
    <p:sldId id="374" r:id="rId53"/>
    <p:sldId id="375" r:id="rId54"/>
    <p:sldId id="376" r:id="rId55"/>
    <p:sldId id="377" r:id="rId56"/>
    <p:sldId id="378" r:id="rId57"/>
    <p:sldId id="379" r:id="rId58"/>
    <p:sldId id="380" r:id="rId59"/>
    <p:sldId id="381" r:id="rId60"/>
    <p:sldId id="382" r:id="rId61"/>
    <p:sldId id="383" r:id="rId62"/>
    <p:sldId id="384" r:id="rId63"/>
    <p:sldId id="385" r:id="rId64"/>
    <p:sldId id="386" r:id="rId65"/>
    <p:sldId id="319" r:id="rId66"/>
    <p:sldId id="387" r:id="rId67"/>
    <p:sldId id="389" r:id="rId6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4" roundtripDataSignature="AMtx7mhdTi9AIChXyuS5x90WHI7OS5DB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834" y="60"/>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A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Arial"/>
              <a:ea typeface="Arial"/>
              <a:cs typeface="Arial"/>
              <a:sym typeface="Arial"/>
            </a:endParaRPr>
          </a:p>
        </p:txBody>
      </p:sp>
      <p:sp>
        <p:nvSpPr>
          <p:cNvPr id="129" name="Google Shape;12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 name="Google Shape;130;p2:notes"/>
          <p:cNvSpPr txBox="1">
            <a:spLocks noGrp="1"/>
          </p:cNvSpPr>
          <p:nvPr>
            <p:ph type="body" idx="1"/>
          </p:nvPr>
        </p:nvSpPr>
        <p:spPr>
          <a:xfrm>
            <a:off x="685800" y="4343400"/>
            <a:ext cx="5485680" cy="41140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31" name="Google Shape;131;p2:notes"/>
          <p:cNvSpPr/>
          <p:nvPr/>
        </p:nvSpPr>
        <p:spPr>
          <a:xfrm>
            <a:off x="3884760" y="8685360"/>
            <a:ext cx="2971080" cy="45648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rgbClr val="000000"/>
                </a:solidFill>
                <a:latin typeface="Arial"/>
                <a:ea typeface="Arial"/>
                <a:cs typeface="Arial"/>
                <a:sym typeface="Arial"/>
              </a:rPr>
              <a:t>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 name="Google Shape;6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EBAA6B3-F630-D42B-0526-DF6EC45D59A8}"/>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D26B33A4-CA14-650F-1ECF-B815F7817C6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36D10D43-BC46-8C05-E75B-9C20E0F2491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4085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62DA083-C640-698C-EAFC-FE3703C9CE85}"/>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C3C044A-B8C6-1C4C-9864-EEFD178DB5B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63EC78E-71FC-AF99-5C8D-5810D5E13E1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91803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7C5F8B9-F629-FD63-83CA-1158FAD14201}"/>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26F1D6BD-46A3-5E03-97F3-FCB5CC0F9108}"/>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5B7E3176-47F7-191A-3331-3409DD9BAB6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1379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46CB629-5EA9-1B54-D243-30134E4791EE}"/>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E46DBE0A-EC6E-A4A3-7411-CFDED9CA504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A240DFA2-5BA6-59EC-353B-EA8D021401A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98117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F357865-EFDD-EE2D-742A-94DECFD05899}"/>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8DE5690F-4C98-F5E1-0649-91ADDA6A5CC2}"/>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57DE93CC-2816-DC69-A868-6AD8220B20EE}"/>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4045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31A22B6-59F9-19F3-911E-C8E7A7FB958C}"/>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9420AD8-69C8-89A4-38AA-87211E5CB20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EE47006E-DB39-17FB-B08B-8A8F71860C5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7598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77055BF-14D3-7EE6-454F-33D2881E2EA0}"/>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4F8732D1-3F52-3E33-0432-F68377728D3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AE13C5B-3C3A-6C5B-C514-6D367A79AA51}"/>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6789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7980167-816A-EABF-E2CD-7B44496BAD6C}"/>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92959985-1852-6677-51B1-E8BF38E03B8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B8ADBBAC-61C0-D1BF-3E4A-773B1735325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4036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ABFF6BDC-012E-147D-CCBE-A86B23769FF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FD1D81C7-A47C-1331-22F2-9CFFA653640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951A70F3-93CC-E1D6-0EE3-A7306B1D624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24843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6AFE008-3229-A292-1F77-72C6AD4145D0}"/>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5AD23321-2C5E-3F6E-A73E-E80C832804E2}"/>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2AFCBD85-FF43-116E-51D9-98517F755E0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348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9E9DA623-0BAB-AA8D-5591-9B18EB315472}"/>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D589C204-7752-D51C-0694-7601C0E5F46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9B76BB68-3A59-1BE9-5DF4-F7EBB4C090A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35702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1F6C8F4-F07C-D493-A681-4D994E0F8993}"/>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BDFC1302-2FBF-8BDA-3337-1DC339ED0D8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1F1B3C5E-9A92-7273-31A4-B8378EE2D06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66838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5C79E9F7-56C6-1D53-232A-67BE96B55390}"/>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D79A63A7-B1F3-87B3-3F52-1BF90FF7F08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BC9DA6F2-9B80-1076-4C1C-9828CE2ADF3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40797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95B7408-9D08-1ED7-4703-F704E2F1CFBB}"/>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443F3B99-7A3E-18CD-D0EB-73FB8A7DCAD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54EC4813-44A3-08B0-3FB1-C8D30A5F828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17976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17CE28F-AB4B-B42A-58C4-BBAA6DABA64E}"/>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12E796D-7343-753B-2B83-F5536406055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5771CB6B-AF7C-4140-7CAA-4EE35B5B92D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62786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B52D09F-C188-D5A4-F6CF-F35A4D02FE67}"/>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5E8B43A-30EA-E305-C398-E31A60A40DD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04673D16-9CA0-AFB6-19A2-D9CCF8EA494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83861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F2B1BBD-9DA0-0A22-7510-2F8E36680AAC}"/>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E87EA69-BB19-24EC-136C-137A3984D3F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BE50DE71-2CCD-B239-31D3-C753EEE3D37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4879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158EA4C-FF8C-B035-55AE-9176AED93143}"/>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5CE2883-F2D1-3EA4-656D-23FDAE00783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F708D401-33DC-B16B-4AAC-3DF8E9F1317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71228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366EBA9-49B3-13D6-7306-BD1CAAE777E1}"/>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E0E160A3-580C-F052-6C73-B0A22CCE4DA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1F5B63FB-101C-D4A8-6063-4B034921E61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62292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1BEC1498-EED6-3E95-2893-7BB3A9428E06}"/>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97972471-7BFD-BF36-2C39-F50BE78E0FA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559DF516-7238-CD43-7D2D-466E34F1D7C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1424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771AE05-5D61-FDEF-3719-6BEB4A81A6E2}"/>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880B22CA-3C0B-A4EF-91BF-D1F842C2D91E}"/>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AA351EE9-CEC5-A9FE-5E55-571FFEF42AC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17319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3B0C143-C26A-C211-D91F-312590DC37C1}"/>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90E25C67-16F1-9DB2-D8FD-64EF82A7186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3FF59AE-07DD-D0D0-7351-C500055C136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41780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133B2F0-D780-9A63-51E6-4C7052CDA72B}"/>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2A5D3B7E-6FF4-F5B8-237B-910A0C4890B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A5A18AAE-D3BC-4283-E927-A1F363673C9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869030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8183E80-67C4-7557-1042-FCE62766343F}"/>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513CC79C-36A6-9D51-9AD2-2C8949A124C7}"/>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FA090FB9-5E6D-6C47-1C87-E16D5B9792B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19303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D8C88B3-30CC-340A-AA08-0AE07847758F}"/>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28F29B6-524B-B2F6-6827-BE908432467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4A2C64A1-EF94-B8F5-19A4-99D1A726F4E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588009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43B65D6-5098-B4B5-3642-191A9F5E890F}"/>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FBF85B8A-B5AF-DC38-2403-391161E1C38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30167D41-43FD-EF0C-C002-84EE4BCC99E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8674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185C071-DF0F-7E99-79DA-536711C35C9C}"/>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4F14F59D-07B6-3F61-E664-9DB4DA7ADEC4}"/>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3D1088D0-F8F0-32E8-350E-F977B6A2F58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65629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1B41309-A258-C5B1-F45B-5ABBE78677E5}"/>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FDF80767-C8FC-B876-FF33-7E68A5D2382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8463689B-F0D6-E8E9-F998-761F1258AFB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185912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0994AAA-D539-F064-AC81-2E1748650DEA}"/>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8814910F-9517-79B2-09A1-C5F8BCA7A26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84F6D869-272B-0F9D-EA3C-B33C69B4245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379454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D4BB95E-7BF9-C465-80C0-9D2A29F18D73}"/>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F9A31EE2-4A95-A021-DA8B-018B4FAD63A4}"/>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9CAA8CE6-C43E-DA80-6293-C57A263B21A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58336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C074A2D-F3D1-E6D7-33D9-EB7E43E613B6}"/>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963A55FC-AC43-2791-C57B-E667BE81576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194B759C-D508-0538-0AE0-EF06402229B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78716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577EEEA-2626-31E3-5B12-FC4FD6DA1BC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2DDA0F0B-C10A-FA19-233E-8C3122AEE12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AB557134-4355-32C3-3898-5FBDD32A877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23952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2C79A86-F9D4-DF7C-C25A-C4EFB81C0A0F}"/>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81537CBB-A5D5-0E57-F8AA-018670DB1D23}"/>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985A75AF-6962-3F87-D891-D0E338BE59F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44865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85207D6-B567-12D1-91CD-DB0D719701FE}"/>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8FD2D188-207D-4819-6290-6589E954A41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823A0842-BEA0-12BD-D7E8-DE9BD2DEBFA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20845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DA81CBE-0387-D901-42DA-4F73EAF9B3B0}"/>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28DCE79-3E99-27CC-A842-A4381592034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16028AB8-0870-BB42-3DF6-BB096A5B45F1}"/>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342057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8DEB700-A0EB-5E71-5208-65A819C61EC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E3D5CF01-7657-69E5-792D-8744DC63E71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E9C95C71-F1FD-E5E6-AAD8-8CC73DF4C57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48350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374E3C6-56DF-3C67-FFEE-46F168B5594A}"/>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32B6851-075F-6E42-9460-AB044FD11DB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0B7E6AB6-4D63-DB54-C471-C729644A06F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15783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5161CE67-3CAB-7A22-0A90-271AD03E72FF}"/>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03BD3C68-48DB-1468-1786-DFFC8579DE8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3785DC4-4CA6-5070-DDCF-71E3F6E0860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26185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EEEC1EE-F02D-2DC5-77CF-87A14CFBAF2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9C333487-E81B-B68D-C143-CB033C75938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687B1C15-CC44-A398-93FE-36E014251C4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17443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C6CD170-9FF0-05FF-4622-5005FFB0D3C1}"/>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B3C0167-ACFF-5E53-2315-0B05F6E4871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6825F67F-BBCD-379D-C645-C3D4A0BFAD0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13266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0920F4C-3DEE-FD5D-0B5D-F8EB83F370C0}"/>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376F4FAF-1873-6553-FD92-7981F5AB6EE3}"/>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C17602C3-04C9-CCCB-28FB-4CDD4370DDF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80001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CAF60BF-B7BD-41A5-7262-CC4325309881}"/>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7F54D66-2107-C924-157B-F7BE4A49AC4E}"/>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833B66DB-9081-F98D-2138-062B7C66706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91509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1E6C8EB-DECC-B9BC-2B5E-24BFB9C70F6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0A84A1B6-7959-82C6-D5CC-2FD488F17B6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97627670-8CED-74BF-4425-1E39D781DD0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130228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F4E4262-3971-692D-0826-D64BCE2F46A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74232408-B26B-3E9B-DE89-64AA00EA0EC4}"/>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82882C2E-C745-B02C-3FE3-739DE84DC40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97536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EDE2AE2-5F20-16FA-FE17-1186054A05A6}"/>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BBD3335F-800D-FE47-14B6-6DE701F2A8FE}"/>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D5AC776E-090D-7F68-544C-102ECA43FF7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141728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DF68C3B-0F80-58B2-8AB3-733CAE31751E}"/>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D1D4EA4D-9D79-68CF-A267-4F2DBCAC8443}"/>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1B47446F-0CFD-8F36-1A8F-CA14622938E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53109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4C3CFD0-1369-8AF5-ECAE-50958B195BC1}"/>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B9C5D716-C55A-FE74-B754-95D1A2E3A1FA}"/>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CE77349-FFAC-BBB3-2967-97E9B7A7124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01688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B31D33D-F450-8C9C-733B-B4FA7F71B526}"/>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D351A3A3-09D1-C1EF-0BB1-07FEF1507D7A}"/>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CE089D8A-7CD6-70C4-5D2B-3592A6F6BA9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89772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DB1CF13-1F4A-A18A-F87C-727C731DC74B}"/>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3F3D4085-3A81-6F39-4D77-1CCAD9FE4A47}"/>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B0E7B17C-4281-4391-E90D-DB059F5F840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612846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3B635F4-1462-DC4F-892C-A8749A0DCAF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3E8FF292-5AB5-1159-14D4-0585E00172E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F0D8D3D1-DD62-4D97-9ACC-E972CD61AE6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7673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94031B3D-6F6E-4005-A06A-58911C019ADD}"/>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ECE1F155-68B6-D205-9ADD-D598FC033A1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22A4DEF6-2501-D0E5-4EC1-6312CFC54CA1}"/>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58264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8BC6C89-7944-B1F2-7274-79D988A943BC}"/>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165A41B4-C033-6FF3-EAEC-362E2F60DB22}"/>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484303AB-ED3F-F60A-8D6E-44E043F0C98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40290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BEB5C5B-A3EB-D354-5BDC-ED81A54EACB5}"/>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A32C094A-75E5-DFB1-47BB-DE4F9B68CFD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F56F0384-5A9D-745C-1546-E037CE5B390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7100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A0BB820-FAF1-8010-111F-4778F861A6A9}"/>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B0A366D-E3C3-34F6-9DAB-5F016DFAB53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3F84CA3-D76C-488E-5325-3CC68EEDCD0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634238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96F7A65-904F-AFC4-FA27-8447604D95B6}"/>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BF4EA8A0-991B-0638-32EE-AD3F7A00D4C2}"/>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F93AFE59-004D-482B-4F3B-4D0F8010B71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50793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1219F05-61C4-2194-09E3-6A92D927AF99}"/>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0B0E239D-52D1-72FF-CE34-D0F135F857D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5C8D77C7-1AE6-67C6-FBBD-70AF58413B7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28051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0C4E5D3-E6FC-C6B6-126D-943621DA4AC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02A38674-AC2D-8681-7707-195EB255E864}"/>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EC800F28-CCEF-0F22-E50C-91DBFD24F6E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659483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5B5339D-67B9-91BB-4F84-A950173D1D5B}"/>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55C332A-57D2-3BD2-3189-4A2FB63F407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F17E7F7-D6CF-3572-73CC-4E4C34FD981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97526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936B31B-0406-1B8A-9614-0CD0F3A585FE}"/>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34E28D84-EEA7-5907-732C-232A893789D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924AFDB5-A052-1799-F041-529DFA6E0E2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419333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17D64851-8B11-2D46-551C-E1CE183CF8B5}"/>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1554CA4-57E1-C554-8A04-8AE374FCB6F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1D637CF-11FA-4DF2-916F-7B52996030D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0829072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8" name="Google Shape;708;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9" name="Google Shape;709;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AR"/>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87B2B43-A8D6-049E-47D1-B07AFCC117EA}"/>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985A0620-E34C-96AD-ABE6-5CF4D4E0896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dirty="0"/>
          </a:p>
        </p:txBody>
      </p:sp>
      <p:sp>
        <p:nvSpPr>
          <p:cNvPr id="131" name="Google Shape;131;p4:notes">
            <a:extLst>
              <a:ext uri="{FF2B5EF4-FFF2-40B4-BE49-F238E27FC236}">
                <a16:creationId xmlns:a16="http://schemas.microsoft.com/office/drawing/2014/main" id="{6832E69F-E7CD-C0E0-1DF6-44AE1B86F2AE}"/>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3062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1D47301-C7DE-74E5-52B8-40C1461723F9}"/>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7DC3D50A-F217-21AB-F0B9-31D31EC5311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dirty="0"/>
          </a:p>
        </p:txBody>
      </p:sp>
      <p:sp>
        <p:nvSpPr>
          <p:cNvPr id="131" name="Google Shape;131;p4:notes">
            <a:extLst>
              <a:ext uri="{FF2B5EF4-FFF2-40B4-BE49-F238E27FC236}">
                <a16:creationId xmlns:a16="http://schemas.microsoft.com/office/drawing/2014/main" id="{22F43F94-6BE6-FA5B-B8BF-E3D301F20BA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5621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con pi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8F5D1D67-1731-6FB9-152A-AB3FB8A5337E}"/>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67841DEF-BBB1-D965-D53A-FFB23F23054F}"/>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7921165C-5D18-7CB1-2553-E64810076EDF}"/>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normAutofit/>
          </a:bodyPr>
          <a:lstStyle>
            <a:lvl1pPr algn="l">
              <a:lnSpc>
                <a:spcPct val="85000"/>
              </a:lnSpc>
              <a:defRPr sz="72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7" name="Date Placeholder 3">
            <a:extLst>
              <a:ext uri="{FF2B5EF4-FFF2-40B4-BE49-F238E27FC236}">
                <a16:creationId xmlns:a16="http://schemas.microsoft.com/office/drawing/2014/main" id="{8885AB96-CBCC-AF74-DA53-1892D7E882BE}"/>
              </a:ext>
            </a:extLst>
          </p:cNvPr>
          <p:cNvSpPr>
            <a:spLocks noGrp="1"/>
          </p:cNvSpPr>
          <p:nvPr>
            <p:ph type="dt" sz="half" idx="10"/>
          </p:nvPr>
        </p:nvSpPr>
        <p:spPr/>
        <p:txBody>
          <a:bodyPr/>
          <a:lstStyle>
            <a:lvl1pPr>
              <a:defRPr/>
            </a:lvl1pPr>
          </a:lstStyle>
          <a:p>
            <a:r>
              <a:rPr lang="es-ES"/>
              <a:t>2026</a:t>
            </a:r>
          </a:p>
        </p:txBody>
      </p:sp>
      <p:sp>
        <p:nvSpPr>
          <p:cNvPr id="8" name="Footer Placeholder 4">
            <a:extLst>
              <a:ext uri="{FF2B5EF4-FFF2-40B4-BE49-F238E27FC236}">
                <a16:creationId xmlns:a16="http://schemas.microsoft.com/office/drawing/2014/main" id="{DE8A47C1-54F3-4493-A5DE-FE96E4B14D1A}"/>
              </a:ext>
            </a:extLst>
          </p:cNvPr>
          <p:cNvSpPr>
            <a:spLocks noGrp="1"/>
          </p:cNvSpPr>
          <p:nvPr>
            <p:ph type="ftr" sz="quarter" idx="11"/>
          </p:nvPr>
        </p:nvSpPr>
        <p:spPr/>
        <p:txBody>
          <a:bodyPr/>
          <a:lstStyle>
            <a:lvl1pPr>
              <a:defRPr/>
            </a:lvl1pPr>
          </a:lstStyle>
          <a:p>
            <a:r>
              <a:rPr lang="es-ES"/>
              <a:t>INGENIERÍA DE SOFTWARE II</a:t>
            </a:r>
          </a:p>
        </p:txBody>
      </p:sp>
      <p:sp>
        <p:nvSpPr>
          <p:cNvPr id="9" name="Slide Number Placeholder 5">
            <a:extLst>
              <a:ext uri="{FF2B5EF4-FFF2-40B4-BE49-F238E27FC236}">
                <a16:creationId xmlns:a16="http://schemas.microsoft.com/office/drawing/2014/main" id="{3576AD43-781F-4A54-E9A4-C30F465DE299}"/>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2003997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sz="44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2EE33822-99D0-C594-2B8B-3499F7609F35}"/>
              </a:ext>
            </a:extLst>
          </p:cNvPr>
          <p:cNvSpPr>
            <a:spLocks noGrp="1"/>
          </p:cNvSpPr>
          <p:nvPr>
            <p:ph type="dt" sz="half" idx="10"/>
          </p:nvPr>
        </p:nvSpPr>
        <p:spPr/>
        <p:txBody>
          <a:bodyPr/>
          <a:lstStyle>
            <a:lvl1pPr>
              <a:defRPr/>
            </a:lvl1pPr>
          </a:lstStyle>
          <a:p>
            <a:r>
              <a:rPr lang="es-ES"/>
              <a:t>2026</a:t>
            </a:r>
          </a:p>
        </p:txBody>
      </p:sp>
      <p:sp>
        <p:nvSpPr>
          <p:cNvPr id="5" name="Footer Placeholder 4">
            <a:extLst>
              <a:ext uri="{FF2B5EF4-FFF2-40B4-BE49-F238E27FC236}">
                <a16:creationId xmlns:a16="http://schemas.microsoft.com/office/drawing/2014/main" id="{3CAEAB05-635A-D5CA-685F-201359C60499}"/>
              </a:ext>
            </a:extLst>
          </p:cNvPr>
          <p:cNvSpPr>
            <a:spLocks noGrp="1"/>
          </p:cNvSpPr>
          <p:nvPr>
            <p:ph type="ftr" sz="quarter" idx="11"/>
          </p:nvPr>
        </p:nvSpPr>
        <p:spPr/>
        <p:txBody>
          <a:bodyPr/>
          <a:lstStyle>
            <a:lvl1pPr>
              <a:defRPr/>
            </a:lvl1pPr>
          </a:lstStyle>
          <a:p>
            <a:r>
              <a:rPr lang="es-ES"/>
              <a:t>INGENIERÍA DE SOFTWARE II</a:t>
            </a:r>
          </a:p>
        </p:txBody>
      </p:sp>
      <p:sp>
        <p:nvSpPr>
          <p:cNvPr id="6" name="Slide Number Placeholder 5">
            <a:extLst>
              <a:ext uri="{FF2B5EF4-FFF2-40B4-BE49-F238E27FC236}">
                <a16:creationId xmlns:a16="http://schemas.microsoft.com/office/drawing/2014/main" id="{EF3995B8-8A96-EAB0-EF18-6415AAAD137F}"/>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2155404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AF902EB4-57CD-F2C3-C8EF-0A9F3C0E206F}"/>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56E330E7-19C0-B7EE-4BB6-9B0684FA93CB}"/>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9C8FCEA2-320E-8C4F-E57B-41FF80256641}"/>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7" name="Date Placeholder 3">
            <a:extLst>
              <a:ext uri="{FF2B5EF4-FFF2-40B4-BE49-F238E27FC236}">
                <a16:creationId xmlns:a16="http://schemas.microsoft.com/office/drawing/2014/main" id="{83BC2613-06BC-A3C4-E557-9ED2869D4223}"/>
              </a:ext>
            </a:extLst>
          </p:cNvPr>
          <p:cNvSpPr>
            <a:spLocks noGrp="1"/>
          </p:cNvSpPr>
          <p:nvPr>
            <p:ph type="dt" sz="half" idx="10"/>
          </p:nvPr>
        </p:nvSpPr>
        <p:spPr/>
        <p:txBody>
          <a:bodyPr/>
          <a:lstStyle>
            <a:lvl1pPr>
              <a:defRPr/>
            </a:lvl1pPr>
          </a:lstStyle>
          <a:p>
            <a:r>
              <a:rPr lang="es-ES"/>
              <a:t>2026</a:t>
            </a:r>
          </a:p>
        </p:txBody>
      </p:sp>
      <p:sp>
        <p:nvSpPr>
          <p:cNvPr id="8" name="Footer Placeholder 4">
            <a:extLst>
              <a:ext uri="{FF2B5EF4-FFF2-40B4-BE49-F238E27FC236}">
                <a16:creationId xmlns:a16="http://schemas.microsoft.com/office/drawing/2014/main" id="{689C82A1-7601-097E-FBDF-AF2F1875EEC7}"/>
              </a:ext>
            </a:extLst>
          </p:cNvPr>
          <p:cNvSpPr>
            <a:spLocks noGrp="1"/>
          </p:cNvSpPr>
          <p:nvPr>
            <p:ph type="ftr" sz="quarter" idx="11"/>
          </p:nvPr>
        </p:nvSpPr>
        <p:spPr/>
        <p:txBody>
          <a:bodyPr/>
          <a:lstStyle>
            <a:lvl1pPr>
              <a:defRPr/>
            </a:lvl1pPr>
          </a:lstStyle>
          <a:p>
            <a:r>
              <a:rPr lang="es-ES"/>
              <a:t>INGENIERÍA DE SOFTWARE II</a:t>
            </a:r>
          </a:p>
        </p:txBody>
      </p:sp>
      <p:sp>
        <p:nvSpPr>
          <p:cNvPr id="9" name="Slide Number Placeholder 5">
            <a:extLst>
              <a:ext uri="{FF2B5EF4-FFF2-40B4-BE49-F238E27FC236}">
                <a16:creationId xmlns:a16="http://schemas.microsoft.com/office/drawing/2014/main" id="{92850FCE-ED65-6CE4-EC9F-E7387B6C6C7B}"/>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601173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E5A97E2A-6271-F4B3-2717-9AC9115F283D}"/>
              </a:ext>
            </a:extLst>
          </p:cNvPr>
          <p:cNvSpPr>
            <a:spLocks noGrp="1"/>
          </p:cNvSpPr>
          <p:nvPr>
            <p:ph type="dt" sz="half" idx="10"/>
          </p:nvPr>
        </p:nvSpPr>
        <p:spPr/>
        <p:txBody>
          <a:bodyPr/>
          <a:lstStyle>
            <a:lvl1pPr>
              <a:defRPr/>
            </a:lvl1pPr>
          </a:lstStyle>
          <a:p>
            <a:r>
              <a:rPr lang="es-ES"/>
              <a:t>2026</a:t>
            </a:r>
          </a:p>
        </p:txBody>
      </p:sp>
      <p:sp>
        <p:nvSpPr>
          <p:cNvPr id="5" name="Footer Placeholder 4">
            <a:extLst>
              <a:ext uri="{FF2B5EF4-FFF2-40B4-BE49-F238E27FC236}">
                <a16:creationId xmlns:a16="http://schemas.microsoft.com/office/drawing/2014/main" id="{283E1D5B-5E99-19E4-B10F-C975DC0D6739}"/>
              </a:ext>
            </a:extLst>
          </p:cNvPr>
          <p:cNvSpPr>
            <a:spLocks noGrp="1"/>
          </p:cNvSpPr>
          <p:nvPr>
            <p:ph type="ftr" sz="quarter" idx="11"/>
          </p:nvPr>
        </p:nvSpPr>
        <p:spPr/>
        <p:txBody>
          <a:bodyPr/>
          <a:lstStyle>
            <a:lvl1pPr>
              <a:defRPr/>
            </a:lvl1pPr>
          </a:lstStyle>
          <a:p>
            <a:r>
              <a:rPr lang="es-ES"/>
              <a:t>INGENIERÍA DE SOFTWARE II</a:t>
            </a:r>
          </a:p>
        </p:txBody>
      </p:sp>
      <p:sp>
        <p:nvSpPr>
          <p:cNvPr id="6" name="Slide Number Placeholder 5">
            <a:extLst>
              <a:ext uri="{FF2B5EF4-FFF2-40B4-BE49-F238E27FC236}">
                <a16:creationId xmlns:a16="http://schemas.microsoft.com/office/drawing/2014/main" id="{ACBCED3E-B523-45FD-CBDE-5D6D8B2A0B8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28455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19B58EDE-963E-FB78-2D0D-A1E43F48B4FF}"/>
              </a:ext>
            </a:extLst>
          </p:cNvPr>
          <p:cNvSpPr>
            <a:spLocks noGrp="1"/>
          </p:cNvSpPr>
          <p:nvPr>
            <p:ph type="dt" sz="half" idx="10"/>
          </p:nvPr>
        </p:nvSpPr>
        <p:spPr/>
        <p:txBody>
          <a:bodyPr/>
          <a:lstStyle>
            <a:lvl1pPr>
              <a:defRPr/>
            </a:lvl1pPr>
          </a:lstStyle>
          <a:p>
            <a:r>
              <a:rPr lang="es-ES"/>
              <a:t>2026</a:t>
            </a:r>
          </a:p>
        </p:txBody>
      </p:sp>
      <p:sp>
        <p:nvSpPr>
          <p:cNvPr id="7" name="Footer Placeholder 4">
            <a:extLst>
              <a:ext uri="{FF2B5EF4-FFF2-40B4-BE49-F238E27FC236}">
                <a16:creationId xmlns:a16="http://schemas.microsoft.com/office/drawing/2014/main" id="{C5F0BCD5-6867-6EF3-24B8-45C4E1DDD2A5}"/>
              </a:ext>
            </a:extLst>
          </p:cNvPr>
          <p:cNvSpPr>
            <a:spLocks noGrp="1"/>
          </p:cNvSpPr>
          <p:nvPr>
            <p:ph type="ftr" sz="quarter" idx="11"/>
          </p:nvPr>
        </p:nvSpPr>
        <p:spPr/>
        <p:txBody>
          <a:bodyPr/>
          <a:lstStyle>
            <a:lvl1pPr>
              <a:defRPr/>
            </a:lvl1pPr>
          </a:lstStyle>
          <a:p>
            <a:r>
              <a:rPr lang="es-ES"/>
              <a:t>INGENIERÍA DE SOFTWARE II</a:t>
            </a:r>
          </a:p>
        </p:txBody>
      </p:sp>
      <p:sp>
        <p:nvSpPr>
          <p:cNvPr id="8" name="Slide Number Placeholder 5">
            <a:extLst>
              <a:ext uri="{FF2B5EF4-FFF2-40B4-BE49-F238E27FC236}">
                <a16:creationId xmlns:a16="http://schemas.microsoft.com/office/drawing/2014/main" id="{61612293-CE97-5561-4C66-CDD6B453E3BF}"/>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39574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3">
            <a:extLst>
              <a:ext uri="{FF2B5EF4-FFF2-40B4-BE49-F238E27FC236}">
                <a16:creationId xmlns:a16="http://schemas.microsoft.com/office/drawing/2014/main" id="{A1322A67-FA2C-EF02-82BB-4B8AAB958003}"/>
              </a:ext>
            </a:extLst>
          </p:cNvPr>
          <p:cNvSpPr>
            <a:spLocks noGrp="1"/>
          </p:cNvSpPr>
          <p:nvPr>
            <p:ph type="dt" sz="half" idx="10"/>
          </p:nvPr>
        </p:nvSpPr>
        <p:spPr/>
        <p:txBody>
          <a:bodyPr/>
          <a:lstStyle>
            <a:lvl1pPr>
              <a:defRPr/>
            </a:lvl1pPr>
          </a:lstStyle>
          <a:p>
            <a:r>
              <a:rPr lang="es-ES"/>
              <a:t>2026</a:t>
            </a:r>
          </a:p>
        </p:txBody>
      </p:sp>
      <p:sp>
        <p:nvSpPr>
          <p:cNvPr id="4" name="Footer Placeholder 4">
            <a:extLst>
              <a:ext uri="{FF2B5EF4-FFF2-40B4-BE49-F238E27FC236}">
                <a16:creationId xmlns:a16="http://schemas.microsoft.com/office/drawing/2014/main" id="{0D82A5BF-4A30-E806-3DB1-94FDDD77AF3A}"/>
              </a:ext>
            </a:extLst>
          </p:cNvPr>
          <p:cNvSpPr>
            <a:spLocks noGrp="1"/>
          </p:cNvSpPr>
          <p:nvPr>
            <p:ph type="ftr" sz="quarter" idx="11"/>
          </p:nvPr>
        </p:nvSpPr>
        <p:spPr/>
        <p:txBody>
          <a:bodyPr/>
          <a:lstStyle>
            <a:lvl1pPr>
              <a:defRPr/>
            </a:lvl1pPr>
          </a:lstStyle>
          <a:p>
            <a:r>
              <a:rPr lang="es-ES"/>
              <a:t>INGENIERÍA DE SOFTWARE II</a:t>
            </a:r>
          </a:p>
        </p:txBody>
      </p:sp>
      <p:sp>
        <p:nvSpPr>
          <p:cNvPr id="5" name="Slide Number Placeholder 5">
            <a:extLst>
              <a:ext uri="{FF2B5EF4-FFF2-40B4-BE49-F238E27FC236}">
                <a16:creationId xmlns:a16="http://schemas.microsoft.com/office/drawing/2014/main" id="{81122B33-5945-D313-6FA2-E618BDEA0BC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20962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91DF074-EB3D-84C4-2A27-2076F10F2F4C}"/>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a:extLst>
              <a:ext uri="{FF2B5EF4-FFF2-40B4-BE49-F238E27FC236}">
                <a16:creationId xmlns:a16="http://schemas.microsoft.com/office/drawing/2014/main" id="{7FBEB6C0-18DD-E12D-F81E-FF6C471D9489}"/>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Google Shape;67;p52">
            <a:extLst>
              <a:ext uri="{FF2B5EF4-FFF2-40B4-BE49-F238E27FC236}">
                <a16:creationId xmlns:a16="http://schemas.microsoft.com/office/drawing/2014/main" id="{8A546487-1AD3-C466-90CC-59D02338DD5A}"/>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6">
            <a:extLst>
              <a:ext uri="{FF2B5EF4-FFF2-40B4-BE49-F238E27FC236}">
                <a16:creationId xmlns:a16="http://schemas.microsoft.com/office/drawing/2014/main" id="{83DC6933-CC97-94E4-A693-73EEBFF67913}"/>
              </a:ext>
            </a:extLst>
          </p:cNvPr>
          <p:cNvSpPr>
            <a:spLocks noGrp="1"/>
          </p:cNvSpPr>
          <p:nvPr>
            <p:ph type="dt" sz="half" idx="10"/>
          </p:nvPr>
        </p:nvSpPr>
        <p:spPr/>
        <p:txBody>
          <a:bodyPr/>
          <a:lstStyle>
            <a:lvl1pPr>
              <a:defRPr/>
            </a:lvl1pPr>
          </a:lstStyle>
          <a:p>
            <a:r>
              <a:rPr lang="es-ES"/>
              <a:t>2026</a:t>
            </a:r>
          </a:p>
        </p:txBody>
      </p:sp>
      <p:sp>
        <p:nvSpPr>
          <p:cNvPr id="6" name="Footer Placeholder 7">
            <a:extLst>
              <a:ext uri="{FF2B5EF4-FFF2-40B4-BE49-F238E27FC236}">
                <a16:creationId xmlns:a16="http://schemas.microsoft.com/office/drawing/2014/main" id="{4C5374A7-E3D5-0C53-2442-4F5E2C2A619F}"/>
              </a:ext>
            </a:extLst>
          </p:cNvPr>
          <p:cNvSpPr>
            <a:spLocks noGrp="1"/>
          </p:cNvSpPr>
          <p:nvPr>
            <p:ph type="ftr" sz="quarter" idx="11"/>
          </p:nvPr>
        </p:nvSpPr>
        <p:spPr/>
        <p:txBody>
          <a:bodyPr/>
          <a:lstStyle>
            <a:lvl1pPr>
              <a:defRPr>
                <a:solidFill>
                  <a:srgbClr val="FFFFFF"/>
                </a:solidFill>
              </a:defRPr>
            </a:lvl1pPr>
          </a:lstStyle>
          <a:p>
            <a:r>
              <a:rPr lang="es-ES"/>
              <a:t>INGENIERÍA DE SOFTWARE II</a:t>
            </a:r>
          </a:p>
        </p:txBody>
      </p:sp>
      <p:sp>
        <p:nvSpPr>
          <p:cNvPr id="7" name="Slide Number Placeholder 8">
            <a:extLst>
              <a:ext uri="{FF2B5EF4-FFF2-40B4-BE49-F238E27FC236}">
                <a16:creationId xmlns:a16="http://schemas.microsoft.com/office/drawing/2014/main" id="{12F5C3D5-5250-CAAD-F7C9-A3B0239EAB7E}"/>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494604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9658B3-0771-220B-14B3-648E47B2FEC0}"/>
              </a:ext>
            </a:extLst>
          </p:cNvPr>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F30C0229-CB2A-C996-C00C-1531095BDDC9}"/>
              </a:ext>
            </a:extLst>
          </p:cNvPr>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CC6D5799-0C28-8D67-FEB9-D4CC12FF3F89}"/>
              </a:ext>
            </a:extLst>
          </p:cNvPr>
          <p:cNvSpPr>
            <a:spLocks noGrp="1"/>
          </p:cNvSpPr>
          <p:nvPr>
            <p:ph type="dt" sz="half" idx="10"/>
          </p:nvPr>
        </p:nvSpPr>
        <p:spPr>
          <a:xfrm>
            <a:off x="465138" y="6459538"/>
            <a:ext cx="2619375" cy="365125"/>
          </a:xfrm>
        </p:spPr>
        <p:txBody>
          <a:bodyPr/>
          <a:lstStyle>
            <a:lvl1pPr algn="l">
              <a:defRPr/>
            </a:lvl1pPr>
          </a:lstStyle>
          <a:p>
            <a:r>
              <a:rPr lang="es-ES"/>
              <a:t>2026</a:t>
            </a:r>
          </a:p>
        </p:txBody>
      </p:sp>
      <p:sp>
        <p:nvSpPr>
          <p:cNvPr id="8" name="Footer Placeholder 5">
            <a:extLst>
              <a:ext uri="{FF2B5EF4-FFF2-40B4-BE49-F238E27FC236}">
                <a16:creationId xmlns:a16="http://schemas.microsoft.com/office/drawing/2014/main" id="{472AA8C0-9CB1-D834-F457-CF3C2A30C692}"/>
              </a:ext>
            </a:extLst>
          </p:cNvPr>
          <p:cNvSpPr>
            <a:spLocks noGrp="1"/>
          </p:cNvSpPr>
          <p:nvPr>
            <p:ph type="ftr" sz="quarter" idx="11"/>
          </p:nvPr>
        </p:nvSpPr>
        <p:spPr>
          <a:xfrm>
            <a:off x="4800600" y="6459538"/>
            <a:ext cx="4648200" cy="365125"/>
          </a:xfrm>
        </p:spPr>
        <p:txBody>
          <a:bodyPr/>
          <a:lstStyle>
            <a:lvl1pPr algn="l">
              <a:defRPr>
                <a:solidFill>
                  <a:schemeClr val="tx2"/>
                </a:solidFill>
              </a:defRPr>
            </a:lvl1pPr>
          </a:lstStyle>
          <a:p>
            <a:r>
              <a:rPr lang="es-ES"/>
              <a:t>INGENIERÍA DE SOFTWARE II</a:t>
            </a:r>
          </a:p>
        </p:txBody>
      </p:sp>
      <p:sp>
        <p:nvSpPr>
          <p:cNvPr id="9" name="Slide Number Placeholder 6">
            <a:extLst>
              <a:ext uri="{FF2B5EF4-FFF2-40B4-BE49-F238E27FC236}">
                <a16:creationId xmlns:a16="http://schemas.microsoft.com/office/drawing/2014/main" id="{52CC6D34-8404-08CC-CE73-9DCFE1464FAA}"/>
              </a:ext>
            </a:extLst>
          </p:cNvPr>
          <p:cNvSpPr>
            <a:spLocks noGrp="1"/>
          </p:cNvSpPr>
          <p:nvPr>
            <p:ph type="sldNum" sz="quarter" idx="12"/>
          </p:nvPr>
        </p:nvSpPr>
        <p:spPr/>
        <p:txBody>
          <a:bodyPr/>
          <a:lstStyle>
            <a:lvl1pPr>
              <a:defRPr smtClean="0">
                <a:solidFill>
                  <a:schemeClr val="tx2"/>
                </a:solidFill>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739795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957BA96-6D53-23B8-AD3A-92F3E6CD7F17}"/>
              </a:ext>
            </a:extLst>
          </p:cNvPr>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4FEF62A5-D878-A36B-749B-14E6A9907B74}"/>
              </a:ext>
            </a:extLst>
          </p:cNvPr>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1F71171B-2530-63F7-7CFD-1A0E3F51059F}"/>
              </a:ext>
            </a:extLst>
          </p:cNvPr>
          <p:cNvSpPr>
            <a:spLocks noGrp="1"/>
          </p:cNvSpPr>
          <p:nvPr>
            <p:ph type="dt" sz="half" idx="10"/>
          </p:nvPr>
        </p:nvSpPr>
        <p:spPr/>
        <p:txBody>
          <a:bodyPr/>
          <a:lstStyle>
            <a:lvl1pPr>
              <a:defRPr/>
            </a:lvl1pPr>
          </a:lstStyle>
          <a:p>
            <a:r>
              <a:rPr lang="es-ES"/>
              <a:t>2026</a:t>
            </a:r>
          </a:p>
        </p:txBody>
      </p:sp>
      <p:sp>
        <p:nvSpPr>
          <p:cNvPr id="8" name="Footer Placeholder 5">
            <a:extLst>
              <a:ext uri="{FF2B5EF4-FFF2-40B4-BE49-F238E27FC236}">
                <a16:creationId xmlns:a16="http://schemas.microsoft.com/office/drawing/2014/main" id="{EE6A03C7-E5A2-1794-4DBC-900C6B04BA6A}"/>
              </a:ext>
            </a:extLst>
          </p:cNvPr>
          <p:cNvSpPr>
            <a:spLocks noGrp="1"/>
          </p:cNvSpPr>
          <p:nvPr>
            <p:ph type="ftr" sz="quarter" idx="11"/>
          </p:nvPr>
        </p:nvSpPr>
        <p:spPr/>
        <p:txBody>
          <a:bodyPr/>
          <a:lstStyle>
            <a:lvl1pPr>
              <a:defRPr/>
            </a:lvl1pPr>
          </a:lstStyle>
          <a:p>
            <a:r>
              <a:rPr lang="es-ES"/>
              <a:t>INGENIERÍA DE SOFTWARE II</a:t>
            </a:r>
          </a:p>
        </p:txBody>
      </p:sp>
      <p:sp>
        <p:nvSpPr>
          <p:cNvPr id="9" name="Slide Number Placeholder 6">
            <a:extLst>
              <a:ext uri="{FF2B5EF4-FFF2-40B4-BE49-F238E27FC236}">
                <a16:creationId xmlns:a16="http://schemas.microsoft.com/office/drawing/2014/main" id="{15E03BCF-3387-BDBD-5A5F-77EE313CCD7F}"/>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581227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9F1B1384-84EE-6337-699C-47D3B0A09B13}"/>
              </a:ext>
            </a:extLst>
          </p:cNvPr>
          <p:cNvSpPr>
            <a:spLocks noGrp="1"/>
          </p:cNvSpPr>
          <p:nvPr>
            <p:ph type="dt" sz="half" idx="10"/>
          </p:nvPr>
        </p:nvSpPr>
        <p:spPr/>
        <p:txBody>
          <a:bodyPr/>
          <a:lstStyle>
            <a:lvl1pPr>
              <a:defRPr/>
            </a:lvl1pPr>
          </a:lstStyle>
          <a:p>
            <a:r>
              <a:rPr lang="es-ES"/>
              <a:t>2026</a:t>
            </a:r>
          </a:p>
        </p:txBody>
      </p:sp>
      <p:sp>
        <p:nvSpPr>
          <p:cNvPr id="5" name="Footer Placeholder 4">
            <a:extLst>
              <a:ext uri="{FF2B5EF4-FFF2-40B4-BE49-F238E27FC236}">
                <a16:creationId xmlns:a16="http://schemas.microsoft.com/office/drawing/2014/main" id="{45A14B11-3818-22D6-9FA2-DD6D0FBA410A}"/>
              </a:ext>
            </a:extLst>
          </p:cNvPr>
          <p:cNvSpPr>
            <a:spLocks noGrp="1"/>
          </p:cNvSpPr>
          <p:nvPr>
            <p:ph type="ftr" sz="quarter" idx="11"/>
          </p:nvPr>
        </p:nvSpPr>
        <p:spPr/>
        <p:txBody>
          <a:bodyPr/>
          <a:lstStyle>
            <a:lvl1pPr>
              <a:defRPr/>
            </a:lvl1pPr>
          </a:lstStyle>
          <a:p>
            <a:r>
              <a:rPr lang="es-ES"/>
              <a:t>INGENIERÍA DE SOFTWARE II</a:t>
            </a:r>
          </a:p>
        </p:txBody>
      </p:sp>
      <p:sp>
        <p:nvSpPr>
          <p:cNvPr id="6" name="Slide Number Placeholder 5">
            <a:extLst>
              <a:ext uri="{FF2B5EF4-FFF2-40B4-BE49-F238E27FC236}">
                <a16:creationId xmlns:a16="http://schemas.microsoft.com/office/drawing/2014/main" id="{EBDAE1A5-3CA7-1B7F-03C3-F65A419EB6AC}"/>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4280974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B64A09E4-66EC-6720-CE9E-E94E07777626}"/>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EB7BCFD3-DC5F-9FA9-B6DF-E4E3DC1435C9}"/>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Date Placeholder 3">
            <a:extLst>
              <a:ext uri="{FF2B5EF4-FFF2-40B4-BE49-F238E27FC236}">
                <a16:creationId xmlns:a16="http://schemas.microsoft.com/office/drawing/2014/main" id="{BB65C873-F48D-E79F-C5BA-2902CFD0D744}"/>
              </a:ext>
            </a:extLst>
          </p:cNvPr>
          <p:cNvSpPr>
            <a:spLocks noGrp="1"/>
          </p:cNvSpPr>
          <p:nvPr>
            <p:ph type="dt" sz="half" idx="10"/>
          </p:nvPr>
        </p:nvSpPr>
        <p:spPr/>
        <p:txBody>
          <a:bodyPr/>
          <a:lstStyle>
            <a:lvl1pPr>
              <a:defRPr/>
            </a:lvl1pPr>
          </a:lstStyle>
          <a:p>
            <a:r>
              <a:rPr lang="es-ES"/>
              <a:t>2026</a:t>
            </a:r>
          </a:p>
        </p:txBody>
      </p:sp>
      <p:sp>
        <p:nvSpPr>
          <p:cNvPr id="7" name="Footer Placeholder 4">
            <a:extLst>
              <a:ext uri="{FF2B5EF4-FFF2-40B4-BE49-F238E27FC236}">
                <a16:creationId xmlns:a16="http://schemas.microsoft.com/office/drawing/2014/main" id="{329A7564-349B-766F-FF02-D0C91C8A2476}"/>
              </a:ext>
            </a:extLst>
          </p:cNvPr>
          <p:cNvSpPr>
            <a:spLocks noGrp="1"/>
          </p:cNvSpPr>
          <p:nvPr>
            <p:ph type="ftr" sz="quarter" idx="11"/>
          </p:nvPr>
        </p:nvSpPr>
        <p:spPr/>
        <p:txBody>
          <a:bodyPr/>
          <a:lstStyle>
            <a:lvl1pPr>
              <a:defRPr/>
            </a:lvl1pPr>
          </a:lstStyle>
          <a:p>
            <a:r>
              <a:rPr lang="es-ES"/>
              <a:t>INGENIERÍA DE SOFTWARE II</a:t>
            </a:r>
          </a:p>
        </p:txBody>
      </p:sp>
      <p:sp>
        <p:nvSpPr>
          <p:cNvPr id="8" name="Slide Number Placeholder 5">
            <a:extLst>
              <a:ext uri="{FF2B5EF4-FFF2-40B4-BE49-F238E27FC236}">
                <a16:creationId xmlns:a16="http://schemas.microsoft.com/office/drawing/2014/main" id="{C700B447-FC7A-10BF-01C5-1E0DC8FC84FC}"/>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187864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 blanco">
  <p:cSld name="1_En blanco">
    <p:spTree>
      <p:nvGrpSpPr>
        <p:cNvPr id="1" name="Shape 25"/>
        <p:cNvGrpSpPr/>
        <p:nvPr/>
      </p:nvGrpSpPr>
      <p:grpSpPr>
        <a:xfrm>
          <a:off x="0" y="0"/>
          <a:ext cx="0" cy="0"/>
          <a:chOff x="0" y="0"/>
          <a:chExt cx="0" cy="0"/>
        </a:xfrm>
      </p:grpSpPr>
      <p:sp>
        <p:nvSpPr>
          <p:cNvPr id="6" name="Título 5"/>
          <p:cNvSpPr>
            <a:spLocks noGrp="1"/>
          </p:cNvSpPr>
          <p:nvPr>
            <p:ph type="title"/>
          </p:nvPr>
        </p:nvSpPr>
        <p:spPr/>
        <p:txBody>
          <a:bodyPr/>
          <a:lstStyle>
            <a:lvl1pPr>
              <a:defRPr sz="4400"/>
            </a:lvl1pPr>
          </a:lstStyle>
          <a:p>
            <a:r>
              <a:rPr lang="es-ES"/>
              <a:t>Haga clic para modificar el estilo de título del patrón</a:t>
            </a:r>
            <a:endParaRPr lang="es-ES" dirty="0"/>
          </a:p>
        </p:txBody>
      </p:sp>
      <p:sp>
        <p:nvSpPr>
          <p:cNvPr id="2" name="Date Placeholder 3">
            <a:extLst>
              <a:ext uri="{FF2B5EF4-FFF2-40B4-BE49-F238E27FC236}">
                <a16:creationId xmlns:a16="http://schemas.microsoft.com/office/drawing/2014/main" id="{EB437BC9-0A36-20DD-8F05-9CD849DE4FFD}"/>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3" name="Footer Placeholder 4">
            <a:extLst>
              <a:ext uri="{FF2B5EF4-FFF2-40B4-BE49-F238E27FC236}">
                <a16:creationId xmlns:a16="http://schemas.microsoft.com/office/drawing/2014/main" id="{9A76745E-302F-B0E0-8E55-08D4A5E44477}"/>
              </a:ext>
            </a:extLst>
          </p:cNvPr>
          <p:cNvSpPr>
            <a:spLocks noGrp="1"/>
          </p:cNvSpPr>
          <p:nvPr>
            <p:ph type="ftr" sz="quarter" idx="11"/>
          </p:nvPr>
        </p:nvSpPr>
        <p:spPr/>
        <p:txBody>
          <a:bodyPr/>
          <a:lstStyle>
            <a:lvl1pPr>
              <a:defRPr/>
            </a:lvl1pPr>
          </a:lstStyle>
          <a:p>
            <a:pPr>
              <a:defRPr/>
            </a:pPr>
            <a:r>
              <a:rPr lang="es-ES"/>
              <a:t>INGENIERÍA DE SOFTWARE II</a:t>
            </a:r>
            <a:endParaRPr lang="es-ES" dirty="0"/>
          </a:p>
        </p:txBody>
      </p:sp>
      <p:sp>
        <p:nvSpPr>
          <p:cNvPr id="4" name="Slide Number Placeholder 5">
            <a:extLst>
              <a:ext uri="{FF2B5EF4-FFF2-40B4-BE49-F238E27FC236}">
                <a16:creationId xmlns:a16="http://schemas.microsoft.com/office/drawing/2014/main" id="{1EC441BB-D399-CBB1-A16F-349A4DB426CF}"/>
              </a:ext>
            </a:extLst>
          </p:cNvPr>
          <p:cNvSpPr>
            <a:spLocks noGrp="1"/>
          </p:cNvSpPr>
          <p:nvPr>
            <p:ph type="sldNum" sz="quarter" idx="12"/>
          </p:nvPr>
        </p:nvSpPr>
        <p:spPr/>
        <p:txBody>
          <a:bodyPr/>
          <a:lstStyle>
            <a:lvl1pPr>
              <a:defRPr/>
            </a:lvl1pPr>
          </a:lstStyle>
          <a:p>
            <a:pPr>
              <a:defRPr/>
            </a:pPr>
            <a:fld id="{9EB1CA56-0CD4-42D0-A619-9BC7F088DF30}" type="slidenum">
              <a:rPr lang="es-ES"/>
              <a:pPr>
                <a:defRPr/>
              </a:pPr>
              <a:t>‹Nº›</a:t>
            </a:fld>
            <a:endParaRPr lang="es-ES"/>
          </a:p>
        </p:txBody>
      </p:sp>
    </p:spTree>
    <p:extLst>
      <p:ext uri="{BB962C8B-B14F-4D97-AF65-F5344CB8AC3E}">
        <p14:creationId xmlns:p14="http://schemas.microsoft.com/office/powerpoint/2010/main" val="21182072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8"/>
        <p:cNvGrpSpPr/>
        <p:nvPr/>
      </p:nvGrpSpPr>
      <p:grpSpPr>
        <a:xfrm>
          <a:off x="0" y="0"/>
          <a:ext cx="0" cy="0"/>
          <a:chOff x="0" y="0"/>
          <a:chExt cx="0" cy="0"/>
        </a:xfrm>
      </p:grpSpPr>
      <p:sp>
        <p:nvSpPr>
          <p:cNvPr id="2" name="Date Placeholder 3">
            <a:extLst>
              <a:ext uri="{FF2B5EF4-FFF2-40B4-BE49-F238E27FC236}">
                <a16:creationId xmlns:a16="http://schemas.microsoft.com/office/drawing/2014/main" id="{42AD51FE-BBA5-07A2-C263-B0FEF8CE7B08}"/>
              </a:ext>
            </a:extLst>
          </p:cNvPr>
          <p:cNvSpPr>
            <a:spLocks noGrp="1"/>
          </p:cNvSpPr>
          <p:nvPr>
            <p:ph type="dt" sz="half" idx="10"/>
          </p:nvPr>
        </p:nvSpPr>
        <p:spPr/>
        <p:txBody>
          <a:bodyPr/>
          <a:lstStyle>
            <a:lvl1pPr>
              <a:defRPr/>
            </a:lvl1pPr>
          </a:lstStyle>
          <a:p>
            <a:r>
              <a:rPr lang="es-ES"/>
              <a:t>2026</a:t>
            </a:r>
          </a:p>
        </p:txBody>
      </p:sp>
      <p:sp>
        <p:nvSpPr>
          <p:cNvPr id="3" name="Footer Placeholder 4">
            <a:extLst>
              <a:ext uri="{FF2B5EF4-FFF2-40B4-BE49-F238E27FC236}">
                <a16:creationId xmlns:a16="http://schemas.microsoft.com/office/drawing/2014/main" id="{5E85962D-A39D-B895-371A-EF041C71B109}"/>
              </a:ext>
            </a:extLst>
          </p:cNvPr>
          <p:cNvSpPr>
            <a:spLocks noGrp="1"/>
          </p:cNvSpPr>
          <p:nvPr>
            <p:ph type="ftr" sz="quarter" idx="11"/>
          </p:nvPr>
        </p:nvSpPr>
        <p:spPr/>
        <p:txBody>
          <a:bodyPr/>
          <a:lstStyle>
            <a:lvl1pPr>
              <a:defRPr/>
            </a:lvl1pPr>
          </a:lstStyle>
          <a:p>
            <a:r>
              <a:rPr lang="es-ES"/>
              <a:t>INGENIERÍA DE SOFTWARE II</a:t>
            </a:r>
          </a:p>
        </p:txBody>
      </p:sp>
      <p:sp>
        <p:nvSpPr>
          <p:cNvPr id="4" name="Slide Number Placeholder 5">
            <a:extLst>
              <a:ext uri="{FF2B5EF4-FFF2-40B4-BE49-F238E27FC236}">
                <a16:creationId xmlns:a16="http://schemas.microsoft.com/office/drawing/2014/main" id="{AC6B3FBC-FAEA-19D7-6C79-35ED3C8557E1}"/>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009055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28"/>
        <p:cNvGrpSpPr/>
        <p:nvPr/>
      </p:nvGrpSpPr>
      <p:grpSpPr>
        <a:xfrm>
          <a:off x="0" y="0"/>
          <a:ext cx="0" cy="0"/>
          <a:chOff x="0" y="0"/>
          <a:chExt cx="0" cy="0"/>
        </a:xfrm>
      </p:grpSpPr>
      <p:sp>
        <p:nvSpPr>
          <p:cNvPr id="2" name="Date Placeholder 4">
            <a:extLst>
              <a:ext uri="{FF2B5EF4-FFF2-40B4-BE49-F238E27FC236}">
                <a16:creationId xmlns:a16="http://schemas.microsoft.com/office/drawing/2014/main" id="{EB54E0DF-B35A-9482-B4CA-F6407614721D}"/>
              </a:ext>
            </a:extLst>
          </p:cNvPr>
          <p:cNvSpPr>
            <a:spLocks noGrp="1"/>
          </p:cNvSpPr>
          <p:nvPr>
            <p:ph type="dt" sz="half" idx="10"/>
          </p:nvPr>
        </p:nvSpPr>
        <p:spPr/>
        <p:txBody>
          <a:bodyPr/>
          <a:lstStyle>
            <a:lvl1pPr>
              <a:defRPr/>
            </a:lvl1pPr>
          </a:lstStyle>
          <a:p>
            <a:r>
              <a:rPr lang="es-ES"/>
              <a:t>2026</a:t>
            </a:r>
          </a:p>
        </p:txBody>
      </p:sp>
      <p:sp>
        <p:nvSpPr>
          <p:cNvPr id="3" name="Footer Placeholder 5">
            <a:extLst>
              <a:ext uri="{FF2B5EF4-FFF2-40B4-BE49-F238E27FC236}">
                <a16:creationId xmlns:a16="http://schemas.microsoft.com/office/drawing/2014/main" id="{60AAE68E-9A19-0750-7161-D56BAEB3D19E}"/>
              </a:ext>
            </a:extLst>
          </p:cNvPr>
          <p:cNvSpPr>
            <a:spLocks noGrp="1"/>
          </p:cNvSpPr>
          <p:nvPr>
            <p:ph type="ftr" sz="quarter" idx="11"/>
          </p:nvPr>
        </p:nvSpPr>
        <p:spPr/>
        <p:txBody>
          <a:bodyPr/>
          <a:lstStyle>
            <a:lvl1pPr>
              <a:defRPr/>
            </a:lvl1pPr>
          </a:lstStyle>
          <a:p>
            <a:r>
              <a:rPr lang="es-ES"/>
              <a:t>INGENIERÍA DE SOFTWARE II</a:t>
            </a:r>
          </a:p>
        </p:txBody>
      </p:sp>
      <p:sp>
        <p:nvSpPr>
          <p:cNvPr id="4" name="Slide Number Placeholder 6">
            <a:extLst>
              <a:ext uri="{FF2B5EF4-FFF2-40B4-BE49-F238E27FC236}">
                <a16:creationId xmlns:a16="http://schemas.microsoft.com/office/drawing/2014/main" id="{2924CAA9-715C-1C8A-97E6-C7DBC840BBC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564464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8"/>
        <p:cNvGrpSpPr/>
        <p:nvPr/>
      </p:nvGrpSpPr>
      <p:grpSpPr>
        <a:xfrm>
          <a:off x="0" y="0"/>
          <a:ext cx="0" cy="0"/>
          <a:chOff x="0" y="0"/>
          <a:chExt cx="0" cy="0"/>
        </a:xfrm>
      </p:grpSpPr>
      <p:sp>
        <p:nvSpPr>
          <p:cNvPr id="19" name="Google Shape;19;p64"/>
          <p:cNvSpPr txBox="1">
            <a:spLocks noGrp="1"/>
          </p:cNvSpPr>
          <p:nvPr>
            <p:ph type="title"/>
          </p:nvPr>
        </p:nvSpPr>
        <p:spPr>
          <a:xfrm>
            <a:off x="653976" y="4737544"/>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4A6617"/>
              </a:buClr>
              <a:buSzPts val="4400"/>
              <a:buFont typeface="Calibri"/>
              <a:buNone/>
              <a:defRPr sz="3300" b="1">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4"/>
          <p:cNvSpPr txBox="1">
            <a:spLocks noGrp="1"/>
          </p:cNvSpPr>
          <p:nvPr>
            <p:ph type="body" idx="1"/>
          </p:nvPr>
        </p:nvSpPr>
        <p:spPr>
          <a:xfrm>
            <a:off x="653976" y="5487888"/>
            <a:ext cx="9229344" cy="5334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975"/>
              </a:spcBef>
              <a:spcAft>
                <a:spcPts val="0"/>
              </a:spcAft>
              <a:buSzPts val="2400"/>
              <a:buNone/>
              <a:defRPr sz="1800">
                <a:solidFill>
                  <a:srgbClr val="4A6617"/>
                </a:solidFill>
              </a:defRPr>
            </a:lvl1pPr>
            <a:lvl2pPr marL="914400" lvl="1" indent="-228600" algn="l">
              <a:lnSpc>
                <a:spcPct val="85000"/>
              </a:lnSpc>
              <a:spcBef>
                <a:spcPts val="450"/>
              </a:spcBef>
              <a:spcAft>
                <a:spcPts val="0"/>
              </a:spcAft>
              <a:buClr>
                <a:srgbClr val="262626"/>
              </a:buClr>
              <a:buSzPts val="1200"/>
              <a:buNone/>
              <a:defRPr sz="900"/>
            </a:lvl2pPr>
            <a:lvl3pPr marL="1371600" lvl="2" indent="-228600" algn="l">
              <a:lnSpc>
                <a:spcPct val="85000"/>
              </a:lnSpc>
              <a:spcBef>
                <a:spcPts val="450"/>
              </a:spcBef>
              <a:spcAft>
                <a:spcPts val="0"/>
              </a:spcAft>
              <a:buClr>
                <a:srgbClr val="262626"/>
              </a:buClr>
              <a:buSzPts val="1000"/>
              <a:buNone/>
              <a:defRPr sz="750"/>
            </a:lvl3pPr>
            <a:lvl4pPr marL="1828800" lvl="3" indent="-228600" algn="l">
              <a:lnSpc>
                <a:spcPct val="85000"/>
              </a:lnSpc>
              <a:spcBef>
                <a:spcPts val="450"/>
              </a:spcBef>
              <a:spcAft>
                <a:spcPts val="0"/>
              </a:spcAft>
              <a:buClr>
                <a:srgbClr val="262626"/>
              </a:buClr>
              <a:buSzPts val="900"/>
              <a:buNone/>
              <a:defRPr sz="675"/>
            </a:lvl4pPr>
            <a:lvl5pPr marL="2286000" lvl="4" indent="-228600" algn="l">
              <a:lnSpc>
                <a:spcPct val="85000"/>
              </a:lnSpc>
              <a:spcBef>
                <a:spcPts val="450"/>
              </a:spcBef>
              <a:spcAft>
                <a:spcPts val="0"/>
              </a:spcAft>
              <a:buClr>
                <a:srgbClr val="262626"/>
              </a:buClr>
              <a:buSzPts val="900"/>
              <a:buNone/>
              <a:defRPr sz="675"/>
            </a:lvl5pPr>
            <a:lvl6pPr marL="2743200" lvl="5" indent="-228600" algn="l">
              <a:lnSpc>
                <a:spcPct val="85000"/>
              </a:lnSpc>
              <a:spcBef>
                <a:spcPts val="450"/>
              </a:spcBef>
              <a:spcAft>
                <a:spcPts val="0"/>
              </a:spcAft>
              <a:buClr>
                <a:srgbClr val="262626"/>
              </a:buClr>
              <a:buSzPts val="900"/>
              <a:buNone/>
              <a:defRPr sz="675"/>
            </a:lvl6pPr>
            <a:lvl7pPr marL="3200400" lvl="6" indent="-228600" algn="l">
              <a:lnSpc>
                <a:spcPct val="85000"/>
              </a:lnSpc>
              <a:spcBef>
                <a:spcPts val="450"/>
              </a:spcBef>
              <a:spcAft>
                <a:spcPts val="0"/>
              </a:spcAft>
              <a:buClr>
                <a:srgbClr val="262626"/>
              </a:buClr>
              <a:buSzPts val="900"/>
              <a:buNone/>
              <a:defRPr sz="675"/>
            </a:lvl7pPr>
            <a:lvl8pPr marL="3657600" lvl="7" indent="-228600" algn="l">
              <a:lnSpc>
                <a:spcPct val="85000"/>
              </a:lnSpc>
              <a:spcBef>
                <a:spcPts val="450"/>
              </a:spcBef>
              <a:spcAft>
                <a:spcPts val="0"/>
              </a:spcAft>
              <a:buClr>
                <a:srgbClr val="262626"/>
              </a:buClr>
              <a:buSzPts val="900"/>
              <a:buNone/>
              <a:defRPr sz="675"/>
            </a:lvl8pPr>
            <a:lvl9pPr marL="4114800" lvl="8" indent="-228600" algn="l">
              <a:lnSpc>
                <a:spcPct val="85000"/>
              </a:lnSpc>
              <a:spcBef>
                <a:spcPts val="450"/>
              </a:spcBef>
              <a:spcAft>
                <a:spcPts val="0"/>
              </a:spcAft>
              <a:buClr>
                <a:srgbClr val="262626"/>
              </a:buClr>
              <a:buSzPts val="900"/>
              <a:buNone/>
              <a:defRPr sz="675"/>
            </a:lvl9pPr>
          </a:lstStyle>
          <a:p>
            <a:endParaRPr/>
          </a:p>
        </p:txBody>
      </p:sp>
      <p:sp>
        <p:nvSpPr>
          <p:cNvPr id="21" name="Google Shape;21;p64"/>
          <p:cNvSpPr txBox="1">
            <a:spLocks noGrp="1"/>
          </p:cNvSpPr>
          <p:nvPr>
            <p:ph type="dt" idx="10"/>
          </p:nvPr>
        </p:nvSpPr>
        <p:spPr>
          <a:xfrm>
            <a:off x="4361175" y="6481098"/>
            <a:ext cx="4114800" cy="2286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2026</a:t>
            </a:r>
            <a:endParaRPr/>
          </a:p>
        </p:txBody>
      </p:sp>
      <p:sp>
        <p:nvSpPr>
          <p:cNvPr id="22" name="Google Shape;22;p64"/>
          <p:cNvSpPr txBox="1">
            <a:spLocks noGrp="1"/>
          </p:cNvSpPr>
          <p:nvPr>
            <p:ph type="ftr" idx="11"/>
          </p:nvPr>
        </p:nvSpPr>
        <p:spPr>
          <a:xfrm>
            <a:off x="685800" y="6481098"/>
            <a:ext cx="2241848" cy="302201"/>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INGENIERÍA DE SOFTWARE II</a:t>
            </a:r>
            <a:endParaRPr/>
          </a:p>
        </p:txBody>
      </p:sp>
      <p:sp>
        <p:nvSpPr>
          <p:cNvPr id="23" name="Google Shape;23;p64"/>
          <p:cNvSpPr txBox="1">
            <a:spLocks noGrp="1"/>
          </p:cNvSpPr>
          <p:nvPr>
            <p:ph type="sldNum" idx="12"/>
          </p:nvPr>
        </p:nvSpPr>
        <p:spPr>
          <a:xfrm>
            <a:off x="9265920" y="2780930"/>
            <a:ext cx="2926080" cy="1397039"/>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extLst>
      <p:ext uri="{BB962C8B-B14F-4D97-AF65-F5344CB8AC3E}">
        <p14:creationId xmlns:p14="http://schemas.microsoft.com/office/powerpoint/2010/main" val="2740609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91E0712-E313-20AB-556A-6D6F34D28EDB}"/>
              </a:ext>
            </a:extLst>
          </p:cNvPr>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90C4374A-AB22-C035-E3AB-BAFD338DD71E}"/>
              </a:ext>
            </a:extLst>
          </p:cNvPr>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C5D1900C-76D2-E255-2F82-550102423786}"/>
              </a:ext>
            </a:extLst>
          </p:cNvPr>
          <p:cNvSpPr>
            <a:spLocks noGrp="1"/>
          </p:cNvSpPr>
          <p:nvPr>
            <p:ph type="title"/>
          </p:nvPr>
        </p:nvSpPr>
        <p:spPr>
          <a:xfrm>
            <a:off x="1096963" y="287338"/>
            <a:ext cx="10058400" cy="1449387"/>
          </a:xfrm>
          <a:prstGeom prst="rect">
            <a:avLst/>
          </a:prstGeom>
        </p:spPr>
        <p:txBody>
          <a:bodyPr vert="horz" lIns="91440" tIns="45720" rIns="91440" bIns="45720" rtlCol="0" anchor="b">
            <a:noAutofit/>
          </a:bodyPr>
          <a:lstStyle/>
          <a:p>
            <a:r>
              <a:rPr lang="es-ES" dirty="0"/>
              <a:t>Haga clic para modificar el estilo de título del patrón</a:t>
            </a:r>
            <a:endParaRPr lang="en-US" dirty="0"/>
          </a:p>
        </p:txBody>
      </p:sp>
      <p:sp>
        <p:nvSpPr>
          <p:cNvPr id="1029" name="Text Placeholder 2">
            <a:extLst>
              <a:ext uri="{FF2B5EF4-FFF2-40B4-BE49-F238E27FC236}">
                <a16:creationId xmlns:a16="http://schemas.microsoft.com/office/drawing/2014/main" id="{625A7212-36AF-1463-CEC3-92623EC9E76C}"/>
              </a:ext>
            </a:extLst>
          </p:cNvPr>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s-ES" altLang="es-ES"/>
              <a:t>Haga clic para modificar los estilos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endParaRPr lang="en-US" altLang="es-ES"/>
          </a:p>
        </p:txBody>
      </p:sp>
      <p:sp>
        <p:nvSpPr>
          <p:cNvPr id="4" name="Date Placeholder 3">
            <a:extLst>
              <a:ext uri="{FF2B5EF4-FFF2-40B4-BE49-F238E27FC236}">
                <a16:creationId xmlns:a16="http://schemas.microsoft.com/office/drawing/2014/main" id="{6798FF39-8735-59A5-DED2-F1511E9939D7}"/>
              </a:ext>
            </a:extLst>
          </p:cNvPr>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r>
              <a:rPr lang="es-ES"/>
              <a:t>2026</a:t>
            </a:r>
          </a:p>
        </p:txBody>
      </p:sp>
      <p:sp>
        <p:nvSpPr>
          <p:cNvPr id="5" name="Footer Placeholder 4">
            <a:extLst>
              <a:ext uri="{FF2B5EF4-FFF2-40B4-BE49-F238E27FC236}">
                <a16:creationId xmlns:a16="http://schemas.microsoft.com/office/drawing/2014/main" id="{17D5123D-5C9A-C46A-201E-DC4BBB6264FE}"/>
              </a:ext>
            </a:extLst>
          </p:cNvPr>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defRPr>
            </a:lvl1pPr>
          </a:lstStyle>
          <a:p>
            <a:r>
              <a:rPr lang="es-ES"/>
              <a:t>INGENIERÍA DE SOFTWARE II</a:t>
            </a:r>
          </a:p>
        </p:txBody>
      </p:sp>
      <p:sp>
        <p:nvSpPr>
          <p:cNvPr id="6" name="Slide Number Placeholder 5">
            <a:extLst>
              <a:ext uri="{FF2B5EF4-FFF2-40B4-BE49-F238E27FC236}">
                <a16:creationId xmlns:a16="http://schemas.microsoft.com/office/drawing/2014/main" id="{A5FE1C5C-3E4A-5795-A7B4-93832EEF3341}"/>
              </a:ext>
            </a:extLst>
          </p:cNvPr>
          <p:cNvSpPr>
            <a:spLocks noGrp="1"/>
          </p:cNvSpPr>
          <p:nvPr>
            <p:ph type="sldNum" sz="quarter" idx="4"/>
          </p:nvPr>
        </p:nvSpPr>
        <p:spPr>
          <a:xfrm>
            <a:off x="9901238" y="6459538"/>
            <a:ext cx="1311275" cy="365125"/>
          </a:xfrm>
          <a:prstGeom prst="rect">
            <a:avLst/>
          </a:prstGeom>
        </p:spPr>
        <p:txBody>
          <a:bodyPr vert="horz" lIns="91440" tIns="45720" rIns="91440" bIns="45720" rtlCol="0" anchor="ctr"/>
          <a:lstStyle>
            <a:lvl1pPr algn="r" eaLnBrk="1" fontAlgn="auto" hangingPunct="1">
              <a:spcBef>
                <a:spcPts val="0"/>
              </a:spcBef>
              <a:spcAft>
                <a:spcPts val="0"/>
              </a:spcAft>
              <a:defRPr sz="1050" smtClean="0">
                <a:solidFill>
                  <a:srgbClr val="FFFFFF"/>
                </a:solidFill>
                <a:latin typeface="+mn-lt"/>
              </a:defRPr>
            </a:lvl1pPr>
          </a:lstStyle>
          <a:p>
            <a:pPr marL="0" lvl="0" indent="0" algn="r" rtl="0">
              <a:spcBef>
                <a:spcPts val="0"/>
              </a:spcBef>
              <a:spcAft>
                <a:spcPts val="0"/>
              </a:spcAft>
              <a:buNone/>
            </a:pPr>
            <a:fld id="{00000000-1234-1234-1234-123412341234}" type="slidenum">
              <a:rPr lang="es-AR" smtClean="0"/>
              <a:t>‹Nº›</a:t>
            </a:fld>
            <a:endParaRPr lang="es-AR"/>
          </a:p>
        </p:txBody>
      </p:sp>
      <p:cxnSp>
        <p:nvCxnSpPr>
          <p:cNvPr id="10" name="Straight Connector 9">
            <a:extLst>
              <a:ext uri="{FF2B5EF4-FFF2-40B4-BE49-F238E27FC236}">
                <a16:creationId xmlns:a16="http://schemas.microsoft.com/office/drawing/2014/main" id="{81BD4E64-B71B-C880-5128-8C119EC7587E}"/>
              </a:ext>
            </a:extLst>
          </p:cNvPr>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34" name="Google Shape;67;p52">
            <a:extLst>
              <a:ext uri="{FF2B5EF4-FFF2-40B4-BE49-F238E27FC236}">
                <a16:creationId xmlns:a16="http://schemas.microsoft.com/office/drawing/2014/main" id="{DB6DBD06-7DCF-F700-5A55-34772B388577}"/>
              </a:ext>
            </a:extLst>
          </p:cNvPr>
          <p:cNvPicPr preferRelativeResize="0">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392551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Lst>
  <p:hf hdr="0"/>
  <p:txStyles>
    <p:titleStyle>
      <a:lvl1pPr algn="l" rtl="0" eaLnBrk="1" fontAlgn="base" hangingPunct="1">
        <a:lnSpc>
          <a:spcPct val="85000"/>
        </a:lnSpc>
        <a:spcBef>
          <a:spcPct val="0"/>
        </a:spcBef>
        <a:spcAft>
          <a:spcPct val="0"/>
        </a:spcAft>
        <a:defRPr sz="5400" kern="1200" spc="-50">
          <a:solidFill>
            <a:schemeClr val="tx1"/>
          </a:solidFill>
          <a:latin typeface="+mn-lt"/>
          <a:ea typeface="+mj-ea"/>
          <a:cs typeface="+mj-cs"/>
        </a:defRPr>
      </a:lvl1pPr>
      <a:lvl2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2pPr>
      <a:lvl3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3pPr>
      <a:lvl4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4pPr>
      <a:lvl5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5pPr>
      <a:lvl6pPr marL="457200" algn="l" rtl="0" eaLnBrk="1" fontAlgn="base" hangingPunct="1">
        <a:lnSpc>
          <a:spcPct val="85000"/>
        </a:lnSpc>
        <a:spcBef>
          <a:spcPct val="0"/>
        </a:spcBef>
        <a:spcAft>
          <a:spcPct val="0"/>
        </a:spcAft>
        <a:defRPr sz="5400">
          <a:solidFill>
            <a:schemeClr val="tx1"/>
          </a:solidFill>
          <a:latin typeface="Calibri" panose="020F0502020204030204" pitchFamily="34" charset="0"/>
        </a:defRPr>
      </a:lvl6pPr>
      <a:lvl7pPr marL="914400" algn="l" rtl="0" eaLnBrk="1" fontAlgn="base" hangingPunct="1">
        <a:lnSpc>
          <a:spcPct val="85000"/>
        </a:lnSpc>
        <a:spcBef>
          <a:spcPct val="0"/>
        </a:spcBef>
        <a:spcAft>
          <a:spcPct val="0"/>
        </a:spcAft>
        <a:defRPr sz="5400">
          <a:solidFill>
            <a:schemeClr val="tx1"/>
          </a:solidFill>
          <a:latin typeface="Calibri" panose="020F0502020204030204" pitchFamily="34" charset="0"/>
        </a:defRPr>
      </a:lvl7pPr>
      <a:lvl8pPr marL="1371600" algn="l" rtl="0" eaLnBrk="1" fontAlgn="base" hangingPunct="1">
        <a:lnSpc>
          <a:spcPct val="85000"/>
        </a:lnSpc>
        <a:spcBef>
          <a:spcPct val="0"/>
        </a:spcBef>
        <a:spcAft>
          <a:spcPct val="0"/>
        </a:spcAft>
        <a:defRPr sz="5400">
          <a:solidFill>
            <a:schemeClr val="tx1"/>
          </a:solidFill>
          <a:latin typeface="Calibri" panose="020F0502020204030204" pitchFamily="34" charset="0"/>
        </a:defRPr>
      </a:lvl8pPr>
      <a:lvl9pPr marL="1828800" algn="l" rtl="0" eaLnBrk="1" fontAlgn="base" hangingPunct="1">
        <a:lnSpc>
          <a:spcPct val="85000"/>
        </a:lnSpc>
        <a:spcBef>
          <a:spcPct val="0"/>
        </a:spcBef>
        <a:spcAft>
          <a:spcPct val="0"/>
        </a:spcAft>
        <a:defRPr sz="5400">
          <a:solidFill>
            <a:schemeClr val="tx1"/>
          </a:solidFill>
          <a:latin typeface="Calibri" panose="020F0502020204030204" pitchFamily="34" charset="0"/>
        </a:defRPr>
      </a:lvl9pPr>
    </p:titleStyle>
    <p:body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5.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4.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6.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5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7.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5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0.xml"/><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1.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3.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6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4.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
          <p:cNvSpPr txBox="1">
            <a:spLocks noGrp="1"/>
          </p:cNvSpPr>
          <p:nvPr>
            <p:ph type="ctr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4A6617"/>
              </a:buClr>
              <a:buSzPts val="3300"/>
              <a:buFont typeface="Calibri"/>
              <a:buNone/>
            </a:pPr>
            <a:r>
              <a:rPr lang="es-AR" dirty="0"/>
              <a:t>Ingeniería de Software II</a:t>
            </a:r>
            <a:endParaRPr dirty="0"/>
          </a:p>
        </p:txBody>
      </p:sp>
      <p:sp>
        <p:nvSpPr>
          <p:cNvPr id="112" name="Google Shape;112;p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s-AR" dirty="0"/>
              <a:t>2026 – CLASE 6</a:t>
            </a:r>
            <a:endParaRPr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4" name="Google Shape;134;p2"/>
          <p:cNvSpPr/>
          <p:nvPr/>
        </p:nvSpPr>
        <p:spPr>
          <a:xfrm>
            <a:off x="5955542" y="6509477"/>
            <a:ext cx="2107590" cy="30485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96" tIns="44636" rIns="89296" bIns="44636" anchor="t" anchorCtr="0">
            <a:noAutofit/>
          </a:bodyPr>
          <a:lstStyle/>
          <a:p>
            <a:pPr>
              <a:spcBef>
                <a:spcPts val="0"/>
              </a:spcBef>
              <a:spcAft>
                <a:spcPts val="0"/>
              </a:spcAft>
              <a:buClr>
                <a:srgbClr val="000000"/>
              </a:buClr>
              <a:buSzPts val="1400"/>
            </a:pPr>
            <a:endParaRPr sz="1367">
              <a:solidFill>
                <a:srgbClr val="000000"/>
              </a:solidFill>
              <a:latin typeface="Arial"/>
              <a:ea typeface="Arial"/>
              <a:cs typeface="Arial"/>
              <a:sym typeface="Arial"/>
            </a:endParaRPr>
          </a:p>
        </p:txBody>
      </p:sp>
      <p:sp>
        <p:nvSpPr>
          <p:cNvPr id="135" name="Google Shape;135;p2"/>
          <p:cNvSpPr/>
          <p:nvPr/>
        </p:nvSpPr>
        <p:spPr>
          <a:xfrm>
            <a:off x="1222279" y="1859038"/>
            <a:ext cx="9902083" cy="4478188"/>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nSpc>
                <a:spcPct val="85000"/>
              </a:lnSpc>
              <a:spcBef>
                <a:spcPts val="1642"/>
              </a:spcBef>
              <a:spcAft>
                <a:spcPts val="0"/>
              </a:spcAft>
              <a:buClr>
                <a:srgbClr val="C00000"/>
              </a:buClr>
              <a:buSzPts val="3600"/>
              <a:buFont typeface="Noto Sans Symbols"/>
              <a:buChar char="❖"/>
            </a:pPr>
            <a:r>
              <a:rPr lang="es-AR" sz="3516" dirty="0">
                <a:latin typeface="Calibri"/>
                <a:cs typeface="Calibri"/>
                <a:sym typeface="Calibri"/>
              </a:rPr>
              <a:t>Diseño Arquitectónico</a:t>
            </a:r>
          </a:p>
          <a:p>
            <a:pPr marL="900113" lvl="1" indent="-369888">
              <a:lnSpc>
                <a:spcPct val="85000"/>
              </a:lnSpc>
              <a:spcBef>
                <a:spcPts val="1642"/>
              </a:spcBef>
              <a:buClrTx/>
              <a:buSzPct val="100000"/>
              <a:buFont typeface="Arial" panose="020B0604020202020204" pitchFamily="34" charset="0"/>
              <a:buChar char="•"/>
            </a:pPr>
            <a:r>
              <a:rPr lang="es-AR" sz="3200" dirty="0">
                <a:latin typeface="+mn-lt"/>
              </a:rPr>
              <a:t>Aspectos del Diseño Arquitectónico</a:t>
            </a:r>
            <a:endParaRPr lang="es-AR" sz="3200" dirty="0">
              <a:latin typeface="+mn-lt"/>
              <a:cs typeface="Calibri"/>
              <a:sym typeface="Calibri"/>
            </a:endParaRPr>
          </a:p>
          <a:p>
            <a:pPr marL="558360" indent="-558360">
              <a:lnSpc>
                <a:spcPct val="85000"/>
              </a:lnSpc>
              <a:spcBef>
                <a:spcPts val="1642"/>
              </a:spcBef>
              <a:spcAft>
                <a:spcPts val="0"/>
              </a:spcAft>
              <a:buClr>
                <a:srgbClr val="C00000"/>
              </a:buClr>
              <a:buSzPts val="3600"/>
              <a:buFont typeface="Noto Sans Symbols"/>
              <a:buChar char="❖"/>
            </a:pPr>
            <a:r>
              <a:rPr lang="es-AR" sz="3516" dirty="0">
                <a:latin typeface="Calibri"/>
                <a:cs typeface="Calibri"/>
                <a:sym typeface="Calibri"/>
              </a:rPr>
              <a:t>Codificación</a:t>
            </a:r>
          </a:p>
          <a:p>
            <a:pPr marL="558360" indent="-558360">
              <a:lnSpc>
                <a:spcPct val="85000"/>
              </a:lnSpc>
              <a:spcBef>
                <a:spcPts val="1642"/>
              </a:spcBef>
              <a:spcAft>
                <a:spcPts val="0"/>
              </a:spcAft>
              <a:buClr>
                <a:srgbClr val="C00000"/>
              </a:buClr>
              <a:buSzPts val="3600"/>
              <a:buFont typeface="Noto Sans Symbols"/>
              <a:buChar char="❖"/>
            </a:pPr>
            <a:endParaRPr sz="3516" dirty="0">
              <a:solidFill>
                <a:srgbClr val="000000"/>
              </a:solidFill>
              <a:latin typeface="Arial"/>
              <a:ea typeface="Arial"/>
              <a:cs typeface="Arial"/>
              <a:sym typeface="Arial"/>
            </a:endParaRPr>
          </a:p>
          <a:p>
            <a:pPr>
              <a:lnSpc>
                <a:spcPct val="85000"/>
              </a:lnSpc>
              <a:spcBef>
                <a:spcPts val="1642"/>
              </a:spcBef>
              <a:spcAft>
                <a:spcPts val="0"/>
              </a:spcAft>
              <a:buClr>
                <a:srgbClr val="000000"/>
              </a:buClr>
              <a:buSzPts val="3600"/>
            </a:pPr>
            <a:endParaRPr sz="3516" dirty="0">
              <a:solidFill>
                <a:srgbClr val="000000"/>
              </a:solidFill>
              <a:latin typeface="Arial"/>
              <a:ea typeface="Arial"/>
              <a:cs typeface="Arial"/>
              <a:sym typeface="Arial"/>
            </a:endParaRPr>
          </a:p>
        </p:txBody>
      </p:sp>
      <p:sp>
        <p:nvSpPr>
          <p:cNvPr id="136" name="Google Shape;136;p2"/>
          <p:cNvSpPr txBox="1">
            <a:spLocks noGrp="1"/>
          </p:cNvSpPr>
          <p:nvPr>
            <p:ph type="title"/>
          </p:nvPr>
        </p:nvSpPr>
        <p:spPr>
          <a:xfrm>
            <a:off x="1222279" y="287339"/>
            <a:ext cx="9806257" cy="1449387"/>
          </a:xfrm>
          <a:prstGeom prst="rect">
            <a:avLst/>
          </a:prstGeom>
          <a:noFill/>
          <a:ln>
            <a:noFill/>
          </a:ln>
        </p:spPr>
        <p:txBody>
          <a:bodyPr spcFirstLastPara="1" vert="horz" wrap="square" lIns="89296" tIns="44636" rIns="89296" bIns="44636" rtlCol="0" anchor="b" anchorCtr="0">
            <a:noAutofit/>
          </a:bodyPr>
          <a:lstStyle/>
          <a:p>
            <a:pPr>
              <a:spcBef>
                <a:spcPts val="0"/>
              </a:spcBef>
              <a:spcAft>
                <a:spcPts val="0"/>
              </a:spcAft>
            </a:pPr>
            <a:r>
              <a:rPr lang="es-AR"/>
              <a:t>Contenidos</a:t>
            </a:r>
            <a:endParaRPr/>
          </a:p>
        </p:txBody>
      </p:sp>
      <p:sp>
        <p:nvSpPr>
          <p:cNvPr id="137" name="Google Shape;137;p2"/>
          <p:cNvSpPr txBox="1">
            <a:spLocks noGrp="1"/>
          </p:cNvSpPr>
          <p:nvPr>
            <p:ph type="dt" idx="10"/>
          </p:nvPr>
        </p:nvSpPr>
        <p:spPr>
          <a:xfrm>
            <a:off x="1222279" y="6459540"/>
            <a:ext cx="2411324" cy="365125"/>
          </a:xfrm>
          <a:prstGeom prst="rect">
            <a:avLst/>
          </a:prstGeom>
          <a:noFill/>
          <a:ln>
            <a:noFill/>
          </a:ln>
        </p:spPr>
        <p:txBody>
          <a:bodyPr spcFirstLastPara="1" vert="horz" wrap="square" lIns="89296" tIns="44636" rIns="89296" bIns="44636" rtlCol="0" anchor="ctr" anchorCtr="0">
            <a:noAutofit/>
          </a:bodyPr>
          <a:lstStyle/>
          <a:p>
            <a:r>
              <a:rPr lang="es-ES"/>
              <a:t>2026</a:t>
            </a:r>
            <a:endParaRPr/>
          </a:p>
        </p:txBody>
      </p:sp>
      <p:sp>
        <p:nvSpPr>
          <p:cNvPr id="138" name="Google Shape;138;p2"/>
          <p:cNvSpPr txBox="1">
            <a:spLocks noGrp="1"/>
          </p:cNvSpPr>
          <p:nvPr>
            <p:ph type="ftr" idx="11"/>
          </p:nvPr>
        </p:nvSpPr>
        <p:spPr>
          <a:xfrm>
            <a:off x="3746586" y="6459540"/>
            <a:ext cx="4701927" cy="365125"/>
          </a:xfrm>
          <a:prstGeom prst="rect">
            <a:avLst/>
          </a:prstGeom>
          <a:noFill/>
          <a:ln>
            <a:noFill/>
          </a:ln>
        </p:spPr>
        <p:txBody>
          <a:bodyPr spcFirstLastPara="1" vert="horz" wrap="square" lIns="89296" tIns="44636" rIns="89296" bIns="44636" rtlCol="0" anchor="ctr" anchorCtr="0">
            <a:noAutofit/>
          </a:bodyPr>
          <a:lstStyle/>
          <a:p>
            <a:r>
              <a:rPr lang="es-AR"/>
              <a:t>Ingeniería de Software II</a:t>
            </a:r>
            <a:endParaRPr/>
          </a:p>
        </p:txBody>
      </p:sp>
      <p:sp>
        <p:nvSpPr>
          <p:cNvPr id="139" name="Google Shape;139;p2"/>
          <p:cNvSpPr txBox="1">
            <a:spLocks noGrp="1"/>
          </p:cNvSpPr>
          <p:nvPr>
            <p:ph type="sldNum" idx="12"/>
          </p:nvPr>
        </p:nvSpPr>
        <p:spPr>
          <a:xfrm>
            <a:off x="9805850" y="6459540"/>
            <a:ext cx="1278405" cy="365125"/>
          </a:xfrm>
          <a:prstGeom prst="rect">
            <a:avLst/>
          </a:prstGeom>
          <a:noFill/>
          <a:ln>
            <a:noFill/>
          </a:ln>
        </p:spPr>
        <p:txBody>
          <a:bodyPr spcFirstLastPara="1" vert="horz" wrap="square" lIns="89296" tIns="44636" rIns="89296" bIns="44636" rtlCol="0" anchor="ctr" anchorCtr="0">
            <a:noAutofit/>
          </a:bodyPr>
          <a:lstStyle/>
          <a:p>
            <a:pPr>
              <a:buSzPts val="1000"/>
            </a:pPr>
            <a:fld id="{00000000-1234-1234-1234-123412341234}" type="slidenum">
              <a:rPr lang="es-AR"/>
              <a:pPr>
                <a:buSzPts val="1000"/>
              </a:pPr>
              <a:t>2</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2"/>
          <p:cNvSpPr txBox="1">
            <a:spLocks noGrp="1"/>
          </p:cNvSpPr>
          <p:nvPr>
            <p:ph type="title"/>
          </p:nvPr>
        </p:nvSpPr>
        <p:spPr>
          <a:xfrm>
            <a:off x="457199" y="1621409"/>
            <a:ext cx="3464351" cy="1258949"/>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rgbClr val="4A6617"/>
              </a:buClr>
              <a:buSzPts val="4000"/>
              <a:buFont typeface="Calibri"/>
              <a:buNone/>
            </a:pPr>
            <a:r>
              <a:rPr lang="es-ES" dirty="0"/>
              <a:t>Diseño Arquitectónico</a:t>
            </a:r>
            <a:endParaRPr dirty="0"/>
          </a:p>
        </p:txBody>
      </p:sp>
      <p:sp>
        <p:nvSpPr>
          <p:cNvPr id="2" name="Marcador de contenido 1">
            <a:extLst>
              <a:ext uri="{FF2B5EF4-FFF2-40B4-BE49-F238E27FC236}">
                <a16:creationId xmlns:a16="http://schemas.microsoft.com/office/drawing/2014/main" id="{13C9C5FC-DC5F-330B-D9AC-55AC661257FA}"/>
              </a:ext>
            </a:extLst>
          </p:cNvPr>
          <p:cNvSpPr>
            <a:spLocks noGrp="1"/>
          </p:cNvSpPr>
          <p:nvPr>
            <p:ph idx="1"/>
          </p:nvPr>
        </p:nvSpPr>
        <p:spPr>
          <a:xfrm>
            <a:off x="4666268" y="731520"/>
            <a:ext cx="6822726" cy="5257800"/>
          </a:xfrm>
        </p:spPr>
        <p:txBody>
          <a:bodyPr/>
          <a:lstStyle/>
          <a:p>
            <a:pPr marL="442913" indent="-442913" algn="just">
              <a:buClr>
                <a:srgbClr val="C00000"/>
              </a:buClr>
              <a:buFont typeface="Wingdings" panose="05000000000000000000" pitchFamily="2" charset="2"/>
              <a:buChar char="v"/>
            </a:pPr>
            <a:r>
              <a:rPr lang="es-ES" sz="2400" dirty="0">
                <a:solidFill>
                  <a:schemeClr val="tx1"/>
                </a:solidFill>
              </a:rPr>
              <a:t>Define la relación entre los elementos estructurales, para lograr los requisitos del sistema.</a:t>
            </a:r>
          </a:p>
          <a:p>
            <a:pPr marL="442913" indent="-442913" algn="just">
              <a:buClr>
                <a:srgbClr val="C00000"/>
              </a:buClr>
              <a:buFont typeface="Wingdings" panose="05000000000000000000" pitchFamily="2" charset="2"/>
              <a:buChar char="v"/>
            </a:pPr>
            <a:r>
              <a:rPr lang="es-ES" sz="2400" dirty="0">
                <a:solidFill>
                  <a:schemeClr val="tx1"/>
                </a:solidFill>
              </a:rPr>
              <a:t>Es el proceso de identificar los subsistemas dentro del sistema y establecer el marco de control y comunicación entre ellos.</a:t>
            </a:r>
          </a:p>
          <a:p>
            <a:pPr marL="442913" indent="-442913" algn="just">
              <a:buClr>
                <a:srgbClr val="C00000"/>
              </a:buClr>
              <a:buFont typeface="Wingdings" panose="05000000000000000000" pitchFamily="2" charset="2"/>
              <a:buChar char="v"/>
            </a:pPr>
            <a:r>
              <a:rPr lang="es-ES" sz="2400" dirty="0">
                <a:solidFill>
                  <a:schemeClr val="tx1"/>
                </a:solidFill>
              </a:rPr>
              <a:t>Los grandes sistemas se dividen en subsistemas que proporcionan algún conjunto de servicios relacionados.</a:t>
            </a:r>
          </a:p>
          <a:p>
            <a:pPr algn="just"/>
            <a:endParaRPr lang="es-ES" sz="2400" dirty="0">
              <a:solidFill>
                <a:schemeClr val="tx1"/>
              </a:solidFill>
            </a:endParaRPr>
          </a:p>
        </p:txBody>
      </p:sp>
      <p:sp>
        <p:nvSpPr>
          <p:cNvPr id="71" name="Google Shape;71;p2"/>
          <p:cNvSpPr txBox="1">
            <a:spLocks noGrp="1"/>
          </p:cNvSpPr>
          <p:nvPr>
            <p:ph type="body" sz="half" idx="2"/>
          </p:nvPr>
        </p:nvSpPr>
        <p:spPr>
          <a:prstGeom prst="rect">
            <a:avLst/>
          </a:prstGeom>
          <a:noFill/>
          <a:ln>
            <a:noFill/>
          </a:ln>
        </p:spPr>
        <p:txBody>
          <a:bodyPr spcFirstLastPara="1" wrap="square" lIns="91425" tIns="45700" rIns="91425" bIns="45700" anchor="t" anchorCtr="0">
            <a:normAutofit/>
          </a:bodyPr>
          <a:lstStyle/>
          <a:p>
            <a:pPr marL="91440" lvl="0" indent="-91440" algn="just" rtl="0">
              <a:lnSpc>
                <a:spcPct val="85000"/>
              </a:lnSpc>
              <a:spcBef>
                <a:spcPts val="0"/>
              </a:spcBef>
              <a:spcAft>
                <a:spcPts val="0"/>
              </a:spcAft>
              <a:buSzPts val="2400"/>
              <a:buChar char="»"/>
            </a:pPr>
            <a:endParaRPr lang="es-ES" dirty="0"/>
          </a:p>
          <a:p>
            <a:pPr marL="91440" lvl="0" indent="0" algn="just" rtl="0">
              <a:lnSpc>
                <a:spcPct val="85000"/>
              </a:lnSpc>
              <a:spcBef>
                <a:spcPts val="1300"/>
              </a:spcBef>
              <a:spcAft>
                <a:spcPts val="0"/>
              </a:spcAft>
              <a:buSzPts val="2400"/>
              <a:buNone/>
            </a:pPr>
            <a:endParaRPr i="1" dirty="0"/>
          </a:p>
          <a:p>
            <a:pPr marL="91440" lvl="0" indent="0" algn="just" rtl="0">
              <a:lnSpc>
                <a:spcPct val="85000"/>
              </a:lnSpc>
              <a:spcBef>
                <a:spcPts val="1300"/>
              </a:spcBef>
              <a:spcAft>
                <a:spcPts val="0"/>
              </a:spcAft>
              <a:buSzPts val="2400"/>
              <a:buNone/>
            </a:pPr>
            <a:endParaRPr i="1" dirty="0"/>
          </a:p>
        </p:txBody>
      </p:sp>
      <p:sp>
        <p:nvSpPr>
          <p:cNvPr id="70" name="Google Shape;70;p2"/>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300"/>
              <a:buNone/>
            </a:pPr>
            <a:fld id="{00000000-1234-1234-1234-123412341234}" type="slidenum">
              <a:rPr lang="es-ES"/>
              <a:t>3</a:t>
            </a:fld>
            <a:endParaRPr/>
          </a:p>
        </p:txBody>
      </p:sp>
      <p:sp>
        <p:nvSpPr>
          <p:cNvPr id="3" name="Marcador de fecha 2">
            <a:extLst>
              <a:ext uri="{FF2B5EF4-FFF2-40B4-BE49-F238E27FC236}">
                <a16:creationId xmlns:a16="http://schemas.microsoft.com/office/drawing/2014/main" id="{356F7BD2-D733-A0CA-B584-F8793AC6D5E3}"/>
              </a:ext>
            </a:extLst>
          </p:cNvPr>
          <p:cNvSpPr>
            <a:spLocks noGrp="1"/>
          </p:cNvSpPr>
          <p:nvPr>
            <p:ph type="dt" sz="half" idx="10"/>
          </p:nvPr>
        </p:nvSpPr>
        <p:spPr/>
        <p:txBody>
          <a:bodyPr/>
          <a:lstStyle/>
          <a:p>
            <a:r>
              <a:rPr lang="es-ES"/>
              <a:t>2026</a:t>
            </a:r>
          </a:p>
        </p:txBody>
      </p:sp>
      <p:sp>
        <p:nvSpPr>
          <p:cNvPr id="4" name="Marcador de pie de página 3">
            <a:extLst>
              <a:ext uri="{FF2B5EF4-FFF2-40B4-BE49-F238E27FC236}">
                <a16:creationId xmlns:a16="http://schemas.microsoft.com/office/drawing/2014/main" id="{405E5CBE-62BE-0507-53AD-6C39430487C6}"/>
              </a:ext>
            </a:extLst>
          </p:cNvPr>
          <p:cNvSpPr>
            <a:spLocks noGrp="1"/>
          </p:cNvSpPr>
          <p:nvPr>
            <p:ph type="ftr" sz="quarter" idx="11"/>
          </p:nvPr>
        </p:nvSpPr>
        <p:spPr/>
        <p:txBody>
          <a:bodyPr/>
          <a:lstStyle/>
          <a:p>
            <a:r>
              <a:rPr lang="es-AR"/>
              <a:t>Ingeniería de Software II</a:t>
            </a:r>
          </a:p>
        </p:txBody>
      </p:sp>
      <p:grpSp>
        <p:nvGrpSpPr>
          <p:cNvPr id="7" name="Grupo 6">
            <a:extLst>
              <a:ext uri="{FF2B5EF4-FFF2-40B4-BE49-F238E27FC236}">
                <a16:creationId xmlns:a16="http://schemas.microsoft.com/office/drawing/2014/main" id="{93BB0FEA-F484-59CC-0D85-CD4D8A92234B}"/>
              </a:ext>
            </a:extLst>
          </p:cNvPr>
          <p:cNvGrpSpPr/>
          <p:nvPr/>
        </p:nvGrpSpPr>
        <p:grpSpPr>
          <a:xfrm>
            <a:off x="6414027" y="3807515"/>
            <a:ext cx="4043441" cy="2844007"/>
            <a:chOff x="6160791" y="1987261"/>
            <a:chExt cx="4939054" cy="3745955"/>
          </a:xfrm>
        </p:grpSpPr>
        <p:pic>
          <p:nvPicPr>
            <p:cNvPr id="124" name="Google Shape;124;p2"/>
            <p:cNvPicPr preferRelativeResize="0"/>
            <p:nvPr/>
          </p:nvPicPr>
          <p:blipFill rotWithShape="1">
            <a:blip r:embed="rId3">
              <a:alphaModFix/>
            </a:blip>
            <a:srcRect/>
            <a:stretch/>
          </p:blipFill>
          <p:spPr>
            <a:xfrm>
              <a:off x="6160791" y="1987261"/>
              <a:ext cx="4939054" cy="3745955"/>
            </a:xfrm>
            <a:prstGeom prst="rect">
              <a:avLst/>
            </a:prstGeom>
            <a:noFill/>
            <a:ln>
              <a:noFill/>
            </a:ln>
          </p:spPr>
        </p:pic>
        <p:sp>
          <p:nvSpPr>
            <p:cNvPr id="125" name="Google Shape;125;p2"/>
            <p:cNvSpPr/>
            <p:nvPr/>
          </p:nvSpPr>
          <p:spPr>
            <a:xfrm>
              <a:off x="8011236" y="2798017"/>
              <a:ext cx="2838734" cy="750399"/>
            </a:xfrm>
            <a:prstGeom prst="rect">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 name="Google Shape;126;p2"/>
            <p:cNvSpPr/>
            <p:nvPr/>
          </p:nvSpPr>
          <p:spPr>
            <a:xfrm>
              <a:off x="7246245" y="3860238"/>
              <a:ext cx="1583856" cy="1872978"/>
            </a:xfrm>
            <a:prstGeom prst="rect">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4"/>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Diseño Arquitectónico</a:t>
            </a:r>
            <a:endParaRPr dirty="0"/>
          </a:p>
        </p:txBody>
      </p:sp>
      <p:sp>
        <p:nvSpPr>
          <p:cNvPr id="2" name="Marcador de fecha 1">
            <a:extLst>
              <a:ext uri="{FF2B5EF4-FFF2-40B4-BE49-F238E27FC236}">
                <a16:creationId xmlns:a16="http://schemas.microsoft.com/office/drawing/2014/main" id="{7CD03B27-A68C-0ED1-B08E-4B794D6A46AE}"/>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0C1D3F5-CBEC-0AE5-8647-6D8872784E1E}"/>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05F85679-6D44-BE88-B30F-B06FC28076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a:t>
            </a:fld>
            <a:endParaRPr lang="es-AR"/>
          </a:p>
        </p:txBody>
      </p:sp>
      <p:sp>
        <p:nvSpPr>
          <p:cNvPr id="134" name="Google Shape;134;p4"/>
          <p:cNvSpPr txBox="1">
            <a:spLocks noGrp="1"/>
          </p:cNvSpPr>
          <p:nvPr>
            <p:ph type="body" idx="4294967295"/>
          </p:nvPr>
        </p:nvSpPr>
        <p:spPr>
          <a:xfrm>
            <a:off x="1030289" y="1958360"/>
            <a:ext cx="6137428"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0"/>
              </a:spcAft>
              <a:buClr>
                <a:srgbClr val="C00000"/>
              </a:buClr>
              <a:buFont typeface="Noto Sans Symbols"/>
              <a:buChar char="❖"/>
            </a:pPr>
            <a:r>
              <a:rPr lang="es-ES" sz="2800" dirty="0">
                <a:solidFill>
                  <a:schemeClr val="tx1"/>
                </a:solidFill>
              </a:rPr>
              <a:t>En la figura se presenta un modelo abstracto de la arquitectura para un sistema de robot de empaquetado, que indica los componentes que tienen que desarrollarse.</a:t>
            </a:r>
          </a:p>
          <a:p>
            <a:pPr marL="0" lvl="0" indent="0" algn="just">
              <a:lnSpc>
                <a:spcPct val="85000"/>
              </a:lnSpc>
              <a:spcBef>
                <a:spcPts val="0"/>
              </a:spcBef>
              <a:spcAft>
                <a:spcPts val="0"/>
              </a:spcAft>
              <a:buClr>
                <a:srgbClr val="C00000"/>
              </a:buClr>
              <a:buNone/>
            </a:pPr>
            <a:endParaRPr lang="es-ES" sz="2800" dirty="0">
              <a:solidFill>
                <a:schemeClr val="tx1"/>
              </a:solidFill>
            </a:endParaRPr>
          </a:p>
          <a:p>
            <a:pPr marL="530225" lvl="0" indent="-530225" algn="just">
              <a:lnSpc>
                <a:spcPct val="85000"/>
              </a:lnSpc>
              <a:spcBef>
                <a:spcPts val="0"/>
              </a:spcBef>
              <a:spcAft>
                <a:spcPts val="0"/>
              </a:spcAft>
              <a:buClr>
                <a:srgbClr val="C00000"/>
              </a:buClr>
              <a:buFont typeface="Noto Sans Symbols"/>
              <a:buChar char="❖"/>
            </a:pPr>
            <a:r>
              <a:rPr lang="es-ES" sz="2800" dirty="0">
                <a:solidFill>
                  <a:schemeClr val="tx1"/>
                </a:solidFill>
              </a:rPr>
              <a:t>El modelo arquitectónico presenta dichos componentes y los vínculos entre ellos.</a:t>
            </a:r>
          </a:p>
          <a:p>
            <a:pPr marL="0" lvl="0" indent="0" algn="just">
              <a:lnSpc>
                <a:spcPct val="85000"/>
              </a:lnSpc>
              <a:spcBef>
                <a:spcPts val="0"/>
              </a:spcBef>
              <a:spcAft>
                <a:spcPts val="0"/>
              </a:spcAft>
              <a:buClr>
                <a:srgbClr val="C00000"/>
              </a:buClr>
              <a:buNone/>
            </a:pPr>
            <a:endParaRPr sz="2800" dirty="0">
              <a:solidFill>
                <a:schemeClr val="tx1"/>
              </a:solidFill>
            </a:endParaRPr>
          </a:p>
        </p:txBody>
      </p:sp>
      <p:grpSp>
        <p:nvGrpSpPr>
          <p:cNvPr id="6" name="Grupo 5">
            <a:extLst>
              <a:ext uri="{FF2B5EF4-FFF2-40B4-BE49-F238E27FC236}">
                <a16:creationId xmlns:a16="http://schemas.microsoft.com/office/drawing/2014/main" id="{CBCBBABB-BBD7-FEF2-FA55-E44E11AA5FF1}"/>
              </a:ext>
            </a:extLst>
          </p:cNvPr>
          <p:cNvGrpSpPr/>
          <p:nvPr/>
        </p:nvGrpSpPr>
        <p:grpSpPr>
          <a:xfrm>
            <a:off x="7167716" y="1958361"/>
            <a:ext cx="4617107" cy="3528040"/>
            <a:chOff x="6160791" y="1987261"/>
            <a:chExt cx="4939054" cy="3745955"/>
          </a:xfrm>
        </p:grpSpPr>
        <p:pic>
          <p:nvPicPr>
            <p:cNvPr id="7" name="Google Shape;124;p2">
              <a:extLst>
                <a:ext uri="{FF2B5EF4-FFF2-40B4-BE49-F238E27FC236}">
                  <a16:creationId xmlns:a16="http://schemas.microsoft.com/office/drawing/2014/main" id="{D5D71BF0-A18D-A5AF-FCB9-E0AC0F5D067F}"/>
                </a:ext>
              </a:extLst>
            </p:cNvPr>
            <p:cNvPicPr preferRelativeResize="0"/>
            <p:nvPr/>
          </p:nvPicPr>
          <p:blipFill rotWithShape="1">
            <a:blip r:embed="rId3">
              <a:alphaModFix/>
            </a:blip>
            <a:srcRect/>
            <a:stretch/>
          </p:blipFill>
          <p:spPr>
            <a:xfrm>
              <a:off x="6160791" y="1987261"/>
              <a:ext cx="4939054" cy="3745955"/>
            </a:xfrm>
            <a:prstGeom prst="rect">
              <a:avLst/>
            </a:prstGeom>
            <a:noFill/>
            <a:ln>
              <a:noFill/>
            </a:ln>
          </p:spPr>
        </p:pic>
        <p:sp>
          <p:nvSpPr>
            <p:cNvPr id="8" name="Google Shape;125;p2">
              <a:extLst>
                <a:ext uri="{FF2B5EF4-FFF2-40B4-BE49-F238E27FC236}">
                  <a16:creationId xmlns:a16="http://schemas.microsoft.com/office/drawing/2014/main" id="{A58A9526-DA74-FE71-8B3E-D36AA8B2F3BB}"/>
                </a:ext>
              </a:extLst>
            </p:cNvPr>
            <p:cNvSpPr/>
            <p:nvPr/>
          </p:nvSpPr>
          <p:spPr>
            <a:xfrm>
              <a:off x="8011236" y="2798017"/>
              <a:ext cx="2838734" cy="750399"/>
            </a:xfrm>
            <a:prstGeom prst="rect">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 name="Google Shape;126;p2">
              <a:extLst>
                <a:ext uri="{FF2B5EF4-FFF2-40B4-BE49-F238E27FC236}">
                  <a16:creationId xmlns:a16="http://schemas.microsoft.com/office/drawing/2014/main" id="{FD3F06E1-6083-CA57-25C8-0D93937952F9}"/>
                </a:ext>
              </a:extLst>
            </p:cNvPr>
            <p:cNvSpPr/>
            <p:nvPr/>
          </p:nvSpPr>
          <p:spPr>
            <a:xfrm>
              <a:off x="7246245" y="3860238"/>
              <a:ext cx="1583856" cy="1872978"/>
            </a:xfrm>
            <a:prstGeom prst="rect">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7EA65C0-2411-1067-42D7-6BD557AC8237}"/>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4C9E79A-00A6-BF21-609E-D62D3AD2559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Diseño Arquitectónico</a:t>
            </a:r>
            <a:endParaRPr dirty="0"/>
          </a:p>
        </p:txBody>
      </p:sp>
      <p:sp>
        <p:nvSpPr>
          <p:cNvPr id="2" name="Marcador de fecha 1">
            <a:extLst>
              <a:ext uri="{FF2B5EF4-FFF2-40B4-BE49-F238E27FC236}">
                <a16:creationId xmlns:a16="http://schemas.microsoft.com/office/drawing/2014/main" id="{1BD3FDA7-9416-2C95-AC00-5452F0C3EF4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8C5423D-E506-46CE-5517-89746045B18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A2A81DA-A0A7-DE6D-F3DA-D654D382DD5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a:t>
            </a:fld>
            <a:endParaRPr lang="es-AR"/>
          </a:p>
        </p:txBody>
      </p:sp>
      <p:sp>
        <p:nvSpPr>
          <p:cNvPr id="134" name="Google Shape;134;p4">
            <a:extLst>
              <a:ext uri="{FF2B5EF4-FFF2-40B4-BE49-F238E27FC236}">
                <a16:creationId xmlns:a16="http://schemas.microsoft.com/office/drawing/2014/main" id="{07C26198-6D67-0552-B291-2A18D63CCD34}"/>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0"/>
              </a:spcAft>
              <a:buClr>
                <a:srgbClr val="C00000"/>
              </a:buClr>
              <a:buFont typeface="Noto Sans Symbols"/>
              <a:buChar char="❖"/>
            </a:pPr>
            <a:r>
              <a:rPr lang="es-ES" sz="2800" dirty="0">
                <a:solidFill>
                  <a:schemeClr val="tx1"/>
                </a:solidFill>
              </a:rPr>
              <a:t>La arquitectura afecta directamente a los requerimientos no funcionales más CRÍTICOS:</a:t>
            </a:r>
          </a:p>
          <a:p>
            <a:pPr marL="811213" lvl="0" indent="-280988" algn="just">
              <a:lnSpc>
                <a:spcPct val="85000"/>
              </a:lnSpc>
              <a:spcBef>
                <a:spcPts val="600"/>
              </a:spcBef>
              <a:spcAft>
                <a:spcPts val="600"/>
              </a:spcAft>
              <a:buClr>
                <a:srgbClr val="C00000"/>
              </a:buClr>
              <a:buFont typeface="Calibri" panose="020F0502020204030204" pitchFamily="34" charset="0"/>
              <a:buChar char="»"/>
              <a:tabLst>
                <a:tab pos="900113" algn="l"/>
              </a:tabLst>
            </a:pPr>
            <a:r>
              <a:rPr lang="es-ES" sz="2800" dirty="0">
                <a:solidFill>
                  <a:schemeClr val="tx1"/>
                </a:solidFill>
              </a:rPr>
              <a:t>Rendimiento</a:t>
            </a:r>
          </a:p>
          <a:p>
            <a:pPr marL="811213" lvl="0" indent="-280988" algn="just">
              <a:lnSpc>
                <a:spcPct val="85000"/>
              </a:lnSpc>
              <a:spcBef>
                <a:spcPts val="600"/>
              </a:spcBef>
              <a:spcAft>
                <a:spcPts val="600"/>
              </a:spcAft>
              <a:buClr>
                <a:srgbClr val="C00000"/>
              </a:buClr>
              <a:buFont typeface="Calibri" panose="020F0502020204030204" pitchFamily="34" charset="0"/>
              <a:buChar char="»"/>
              <a:tabLst>
                <a:tab pos="900113" algn="l"/>
              </a:tabLst>
            </a:pPr>
            <a:r>
              <a:rPr lang="es-ES" sz="2800" dirty="0">
                <a:solidFill>
                  <a:schemeClr val="tx1"/>
                </a:solidFill>
              </a:rPr>
              <a:t>Protección</a:t>
            </a:r>
          </a:p>
          <a:p>
            <a:pPr marL="811213" lvl="0" indent="-280988" algn="just">
              <a:lnSpc>
                <a:spcPct val="85000"/>
              </a:lnSpc>
              <a:spcBef>
                <a:spcPts val="600"/>
              </a:spcBef>
              <a:spcAft>
                <a:spcPts val="600"/>
              </a:spcAft>
              <a:buClr>
                <a:srgbClr val="C00000"/>
              </a:buClr>
              <a:buFont typeface="Calibri" panose="020F0502020204030204" pitchFamily="34" charset="0"/>
              <a:buChar char="»"/>
              <a:tabLst>
                <a:tab pos="900113" algn="l"/>
              </a:tabLst>
            </a:pPr>
            <a:r>
              <a:rPr lang="es-ES" sz="2800" dirty="0">
                <a:solidFill>
                  <a:schemeClr val="tx1"/>
                </a:solidFill>
              </a:rPr>
              <a:t>Seguridad</a:t>
            </a:r>
          </a:p>
          <a:p>
            <a:pPr marL="811213" lvl="0" indent="-280988" algn="just">
              <a:lnSpc>
                <a:spcPct val="85000"/>
              </a:lnSpc>
              <a:spcBef>
                <a:spcPts val="600"/>
              </a:spcBef>
              <a:spcAft>
                <a:spcPts val="600"/>
              </a:spcAft>
              <a:buClr>
                <a:srgbClr val="C00000"/>
              </a:buClr>
              <a:buFont typeface="Calibri" panose="020F0502020204030204" pitchFamily="34" charset="0"/>
              <a:buChar char="»"/>
              <a:tabLst>
                <a:tab pos="900113" algn="l"/>
              </a:tabLst>
            </a:pPr>
            <a:r>
              <a:rPr lang="es-ES" sz="2800" dirty="0">
                <a:solidFill>
                  <a:schemeClr val="tx1"/>
                </a:solidFill>
              </a:rPr>
              <a:t>Disponibilidad</a:t>
            </a:r>
          </a:p>
          <a:p>
            <a:pPr marL="811213" lvl="0" indent="-280988" algn="just">
              <a:lnSpc>
                <a:spcPct val="85000"/>
              </a:lnSpc>
              <a:spcBef>
                <a:spcPts val="600"/>
              </a:spcBef>
              <a:spcAft>
                <a:spcPts val="600"/>
              </a:spcAft>
              <a:buClr>
                <a:srgbClr val="C00000"/>
              </a:buClr>
              <a:buFont typeface="Calibri" panose="020F0502020204030204" pitchFamily="34" charset="0"/>
              <a:buChar char="»"/>
              <a:tabLst>
                <a:tab pos="900113" algn="l"/>
              </a:tabLst>
            </a:pPr>
            <a:r>
              <a:rPr lang="es-ES" sz="2800" dirty="0">
                <a:solidFill>
                  <a:schemeClr val="tx1"/>
                </a:solidFill>
              </a:rPr>
              <a:t>Mantenibilidad</a:t>
            </a:r>
          </a:p>
          <a:p>
            <a:pPr marL="0" lvl="0" indent="0" algn="just">
              <a:lnSpc>
                <a:spcPct val="85000"/>
              </a:lnSpc>
              <a:spcBef>
                <a:spcPts val="0"/>
              </a:spcBef>
              <a:spcAft>
                <a:spcPts val="0"/>
              </a:spcAft>
              <a:buClr>
                <a:srgbClr val="C00000"/>
              </a:buClr>
              <a:buNone/>
            </a:pPr>
            <a:endParaRPr sz="2800" dirty="0">
              <a:solidFill>
                <a:schemeClr val="tx1"/>
              </a:solidFill>
            </a:endParaRPr>
          </a:p>
        </p:txBody>
      </p:sp>
    </p:spTree>
    <p:extLst>
      <p:ext uri="{BB962C8B-B14F-4D97-AF65-F5344CB8AC3E}">
        <p14:creationId xmlns:p14="http://schemas.microsoft.com/office/powerpoint/2010/main" val="3914944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F9707DD9-AA34-86AA-40F1-2659FF0F6287}"/>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F672CD0A-908C-436B-CE03-B50A859EC69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Diseño Arquitectónico</a:t>
            </a:r>
            <a:endParaRPr dirty="0"/>
          </a:p>
        </p:txBody>
      </p:sp>
      <p:sp>
        <p:nvSpPr>
          <p:cNvPr id="2" name="Marcador de fecha 1">
            <a:extLst>
              <a:ext uri="{FF2B5EF4-FFF2-40B4-BE49-F238E27FC236}">
                <a16:creationId xmlns:a16="http://schemas.microsoft.com/office/drawing/2014/main" id="{D04AECAC-5065-353E-86CA-ED8ED266903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C137BE7-ED66-AAC9-F417-1B413576350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8348B100-C360-AF8E-91D0-8E3B5851A30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a:t>
            </a:fld>
            <a:endParaRPr lang="es-AR"/>
          </a:p>
        </p:txBody>
      </p:sp>
      <p:grpSp>
        <p:nvGrpSpPr>
          <p:cNvPr id="7" name="Grupo 6">
            <a:extLst>
              <a:ext uri="{FF2B5EF4-FFF2-40B4-BE49-F238E27FC236}">
                <a16:creationId xmlns:a16="http://schemas.microsoft.com/office/drawing/2014/main" id="{132021E5-600C-394E-1DD6-95B944A13AAB}"/>
              </a:ext>
            </a:extLst>
          </p:cNvPr>
          <p:cNvGrpSpPr/>
          <p:nvPr/>
        </p:nvGrpSpPr>
        <p:grpSpPr>
          <a:xfrm>
            <a:off x="3464642" y="1843548"/>
            <a:ext cx="5262716" cy="4442185"/>
            <a:chOff x="3464642" y="1843548"/>
            <a:chExt cx="5262716" cy="4442185"/>
          </a:xfrm>
        </p:grpSpPr>
        <p:pic>
          <p:nvPicPr>
            <p:cNvPr id="5" name="Google Shape;157;p5" descr="Diagrama&#10;&#10;El contenido generado por IA puede ser incorrecto.">
              <a:extLst>
                <a:ext uri="{FF2B5EF4-FFF2-40B4-BE49-F238E27FC236}">
                  <a16:creationId xmlns:a16="http://schemas.microsoft.com/office/drawing/2014/main" id="{16BFC0F2-D4A6-2280-085D-64BB8C55831E}"/>
                </a:ext>
              </a:extLst>
            </p:cNvPr>
            <p:cNvPicPr preferRelativeResize="0"/>
            <p:nvPr/>
          </p:nvPicPr>
          <p:blipFill rotWithShape="1">
            <a:blip r:embed="rId3">
              <a:alphaModFix/>
            </a:blip>
            <a:srcRect l="4093" t="17708" r="4646"/>
            <a:stretch>
              <a:fillRect/>
            </a:stretch>
          </p:blipFill>
          <p:spPr>
            <a:xfrm>
              <a:off x="3464642" y="1843548"/>
              <a:ext cx="5262716" cy="4442185"/>
            </a:xfrm>
            <a:prstGeom prst="rect">
              <a:avLst/>
            </a:prstGeom>
            <a:noFill/>
            <a:ln>
              <a:noFill/>
            </a:ln>
          </p:spPr>
        </p:pic>
        <p:sp>
          <p:nvSpPr>
            <p:cNvPr id="6" name="Rectángulo 5">
              <a:extLst>
                <a:ext uri="{FF2B5EF4-FFF2-40B4-BE49-F238E27FC236}">
                  <a16:creationId xmlns:a16="http://schemas.microsoft.com/office/drawing/2014/main" id="{A3632E56-CED4-DA47-D934-6E7D7432CDB9}"/>
                </a:ext>
              </a:extLst>
            </p:cNvPr>
            <p:cNvSpPr/>
            <p:nvPr/>
          </p:nvSpPr>
          <p:spPr>
            <a:xfrm>
              <a:off x="8023123" y="5899355"/>
              <a:ext cx="704235" cy="3863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1337165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DDBA3EB-6F11-2217-352D-5537D94D2BB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85803D0C-9E35-3DDA-FB04-79A737CC44E8}"/>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Aspectos del Diseño Arquitectónico</a:t>
            </a:r>
            <a:endParaRPr dirty="0"/>
          </a:p>
        </p:txBody>
      </p:sp>
      <p:sp>
        <p:nvSpPr>
          <p:cNvPr id="2" name="Marcador de fecha 1">
            <a:extLst>
              <a:ext uri="{FF2B5EF4-FFF2-40B4-BE49-F238E27FC236}">
                <a16:creationId xmlns:a16="http://schemas.microsoft.com/office/drawing/2014/main" id="{38C68B97-A45C-05DE-6F88-362036489553}"/>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08DE9E2B-1686-BD79-EE08-8F2782B6D2CB}"/>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C1266AF0-FAA8-9829-EA5F-D8320280142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7</a:t>
            </a:fld>
            <a:endParaRPr lang="es-AR"/>
          </a:p>
        </p:txBody>
      </p:sp>
      <p:sp>
        <p:nvSpPr>
          <p:cNvPr id="134" name="Google Shape;134;p4">
            <a:extLst>
              <a:ext uri="{FF2B5EF4-FFF2-40B4-BE49-F238E27FC236}">
                <a16:creationId xmlns:a16="http://schemas.microsoft.com/office/drawing/2014/main" id="{5040F2B1-B0FB-1B57-BB3F-BD9333940900}"/>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Organización del sistema</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Descomposición modular</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Modelos de control</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Arquitectura de los Sistemas Distribuidos</a:t>
            </a:r>
          </a:p>
          <a:p>
            <a:pPr marL="0" lvl="0" indent="0" algn="just">
              <a:lnSpc>
                <a:spcPct val="85000"/>
              </a:lnSpc>
              <a:spcBef>
                <a:spcPts val="0"/>
              </a:spcBef>
              <a:spcAft>
                <a:spcPts val="0"/>
              </a:spcAft>
              <a:buClr>
                <a:srgbClr val="C00000"/>
              </a:buClr>
              <a:buNone/>
            </a:pPr>
            <a:endParaRPr sz="2800" dirty="0">
              <a:solidFill>
                <a:schemeClr val="tx1"/>
              </a:solidFill>
            </a:endParaRPr>
          </a:p>
        </p:txBody>
      </p:sp>
      <p:cxnSp>
        <p:nvCxnSpPr>
          <p:cNvPr id="6" name="Conector recto 5">
            <a:extLst>
              <a:ext uri="{FF2B5EF4-FFF2-40B4-BE49-F238E27FC236}">
                <a16:creationId xmlns:a16="http://schemas.microsoft.com/office/drawing/2014/main" id="{4B44D785-2DF8-C302-B5B4-03CDB5317C53}"/>
              </a:ext>
            </a:extLst>
          </p:cNvPr>
          <p:cNvCxnSpPr/>
          <p:nvPr/>
        </p:nvCxnSpPr>
        <p:spPr>
          <a:xfrm>
            <a:off x="1666568" y="2359742"/>
            <a:ext cx="355436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884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929206A-BC80-E5D4-592B-6B739B03A582}"/>
            </a:ext>
          </a:extLst>
        </p:cNvPr>
        <p:cNvGrpSpPr/>
        <p:nvPr/>
      </p:nvGrpSpPr>
      <p:grpSpPr>
        <a:xfrm>
          <a:off x="0" y="0"/>
          <a:ext cx="0" cy="0"/>
          <a:chOff x="0" y="0"/>
          <a:chExt cx="0" cy="0"/>
        </a:xfrm>
      </p:grpSpPr>
      <p:pic>
        <p:nvPicPr>
          <p:cNvPr id="5" name="Google Shape;171;p7">
            <a:extLst>
              <a:ext uri="{FF2B5EF4-FFF2-40B4-BE49-F238E27FC236}">
                <a16:creationId xmlns:a16="http://schemas.microsoft.com/office/drawing/2014/main" id="{2A4F3FE1-7FA0-784E-69C7-6044DCEA92C2}"/>
              </a:ext>
            </a:extLst>
          </p:cNvPr>
          <p:cNvPicPr preferRelativeResize="0"/>
          <p:nvPr/>
        </p:nvPicPr>
        <p:blipFill rotWithShape="1">
          <a:blip r:embed="rId3">
            <a:alphaModFix/>
          </a:blip>
          <a:srcRect b="4405"/>
          <a:stretch>
            <a:fillRect/>
          </a:stretch>
        </p:blipFill>
        <p:spPr>
          <a:xfrm>
            <a:off x="8292845" y="3133979"/>
            <a:ext cx="4021394" cy="2894374"/>
          </a:xfrm>
          <a:prstGeom prst="rect">
            <a:avLst/>
          </a:prstGeom>
          <a:noFill/>
          <a:ln>
            <a:noFill/>
          </a:ln>
        </p:spPr>
      </p:pic>
      <p:sp>
        <p:nvSpPr>
          <p:cNvPr id="133" name="Google Shape;133;p4">
            <a:extLst>
              <a:ext uri="{FF2B5EF4-FFF2-40B4-BE49-F238E27FC236}">
                <a16:creationId xmlns:a16="http://schemas.microsoft.com/office/drawing/2014/main" id="{DF20C5C9-F61D-4526-1D63-412366C189A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5388DEFB-0CBD-4F41-2E83-05F9616E1744}"/>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24B8B131-D61B-A1CD-B66C-C70B1CDB9E9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EF6FB32-224D-990F-DFCC-8F4B2651490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8</a:t>
            </a:fld>
            <a:endParaRPr lang="es-AR"/>
          </a:p>
        </p:txBody>
      </p:sp>
      <p:sp>
        <p:nvSpPr>
          <p:cNvPr id="134" name="Google Shape;134;p4">
            <a:extLst>
              <a:ext uri="{FF2B5EF4-FFF2-40B4-BE49-F238E27FC236}">
                <a16:creationId xmlns:a16="http://schemas.microsoft.com/office/drawing/2014/main" id="{B14E5920-3F91-2D83-F41C-A60431BBB4B4}"/>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La organización del sistema representa la estrategia básica usada para estructurar el sistema.</a:t>
            </a:r>
          </a:p>
          <a:p>
            <a:pPr marL="530225" lvl="0" indent="-530225" algn="just">
              <a:lnSpc>
                <a:spcPct val="85000"/>
              </a:lnSpc>
              <a:spcBef>
                <a:spcPts val="0"/>
              </a:spcBef>
              <a:spcAft>
                <a:spcPts val="600"/>
              </a:spcAft>
              <a:buClr>
                <a:srgbClr val="C00000"/>
              </a:buClr>
              <a:buFont typeface="Noto Sans Symbols"/>
              <a:buChar char="❖"/>
            </a:pPr>
            <a:r>
              <a:rPr lang="es-ES" sz="2800" dirty="0">
                <a:solidFill>
                  <a:schemeClr val="tx1"/>
                </a:solidFill>
              </a:rPr>
              <a:t>Los subsistemas de un sistema deben intercambiar información de forma efectiva.</a:t>
            </a:r>
          </a:p>
          <a:p>
            <a:pPr marL="977900" marR="0" indent="-431800" algn="just" defTabSz="914400" latinLnBrk="0">
              <a:lnSpc>
                <a:spcPct val="85000"/>
              </a:lnSpc>
              <a:spcBef>
                <a:spcPts val="0"/>
              </a:spcBef>
              <a:spcAft>
                <a:spcPts val="0"/>
              </a:spcAft>
              <a:buClr>
                <a:srgbClr val="C00000"/>
              </a:buClr>
              <a:buFont typeface="Noto Sans Symbols2" panose="020B0502040504020204" pitchFamily="34" charset="0"/>
              <a:buChar char="»"/>
              <a:tabLst/>
              <a:defRPr/>
            </a:pPr>
            <a:r>
              <a:rPr lang="es-ES" sz="2400" dirty="0">
                <a:solidFill>
                  <a:schemeClr val="tx1"/>
                </a:solidFill>
              </a:rPr>
              <a:t>Todos los datos compartidos, se almacenan en una</a:t>
            </a:r>
          </a:p>
          <a:p>
            <a:pPr marL="977900" marR="0" indent="0" algn="just" defTabSz="914400" latinLnBrk="0">
              <a:lnSpc>
                <a:spcPct val="85000"/>
              </a:lnSpc>
              <a:spcBef>
                <a:spcPts val="0"/>
              </a:spcBef>
              <a:spcAft>
                <a:spcPts val="0"/>
              </a:spcAft>
              <a:buClr>
                <a:srgbClr val="C00000"/>
              </a:buClr>
              <a:buNone/>
              <a:tabLst/>
              <a:defRPr/>
            </a:pPr>
            <a:r>
              <a:rPr lang="es-ES" sz="2400" dirty="0">
                <a:solidFill>
                  <a:schemeClr val="tx1"/>
                </a:solidFill>
              </a:rPr>
              <a:t>base de datos central.</a:t>
            </a:r>
          </a:p>
          <a:p>
            <a:pPr marL="977900" marR="0" indent="-431800" algn="just" defTabSz="914400" latinLnBrk="0">
              <a:lnSpc>
                <a:spcPct val="85000"/>
              </a:lnSpc>
              <a:spcBef>
                <a:spcPts val="0"/>
              </a:spcBef>
              <a:spcAft>
                <a:spcPts val="0"/>
              </a:spcAft>
              <a:buClr>
                <a:srgbClr val="C00000"/>
              </a:buClr>
              <a:buFont typeface="Noto Sans Symbols2" panose="020B0502040504020204" pitchFamily="34" charset="0"/>
              <a:buChar char="»"/>
              <a:tabLst/>
              <a:defRPr/>
            </a:pPr>
            <a:r>
              <a:rPr lang="es-ES" sz="2400" dirty="0">
                <a:solidFill>
                  <a:schemeClr val="tx1"/>
                </a:solidFill>
              </a:rPr>
              <a:t>Cada subsistema mantiene su información y los</a:t>
            </a:r>
          </a:p>
          <a:p>
            <a:pPr marL="977900" marR="0" indent="0" algn="just" defTabSz="914400" latinLnBrk="0">
              <a:lnSpc>
                <a:spcPct val="85000"/>
              </a:lnSpc>
              <a:spcBef>
                <a:spcPts val="0"/>
              </a:spcBef>
              <a:spcAft>
                <a:spcPts val="1200"/>
              </a:spcAft>
              <a:buClr>
                <a:srgbClr val="C00000"/>
              </a:buClr>
              <a:buNone/>
              <a:tabLst/>
              <a:defRPr/>
            </a:pPr>
            <a:r>
              <a:rPr lang="es-ES" sz="2400" dirty="0">
                <a:solidFill>
                  <a:schemeClr val="tx1"/>
                </a:solidFill>
              </a:rPr>
              <a:t>intercambia entre los subsistemas.</a:t>
            </a:r>
          </a:p>
          <a:p>
            <a:pPr marL="530225" marR="0" indent="-530225" algn="just" defTabSz="914400" latinLnBrk="0">
              <a:lnSpc>
                <a:spcPct val="85000"/>
              </a:lnSpc>
              <a:spcBef>
                <a:spcPts val="0"/>
              </a:spcBef>
              <a:spcAft>
                <a:spcPts val="0"/>
              </a:spcAft>
              <a:buClr>
                <a:srgbClr val="C00000"/>
              </a:buClr>
              <a:buFont typeface="Noto Sans Symbols"/>
              <a:buChar char="❖"/>
              <a:tabLst/>
              <a:defRPr/>
            </a:pPr>
            <a:r>
              <a:rPr lang="es-ES" sz="2800" dirty="0">
                <a:solidFill>
                  <a:schemeClr val="tx1"/>
                </a:solidFill>
              </a:rPr>
              <a:t>Estilos organizacionales (Patrones arquitectónicos) </a:t>
            </a:r>
          </a:p>
          <a:p>
            <a:pPr marL="987425" marR="0" indent="-457200" algn="just" defTabSz="914400" latinLnBrk="0">
              <a:lnSpc>
                <a:spcPct val="85000"/>
              </a:lnSpc>
              <a:spcBef>
                <a:spcPts val="0"/>
              </a:spcBef>
              <a:spcAft>
                <a:spcPts val="0"/>
              </a:spcAft>
              <a:buClr>
                <a:srgbClr val="C00000"/>
              </a:buClr>
              <a:buFont typeface="Noto Sans Symbols2" panose="020B0502040504020204" pitchFamily="34" charset="0"/>
              <a:buChar char="»"/>
              <a:tabLst/>
              <a:defRPr/>
            </a:pPr>
            <a:r>
              <a:rPr lang="es-ES" sz="2400" dirty="0">
                <a:solidFill>
                  <a:schemeClr val="tx1"/>
                </a:solidFill>
              </a:rPr>
              <a:t>Repositorio, cliente-servidor, capas o combinaciones</a:t>
            </a:r>
          </a:p>
          <a:p>
            <a:pPr marL="987425" marR="0" indent="0" algn="just" defTabSz="914400" latinLnBrk="0">
              <a:lnSpc>
                <a:spcPct val="85000"/>
              </a:lnSpc>
              <a:spcBef>
                <a:spcPts val="0"/>
              </a:spcBef>
              <a:spcAft>
                <a:spcPts val="0"/>
              </a:spcAft>
              <a:buClr>
                <a:srgbClr val="C00000"/>
              </a:buClr>
              <a:buNone/>
              <a:tabLst>
                <a:tab pos="530225" algn="l"/>
                <a:tab pos="987425" algn="l"/>
              </a:tabLst>
              <a:defRPr/>
            </a:pPr>
            <a:r>
              <a:rPr lang="es-ES" sz="2400" dirty="0">
                <a:solidFill>
                  <a:schemeClr val="tx1"/>
                </a:solidFill>
              </a:rPr>
              <a:t>entre ellos, entre otros.</a:t>
            </a:r>
            <a:endParaRPr sz="2400" dirty="0">
              <a:solidFill>
                <a:schemeClr val="tx1"/>
              </a:solidFill>
            </a:endParaRPr>
          </a:p>
        </p:txBody>
      </p:sp>
    </p:spTree>
    <p:extLst>
      <p:ext uri="{BB962C8B-B14F-4D97-AF65-F5344CB8AC3E}">
        <p14:creationId xmlns:p14="http://schemas.microsoft.com/office/powerpoint/2010/main" val="424925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1D6199A-F9B4-36CB-0575-F0A2EBD0C27F}"/>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C880753-A4D2-D13F-243C-677E14E4B89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5AF43583-B7A7-5CD3-AE72-8CEBD8E95E6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C75B131A-8E46-B379-6708-9C3D05ACB0B0}"/>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0616E607-8A3E-8727-9B7C-D51A13F2324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9</a:t>
            </a:fld>
            <a:endParaRPr lang="es-AR"/>
          </a:p>
        </p:txBody>
      </p:sp>
      <p:sp>
        <p:nvSpPr>
          <p:cNvPr id="134" name="Google Shape;134;p4">
            <a:extLst>
              <a:ext uri="{FF2B5EF4-FFF2-40B4-BE49-F238E27FC236}">
                <a16:creationId xmlns:a16="http://schemas.microsoft.com/office/drawing/2014/main" id="{73AE7547-8201-930E-F269-3FB47FF899D7}"/>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repositorio</a:t>
            </a:r>
          </a:p>
          <a:p>
            <a:pPr marL="530225" lvl="0" indent="0" algn="just">
              <a:lnSpc>
                <a:spcPct val="85000"/>
              </a:lnSpc>
              <a:spcBef>
                <a:spcPts val="0"/>
              </a:spcBef>
              <a:spcAft>
                <a:spcPts val="1200"/>
              </a:spcAft>
              <a:buClr>
                <a:srgbClr val="C00000"/>
              </a:buClr>
              <a:buNone/>
            </a:pPr>
            <a:r>
              <a:rPr lang="es-ES" sz="2400" dirty="0">
                <a:solidFill>
                  <a:schemeClr val="tx1"/>
                </a:solidFill>
              </a:rPr>
              <a:t>La mayoría de los sistemas que usan grandes cantidades de datos se organizan alrededor de una base de datos compartida (repositorio).</a:t>
            </a:r>
          </a:p>
          <a:p>
            <a:pPr marL="530225" lvl="0" indent="0" algn="just">
              <a:lnSpc>
                <a:spcPct val="85000"/>
              </a:lnSpc>
              <a:spcBef>
                <a:spcPts val="0"/>
              </a:spcBef>
              <a:spcAft>
                <a:spcPts val="1200"/>
              </a:spcAft>
              <a:buClr>
                <a:srgbClr val="C00000"/>
              </a:buClr>
              <a:buNone/>
            </a:pPr>
            <a:r>
              <a:rPr lang="es-ES" sz="2400" dirty="0">
                <a:solidFill>
                  <a:schemeClr val="tx1"/>
                </a:solidFill>
              </a:rPr>
              <a:t>Los datos son generados por un subsistema y utilizados por otros subsistemas.</a:t>
            </a:r>
          </a:p>
          <a:p>
            <a:pPr marL="530225" lvl="0" indent="-530225" algn="just">
              <a:lnSpc>
                <a:spcPct val="85000"/>
              </a:lnSpc>
              <a:spcBef>
                <a:spcPts val="0"/>
              </a:spcBef>
              <a:spcAft>
                <a:spcPts val="1200"/>
              </a:spcAft>
              <a:buClr>
                <a:srgbClr val="C00000"/>
              </a:buClr>
              <a:buFont typeface="Noto Sans Symbols"/>
              <a:buChar char="❖"/>
            </a:pPr>
            <a:r>
              <a:rPr lang="es-ES" sz="2400" dirty="0">
                <a:solidFill>
                  <a:schemeClr val="tx1"/>
                </a:solidFill>
              </a:rPr>
              <a:t>Ejemplo: Sistemas de gestión, Sistemas CAD, Herramientas Case, etc.</a:t>
            </a:r>
          </a:p>
        </p:txBody>
      </p:sp>
    </p:spTree>
    <p:extLst>
      <p:ext uri="{BB962C8B-B14F-4D97-AF65-F5344CB8AC3E}">
        <p14:creationId xmlns:p14="http://schemas.microsoft.com/office/powerpoint/2010/main" val="3959399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79672F7-84D5-7B4F-504E-61B653046D5A}"/>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92585FC-EA7F-8D8B-8065-068AC382984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3AD0B93F-6ACB-EECE-FD31-0CFFE2D6ECFB}"/>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7A052D72-941C-5924-F04E-9BD4BC0E2608}"/>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9D653C65-E72C-A078-9252-1C130D4DEF3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10</a:t>
            </a:fld>
            <a:endParaRPr lang="es-AR"/>
          </a:p>
        </p:txBody>
      </p:sp>
      <p:pic>
        <p:nvPicPr>
          <p:cNvPr id="5" name="Google Shape;193;p18" descr="Diagrama, Tabla&#10;&#10;El contenido generado por IA puede ser incorrecto.">
            <a:extLst>
              <a:ext uri="{FF2B5EF4-FFF2-40B4-BE49-F238E27FC236}">
                <a16:creationId xmlns:a16="http://schemas.microsoft.com/office/drawing/2014/main" id="{C42CDDBE-E077-A01E-DB2E-73748A4AC514}"/>
              </a:ext>
            </a:extLst>
          </p:cNvPr>
          <p:cNvPicPr preferRelativeResize="0"/>
          <p:nvPr/>
        </p:nvPicPr>
        <p:blipFill rotWithShape="1">
          <a:blip r:embed="rId3">
            <a:alphaModFix/>
          </a:blip>
          <a:srcRect t="24634" b="10533"/>
          <a:stretch>
            <a:fillRect/>
          </a:stretch>
        </p:blipFill>
        <p:spPr>
          <a:xfrm>
            <a:off x="650516" y="1991031"/>
            <a:ext cx="10890967" cy="3819834"/>
          </a:xfrm>
          <a:prstGeom prst="rect">
            <a:avLst/>
          </a:prstGeom>
          <a:noFill/>
          <a:ln>
            <a:noFill/>
          </a:ln>
        </p:spPr>
      </p:pic>
    </p:spTree>
    <p:extLst>
      <p:ext uri="{BB962C8B-B14F-4D97-AF65-F5344CB8AC3E}">
        <p14:creationId xmlns:p14="http://schemas.microsoft.com/office/powerpoint/2010/main" val="2034030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2EE740A-CAE6-64E4-9820-CED81B2CC3FE}"/>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3815917-AE60-C227-1953-44777CCB788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CD0A1295-31AB-AE26-8D66-004AAC5BB10A}"/>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EEA2E4C-5AE0-C5A9-3971-06800337007B}"/>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B0BC53F7-4109-C59D-1FE1-872901FCAA6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11</a:t>
            </a:fld>
            <a:endParaRPr lang="es-AR"/>
          </a:p>
        </p:txBody>
      </p:sp>
      <p:sp>
        <p:nvSpPr>
          <p:cNvPr id="134" name="Google Shape;134;p4">
            <a:extLst>
              <a:ext uri="{FF2B5EF4-FFF2-40B4-BE49-F238E27FC236}">
                <a16:creationId xmlns:a16="http://schemas.microsoft.com/office/drawing/2014/main" id="{5E25EB51-B219-6881-63D3-1462C7BDCA3D}"/>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repositorio</a:t>
            </a:r>
          </a:p>
        </p:txBody>
      </p:sp>
      <p:pic>
        <p:nvPicPr>
          <p:cNvPr id="5" name="Google Shape;203;p9">
            <a:extLst>
              <a:ext uri="{FF2B5EF4-FFF2-40B4-BE49-F238E27FC236}">
                <a16:creationId xmlns:a16="http://schemas.microsoft.com/office/drawing/2014/main" id="{1A6C1433-CC68-CCA9-225F-004A93114E94}"/>
              </a:ext>
            </a:extLst>
          </p:cNvPr>
          <p:cNvPicPr preferRelativeResize="0"/>
          <p:nvPr/>
        </p:nvPicPr>
        <p:blipFill rotWithShape="1">
          <a:blip r:embed="rId3">
            <a:alphaModFix/>
          </a:blip>
          <a:srcRect/>
          <a:stretch/>
        </p:blipFill>
        <p:spPr>
          <a:xfrm>
            <a:off x="2404280" y="2562152"/>
            <a:ext cx="7383439" cy="3248713"/>
          </a:xfrm>
          <a:prstGeom prst="rect">
            <a:avLst/>
          </a:prstGeom>
          <a:noFill/>
          <a:ln>
            <a:noFill/>
          </a:ln>
        </p:spPr>
      </p:pic>
    </p:spTree>
    <p:extLst>
      <p:ext uri="{BB962C8B-B14F-4D97-AF65-F5344CB8AC3E}">
        <p14:creationId xmlns:p14="http://schemas.microsoft.com/office/powerpoint/2010/main" val="1565614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0F97EB23-CCFD-E06D-95D3-735EA8B5397F}"/>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CFD2A0A2-096E-F5DB-2C02-B0BD2C298F8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ED41B5F1-5DDD-36C9-769A-4F33AC09EBE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8CDC29C-46BB-7AEF-C225-118C36CFEC4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FA1307AA-90A5-8241-EED9-7FCBA0C7EF7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12</a:t>
            </a:fld>
            <a:endParaRPr lang="es-AR"/>
          </a:p>
        </p:txBody>
      </p:sp>
      <p:sp>
        <p:nvSpPr>
          <p:cNvPr id="134" name="Google Shape;134;p4">
            <a:extLst>
              <a:ext uri="{FF2B5EF4-FFF2-40B4-BE49-F238E27FC236}">
                <a16:creationId xmlns:a16="http://schemas.microsoft.com/office/drawing/2014/main" id="{159A4D5D-469B-87D4-5C02-4AB83ECBD5B6}"/>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repositorio</a:t>
            </a:r>
          </a:p>
          <a:p>
            <a:pPr marL="530225" lvl="0" indent="0" algn="just">
              <a:lnSpc>
                <a:spcPct val="85000"/>
              </a:lnSpc>
              <a:spcBef>
                <a:spcPts val="0"/>
              </a:spcBef>
              <a:spcAft>
                <a:spcPts val="300"/>
              </a:spcAft>
              <a:buClr>
                <a:srgbClr val="C00000"/>
              </a:buClr>
              <a:buNone/>
              <a:tabLst>
                <a:tab pos="530225" algn="l"/>
              </a:tabLst>
            </a:pPr>
            <a:r>
              <a:rPr lang="es-ES" sz="2400" dirty="0">
                <a:solidFill>
                  <a:schemeClr val="tx1"/>
                </a:solidFill>
              </a:rPr>
              <a:t>Ventajas:</a:t>
            </a:r>
          </a:p>
          <a:p>
            <a:pPr marL="900113" lvl="0" indent="-357188" algn="just">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Forma eficiente de compartir grandes cantidades de datos, no hay necesidad de transmitir datos de un subsistema a otro.</a:t>
            </a:r>
          </a:p>
          <a:p>
            <a:pPr marL="900113" lvl="0" indent="-357188" algn="just">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Los subsistemas que producen datos  no deben saber como se utilizan.</a:t>
            </a:r>
          </a:p>
          <a:p>
            <a:pPr marL="900113" lvl="0" indent="-357188" algn="just">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Las actividades de </a:t>
            </a:r>
            <a:r>
              <a:rPr lang="es-ES" sz="2400" dirty="0" err="1">
                <a:solidFill>
                  <a:schemeClr val="tx1"/>
                </a:solidFill>
              </a:rPr>
              <a:t>backup</a:t>
            </a:r>
            <a:r>
              <a:rPr lang="es-ES" sz="2400" dirty="0">
                <a:solidFill>
                  <a:schemeClr val="tx1"/>
                </a:solidFill>
              </a:rPr>
              <a:t>, protección, control de acceso están centralizadas.</a:t>
            </a:r>
          </a:p>
          <a:p>
            <a:pPr marL="900113" lvl="0" indent="-357188" algn="just">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El modelo compartido es visible a través del esquema del repositorio. Las nuevas herramientas se integran de forma directa, ya que son compatibles con el modelo de datos.</a:t>
            </a:r>
          </a:p>
          <a:p>
            <a:pPr marL="0" lvl="0" indent="0" algn="just">
              <a:lnSpc>
                <a:spcPct val="85000"/>
              </a:lnSpc>
              <a:spcBef>
                <a:spcPts val="0"/>
              </a:spcBef>
              <a:spcAft>
                <a:spcPts val="1200"/>
              </a:spcAft>
              <a:buClr>
                <a:srgbClr val="C00000"/>
              </a:buClr>
              <a:buNone/>
            </a:pPr>
            <a:endParaRPr lang="es-ES" sz="2800" dirty="0">
              <a:solidFill>
                <a:schemeClr val="tx1"/>
              </a:solidFill>
            </a:endParaRPr>
          </a:p>
        </p:txBody>
      </p:sp>
    </p:spTree>
    <p:extLst>
      <p:ext uri="{BB962C8B-B14F-4D97-AF65-F5344CB8AC3E}">
        <p14:creationId xmlns:p14="http://schemas.microsoft.com/office/powerpoint/2010/main" val="1239444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011EA5EC-F7FC-1CF8-979F-4BA571CF52B9}"/>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8E4EEA3-3498-8A29-72F7-7A82658930C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CFCF8BF1-4983-1E6E-700E-96D21F38F173}"/>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FC22F0AD-E760-5858-45B7-5B7962B67185}"/>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62AB6568-EFE3-1CEC-4D2D-68A31961200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13</a:t>
            </a:fld>
            <a:endParaRPr lang="es-AR"/>
          </a:p>
        </p:txBody>
      </p:sp>
      <p:sp>
        <p:nvSpPr>
          <p:cNvPr id="134" name="Google Shape;134;p4">
            <a:extLst>
              <a:ext uri="{FF2B5EF4-FFF2-40B4-BE49-F238E27FC236}">
                <a16:creationId xmlns:a16="http://schemas.microsoft.com/office/drawing/2014/main" id="{0FAD632B-200B-161E-D11C-11F64B79420E}"/>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repositorio</a:t>
            </a:r>
          </a:p>
          <a:p>
            <a:pPr marL="530225" lvl="0" indent="0" algn="just">
              <a:lnSpc>
                <a:spcPct val="85000"/>
              </a:lnSpc>
              <a:spcBef>
                <a:spcPts val="0"/>
              </a:spcBef>
              <a:spcAft>
                <a:spcPts val="300"/>
              </a:spcAft>
              <a:buClr>
                <a:srgbClr val="C00000"/>
              </a:buClr>
              <a:buNone/>
              <a:tabLst>
                <a:tab pos="530225" algn="l"/>
              </a:tabLst>
            </a:pPr>
            <a:r>
              <a:rPr lang="es-ES" sz="2400" dirty="0">
                <a:solidFill>
                  <a:schemeClr val="tx1"/>
                </a:solidFill>
              </a:rPr>
              <a:t>Desventajas:</a:t>
            </a:r>
          </a:p>
          <a:p>
            <a:pPr marL="900113" lvl="0" indent="-357188" algn="just">
              <a:lnSpc>
                <a:spcPct val="85000"/>
              </a:lnSpc>
              <a:spcBef>
                <a:spcPts val="0"/>
              </a:spcBef>
              <a:spcAft>
                <a:spcPts val="0"/>
              </a:spcAft>
              <a:buClr>
                <a:srgbClr val="C00000"/>
              </a:buClr>
              <a:buFont typeface="Noto Sans Symbols2" panose="020B0502040504020204" pitchFamily="34" charset="0"/>
              <a:buChar char="»"/>
            </a:pPr>
            <a:r>
              <a:rPr lang="es-ES" sz="2400" dirty="0">
                <a:solidFill>
                  <a:schemeClr val="tx1"/>
                </a:solidFill>
              </a:rPr>
              <a:t>Los subsistemas deben estar acordes a los modelos de datos del repositorio. Esto en algunos casos puede afectar el rendimiento.</a:t>
            </a:r>
          </a:p>
          <a:p>
            <a:pPr marL="900113" lvl="0" indent="-357188" algn="just">
              <a:lnSpc>
                <a:spcPct val="85000"/>
              </a:lnSpc>
              <a:spcBef>
                <a:spcPts val="0"/>
              </a:spcBef>
              <a:spcAft>
                <a:spcPts val="0"/>
              </a:spcAft>
              <a:buClr>
                <a:srgbClr val="C00000"/>
              </a:buClr>
              <a:buFont typeface="Noto Sans Symbols2" panose="020B0502040504020204" pitchFamily="34" charset="0"/>
              <a:buChar char="»"/>
            </a:pPr>
            <a:r>
              <a:rPr lang="es-ES" sz="2400" dirty="0">
                <a:solidFill>
                  <a:schemeClr val="tx1"/>
                </a:solidFill>
              </a:rPr>
              <a:t>La evolución puede ser difícil a medida que se genera un gran volumen de información de acuerdo con el modelo de datos establecido. La migración de estos modelos puede ser muy difícil, a veces imposible.</a:t>
            </a:r>
          </a:p>
          <a:p>
            <a:pPr marL="900113" lvl="0" indent="-357188" algn="just">
              <a:lnSpc>
                <a:spcPct val="85000"/>
              </a:lnSpc>
              <a:spcBef>
                <a:spcPts val="0"/>
              </a:spcBef>
              <a:spcAft>
                <a:spcPts val="0"/>
              </a:spcAft>
              <a:buClr>
                <a:srgbClr val="C00000"/>
              </a:buClr>
              <a:buFont typeface="Noto Sans Symbols2" panose="020B0502040504020204" pitchFamily="34" charset="0"/>
              <a:buChar char="»"/>
            </a:pPr>
            <a:r>
              <a:rPr lang="es-ES" sz="2400" dirty="0">
                <a:solidFill>
                  <a:schemeClr val="tx1"/>
                </a:solidFill>
              </a:rPr>
              <a:t>Diferentes subsistemas pueden tener distintos requerimientos de protección o  políticas de seguridad y  el modelo de repositorio impone las mismas para todos.</a:t>
            </a:r>
          </a:p>
          <a:p>
            <a:pPr marL="900113" lvl="0" indent="-357188" algn="just">
              <a:lnSpc>
                <a:spcPct val="85000"/>
              </a:lnSpc>
              <a:spcBef>
                <a:spcPts val="0"/>
              </a:spcBef>
              <a:spcAft>
                <a:spcPts val="0"/>
              </a:spcAft>
              <a:buClr>
                <a:srgbClr val="C00000"/>
              </a:buClr>
              <a:buFont typeface="Noto Sans Symbols2" panose="020B0502040504020204" pitchFamily="34" charset="0"/>
              <a:buChar char="»"/>
            </a:pPr>
            <a:r>
              <a:rPr lang="es-ES" sz="2400" dirty="0">
                <a:solidFill>
                  <a:schemeClr val="tx1"/>
                </a:solidFill>
              </a:rPr>
              <a:t>Es difícil distribuir el repositorio en varias máquinas,  existen repositorios centralizados lógicamente, pero pueden ocasionar problemas de redundancia e inconsistencias.</a:t>
            </a:r>
          </a:p>
          <a:p>
            <a:pPr marL="0" lvl="0" indent="0" algn="just">
              <a:lnSpc>
                <a:spcPct val="85000"/>
              </a:lnSpc>
              <a:spcBef>
                <a:spcPts val="0"/>
              </a:spcBef>
              <a:spcAft>
                <a:spcPts val="1200"/>
              </a:spcAft>
              <a:buClr>
                <a:srgbClr val="C00000"/>
              </a:buClr>
              <a:buNone/>
            </a:pPr>
            <a:endParaRPr lang="es-ES" sz="2800" dirty="0">
              <a:solidFill>
                <a:schemeClr val="tx1"/>
              </a:solidFill>
            </a:endParaRPr>
          </a:p>
        </p:txBody>
      </p:sp>
    </p:spTree>
    <p:extLst>
      <p:ext uri="{BB962C8B-B14F-4D97-AF65-F5344CB8AC3E}">
        <p14:creationId xmlns:p14="http://schemas.microsoft.com/office/powerpoint/2010/main" val="1473416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A3EADE4-0238-1A05-1D7F-9775BC4BB4AE}"/>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F9D0659-6BDF-B0A9-7F71-4953605D4510}"/>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33BE62FD-7B2A-10EB-65BF-C6F81C1467B0}"/>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8C2F7FE-DFBF-6F82-3B13-FE31D1A770F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71D789CC-BF74-EF02-B546-639605463BB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14</a:t>
            </a:fld>
            <a:endParaRPr lang="es-AR"/>
          </a:p>
        </p:txBody>
      </p:sp>
      <p:sp>
        <p:nvSpPr>
          <p:cNvPr id="134" name="Google Shape;134;p4">
            <a:extLst>
              <a:ext uri="{FF2B5EF4-FFF2-40B4-BE49-F238E27FC236}">
                <a16:creationId xmlns:a16="http://schemas.microsoft.com/office/drawing/2014/main" id="{F439FB5F-60A4-7659-E49C-9DE63ABB25E3}"/>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cliente-servidor</a:t>
            </a:r>
          </a:p>
          <a:p>
            <a:pPr marL="530225" lvl="0" indent="0" algn="just">
              <a:lnSpc>
                <a:spcPct val="85000"/>
              </a:lnSpc>
              <a:spcBef>
                <a:spcPts val="0"/>
              </a:spcBef>
              <a:spcAft>
                <a:spcPts val="1200"/>
              </a:spcAft>
              <a:buClr>
                <a:srgbClr val="C00000"/>
              </a:buClr>
              <a:buNone/>
            </a:pPr>
            <a:r>
              <a:rPr lang="es-ES" sz="2400" dirty="0">
                <a:solidFill>
                  <a:schemeClr val="tx1"/>
                </a:solidFill>
              </a:rPr>
              <a:t>Es un modelo donde el sistema se organiza como un conjunto de servicios y servidores asociados, más unos clientes que utilizan los servicios.</a:t>
            </a:r>
          </a:p>
          <a:p>
            <a:pPr marL="530225" lvl="0" indent="-530225" algn="just">
              <a:lnSpc>
                <a:spcPct val="85000"/>
              </a:lnSpc>
              <a:spcBef>
                <a:spcPts val="0"/>
              </a:spcBef>
              <a:spcAft>
                <a:spcPts val="600"/>
              </a:spcAft>
              <a:buClr>
                <a:srgbClr val="C00000"/>
              </a:buClr>
              <a:buFont typeface="Noto Sans Symbols"/>
              <a:buChar char="❖"/>
            </a:pPr>
            <a:r>
              <a:rPr lang="es-ES" sz="2400" dirty="0">
                <a:solidFill>
                  <a:schemeClr val="tx1"/>
                </a:solidFill>
              </a:rPr>
              <a:t>Componentes:</a:t>
            </a:r>
          </a:p>
          <a:p>
            <a:pPr marL="900113" lvl="0" indent="-3698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Un conjunto de servidores que ofrecen servicios</a:t>
            </a:r>
          </a:p>
          <a:p>
            <a:pPr marL="900113" lvl="0" indent="-3698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Un conjunto de clientes que llaman a los servicios</a:t>
            </a:r>
          </a:p>
          <a:p>
            <a:pPr marL="900113" lvl="0" indent="-3698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Una red que permite a los clientes acceder a los servicios </a:t>
            </a:r>
          </a:p>
          <a:p>
            <a:pPr marL="900113" lvl="0" indent="0" algn="just">
              <a:lnSpc>
                <a:spcPct val="85000"/>
              </a:lnSpc>
              <a:spcBef>
                <a:spcPts val="0"/>
              </a:spcBef>
              <a:spcAft>
                <a:spcPts val="1200"/>
              </a:spcAft>
              <a:buClr>
                <a:srgbClr val="C00000"/>
              </a:buClr>
              <a:buNone/>
            </a:pPr>
            <a:r>
              <a:rPr lang="es-ES" i="1" dirty="0">
                <a:solidFill>
                  <a:schemeClr val="tx1"/>
                </a:solidFill>
              </a:rPr>
              <a:t>Caso particular cuando los servicios y el cliente corren en la misma máquina.</a:t>
            </a:r>
          </a:p>
          <a:p>
            <a:pPr marL="530225" lvl="0" indent="-530225" algn="just">
              <a:lnSpc>
                <a:spcPct val="85000"/>
              </a:lnSpc>
              <a:spcBef>
                <a:spcPts val="0"/>
              </a:spcBef>
              <a:spcAft>
                <a:spcPts val="1200"/>
              </a:spcAft>
              <a:buClr>
                <a:srgbClr val="C00000"/>
              </a:buClr>
              <a:buFont typeface="Noto Sans Symbols"/>
              <a:buChar char="❖"/>
            </a:pPr>
            <a:r>
              <a:rPr lang="es-ES" sz="2400" dirty="0">
                <a:solidFill>
                  <a:schemeClr val="tx1"/>
                </a:solidFill>
              </a:rPr>
              <a:t>Los clientes conocen el nombre del servidor y el servicio que brinda, pero el servidor no necesita conocer al cliente.</a:t>
            </a:r>
          </a:p>
        </p:txBody>
      </p:sp>
    </p:spTree>
    <p:extLst>
      <p:ext uri="{BB962C8B-B14F-4D97-AF65-F5344CB8AC3E}">
        <p14:creationId xmlns:p14="http://schemas.microsoft.com/office/powerpoint/2010/main" val="639238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2A7EFDD5-1CD8-59F7-21D6-D0AA78D9AF2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4F55273F-AA49-7139-4DD2-8E20F283809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283B33B9-E32C-5891-F0D7-B6A6CC8AD299}"/>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D9731F7-7663-F5BD-2837-1921B60BF141}"/>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03F51B89-D5BD-ABEF-F68F-A17AEB360E7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15</a:t>
            </a:fld>
            <a:endParaRPr lang="es-AR"/>
          </a:p>
        </p:txBody>
      </p:sp>
      <p:sp>
        <p:nvSpPr>
          <p:cNvPr id="134" name="Google Shape;134;p4">
            <a:extLst>
              <a:ext uri="{FF2B5EF4-FFF2-40B4-BE49-F238E27FC236}">
                <a16:creationId xmlns:a16="http://schemas.microsoft.com/office/drawing/2014/main" id="{7B156442-A903-69C3-309E-89B2B249F7FB}"/>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cliente-servidor</a:t>
            </a:r>
          </a:p>
        </p:txBody>
      </p:sp>
      <p:pic>
        <p:nvPicPr>
          <p:cNvPr id="5" name="Google Shape;240;p13">
            <a:extLst>
              <a:ext uri="{FF2B5EF4-FFF2-40B4-BE49-F238E27FC236}">
                <a16:creationId xmlns:a16="http://schemas.microsoft.com/office/drawing/2014/main" id="{5EC1BC5C-F266-4A87-F2A3-390A441877D3}"/>
              </a:ext>
            </a:extLst>
          </p:cNvPr>
          <p:cNvPicPr preferRelativeResize="0"/>
          <p:nvPr/>
        </p:nvPicPr>
        <p:blipFill rotWithShape="1">
          <a:blip r:embed="rId3">
            <a:alphaModFix/>
          </a:blip>
          <a:srcRect/>
          <a:stretch/>
        </p:blipFill>
        <p:spPr>
          <a:xfrm>
            <a:off x="2908419" y="2564853"/>
            <a:ext cx="6425963" cy="3496814"/>
          </a:xfrm>
          <a:prstGeom prst="rect">
            <a:avLst/>
          </a:prstGeom>
          <a:noFill/>
          <a:ln>
            <a:noFill/>
          </a:ln>
        </p:spPr>
      </p:pic>
    </p:spTree>
    <p:extLst>
      <p:ext uri="{BB962C8B-B14F-4D97-AF65-F5344CB8AC3E}">
        <p14:creationId xmlns:p14="http://schemas.microsoft.com/office/powerpoint/2010/main" val="1523852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71BFB9D-F10D-0746-DC01-C703B95D73F3}"/>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0E4605F5-98EF-4AA9-23F9-2534CEE0EB0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FA2EE968-5868-262C-AA11-DDE3D0A06164}"/>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B10B95F-B39C-6D90-936B-1DE2D0FB3920}"/>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97F34301-A525-328A-1A23-47726FAB2E9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16</a:t>
            </a:fld>
            <a:endParaRPr lang="es-AR"/>
          </a:p>
        </p:txBody>
      </p:sp>
      <p:sp>
        <p:nvSpPr>
          <p:cNvPr id="134" name="Google Shape;134;p4">
            <a:extLst>
              <a:ext uri="{FF2B5EF4-FFF2-40B4-BE49-F238E27FC236}">
                <a16:creationId xmlns:a16="http://schemas.microsoft.com/office/drawing/2014/main" id="{10197578-8C1C-07BD-C813-10621081108D}"/>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arquitectura en capas</a:t>
            </a:r>
          </a:p>
          <a:p>
            <a:pPr marL="530225" lvl="0" indent="0" algn="just">
              <a:lnSpc>
                <a:spcPct val="85000"/>
              </a:lnSpc>
              <a:spcBef>
                <a:spcPts val="0"/>
              </a:spcBef>
              <a:spcAft>
                <a:spcPts val="1200"/>
              </a:spcAft>
              <a:buClr>
                <a:srgbClr val="C00000"/>
              </a:buClr>
              <a:buNone/>
            </a:pPr>
            <a:r>
              <a:rPr lang="es-ES" sz="2400" dirty="0">
                <a:solidFill>
                  <a:schemeClr val="tx1"/>
                </a:solidFill>
              </a:rPr>
              <a:t>El sistema se organiza en capas, donde cada una de ellas presenta un conjunto de servicios a sus capas adyacentes.</a:t>
            </a:r>
          </a:p>
          <a:p>
            <a:pPr marL="530225" lvl="0" indent="0" algn="just">
              <a:lnSpc>
                <a:spcPct val="85000"/>
              </a:lnSpc>
              <a:spcBef>
                <a:spcPts val="0"/>
              </a:spcBef>
              <a:spcAft>
                <a:spcPts val="600"/>
              </a:spcAft>
              <a:buClr>
                <a:srgbClr val="C00000"/>
              </a:buClr>
              <a:buNone/>
            </a:pPr>
            <a:r>
              <a:rPr lang="es-ES" sz="2400" dirty="0">
                <a:solidFill>
                  <a:schemeClr val="tx1"/>
                </a:solidFill>
              </a:rPr>
              <a:t>Ventajas:</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Soporta el desarrollo incremental.</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Es portable y resistente a cambios.</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Una capa puede ser reemplazada siempre que se mantenga la interfaz, y si varía la interfaz se genera una capa para adaptarlas.</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Permite generar sistemas multiplataforma, ya que solamente las capas más internas son dependientes de la plataforma (se genera una capa interna para cada plataforma).</a:t>
            </a:r>
          </a:p>
        </p:txBody>
      </p:sp>
    </p:spTree>
    <p:extLst>
      <p:ext uri="{BB962C8B-B14F-4D97-AF65-F5344CB8AC3E}">
        <p14:creationId xmlns:p14="http://schemas.microsoft.com/office/powerpoint/2010/main" val="4076734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6C56C86-F7DA-6CAB-3A8B-8BB14C642C66}"/>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6D91206-8E11-1FDB-1F88-CFA27C78D95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3614DD51-87E0-50E4-0DB5-9674C22AE3E4}"/>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AC16199-786B-D79F-4805-178AAEF5EE90}"/>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DAD616BA-CE99-CACA-2B22-30B4762E592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17</a:t>
            </a:fld>
            <a:endParaRPr lang="es-AR"/>
          </a:p>
        </p:txBody>
      </p:sp>
      <p:sp>
        <p:nvSpPr>
          <p:cNvPr id="134" name="Google Shape;134;p4">
            <a:extLst>
              <a:ext uri="{FF2B5EF4-FFF2-40B4-BE49-F238E27FC236}">
                <a16:creationId xmlns:a16="http://schemas.microsoft.com/office/drawing/2014/main" id="{091D1503-E97C-F4E7-6916-C642BE8FF7A7}"/>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arquitectura en capas</a:t>
            </a:r>
          </a:p>
          <a:p>
            <a:pPr marL="530225" lvl="0" indent="0" algn="just">
              <a:lnSpc>
                <a:spcPct val="85000"/>
              </a:lnSpc>
              <a:spcBef>
                <a:spcPts val="0"/>
              </a:spcBef>
              <a:spcAft>
                <a:spcPts val="600"/>
              </a:spcAft>
              <a:buClr>
                <a:srgbClr val="C00000"/>
              </a:buClr>
              <a:buNone/>
            </a:pPr>
            <a:r>
              <a:rPr lang="es-ES" sz="2400" dirty="0">
                <a:solidFill>
                  <a:schemeClr val="tx1"/>
                </a:solidFill>
              </a:rPr>
              <a:t>Desventajas:</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Difícil de estructurar.</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Las capas internas proporcionan servicios que son requeridos por todos los niveles.</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Los servicios requeridos por el usuario  pueden estar brindados por las capas internas teniendo que atravesar varias capas adyacentes.</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Si hay muchas capas, un servicio solicitado de la capa superior puede tener que ser interpretado varias veces en diferentes capas.</a:t>
            </a:r>
          </a:p>
        </p:txBody>
      </p:sp>
    </p:spTree>
    <p:extLst>
      <p:ext uri="{BB962C8B-B14F-4D97-AF65-F5344CB8AC3E}">
        <p14:creationId xmlns:p14="http://schemas.microsoft.com/office/powerpoint/2010/main" val="2382344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AB20032-AFB2-A104-E02F-84604E48A977}"/>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9B0BADBA-3FBC-C4D4-5577-4B761AEE978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4B979BDE-AD1D-0EC8-0BB7-6CC67241038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D953B6C-1B29-3AE8-5CC2-7EAFDF0465ED}"/>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89C8EBC3-665A-67BA-342E-040A39E5ADF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18</a:t>
            </a:fld>
            <a:endParaRPr lang="es-AR"/>
          </a:p>
        </p:txBody>
      </p:sp>
      <p:sp>
        <p:nvSpPr>
          <p:cNvPr id="134" name="Google Shape;134;p4">
            <a:extLst>
              <a:ext uri="{FF2B5EF4-FFF2-40B4-BE49-F238E27FC236}">
                <a16:creationId xmlns:a16="http://schemas.microsoft.com/office/drawing/2014/main" id="{6E035974-5BA6-660A-368A-CDBF2EA82A2A}"/>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arquitectura en capas</a:t>
            </a:r>
          </a:p>
        </p:txBody>
      </p:sp>
      <p:pic>
        <p:nvPicPr>
          <p:cNvPr id="5" name="Google Shape;268;p19" descr="Gráfico, Diagrama&#10;&#10;El contenido generado por IA puede ser incorrecto.">
            <a:extLst>
              <a:ext uri="{FF2B5EF4-FFF2-40B4-BE49-F238E27FC236}">
                <a16:creationId xmlns:a16="http://schemas.microsoft.com/office/drawing/2014/main" id="{5EC3E8BF-793C-944A-ACAA-5ACE788462A7}"/>
              </a:ext>
            </a:extLst>
          </p:cNvPr>
          <p:cNvPicPr preferRelativeResize="0"/>
          <p:nvPr/>
        </p:nvPicPr>
        <p:blipFill rotWithShape="1">
          <a:blip r:embed="rId3">
            <a:alphaModFix/>
          </a:blip>
          <a:srcRect t="14335" b="13191"/>
          <a:stretch>
            <a:fillRect/>
          </a:stretch>
        </p:blipFill>
        <p:spPr>
          <a:xfrm>
            <a:off x="2565206" y="2344993"/>
            <a:ext cx="7112389" cy="3931059"/>
          </a:xfrm>
          <a:prstGeom prst="rect">
            <a:avLst/>
          </a:prstGeom>
          <a:noFill/>
          <a:ln>
            <a:noFill/>
          </a:ln>
        </p:spPr>
      </p:pic>
    </p:spTree>
    <p:extLst>
      <p:ext uri="{BB962C8B-B14F-4D97-AF65-F5344CB8AC3E}">
        <p14:creationId xmlns:p14="http://schemas.microsoft.com/office/powerpoint/2010/main" val="275906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A3B958E7-B4FB-4734-296E-55243D25AA3A}"/>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F7C22C7-89C2-A6B1-72C2-2D2A264C6D4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0A8414BE-33A4-194C-C419-002D0B2B529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6DF3E5DB-494D-DE40-5F00-6C9A5779EED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E79F1488-DD8C-13AA-C6FE-0095220476B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19</a:t>
            </a:fld>
            <a:endParaRPr lang="es-AR"/>
          </a:p>
        </p:txBody>
      </p:sp>
      <p:sp>
        <p:nvSpPr>
          <p:cNvPr id="134" name="Google Shape;134;p4">
            <a:extLst>
              <a:ext uri="{FF2B5EF4-FFF2-40B4-BE49-F238E27FC236}">
                <a16:creationId xmlns:a16="http://schemas.microsoft.com/office/drawing/2014/main" id="{9A5B82BF-0A9E-DC41-DE14-BB76853AB589}"/>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arquitectura en capas</a:t>
            </a:r>
          </a:p>
        </p:txBody>
      </p:sp>
      <p:pic>
        <p:nvPicPr>
          <p:cNvPr id="6" name="Google Shape;278;p16">
            <a:extLst>
              <a:ext uri="{FF2B5EF4-FFF2-40B4-BE49-F238E27FC236}">
                <a16:creationId xmlns:a16="http://schemas.microsoft.com/office/drawing/2014/main" id="{ACF66E0D-8670-386A-8DB2-4F1E2379CDA1}"/>
              </a:ext>
            </a:extLst>
          </p:cNvPr>
          <p:cNvPicPr preferRelativeResize="0"/>
          <p:nvPr/>
        </p:nvPicPr>
        <p:blipFill rotWithShape="1">
          <a:blip r:embed="rId3">
            <a:alphaModFix/>
          </a:blip>
          <a:srcRect/>
          <a:stretch/>
        </p:blipFill>
        <p:spPr>
          <a:xfrm>
            <a:off x="3455158" y="2374421"/>
            <a:ext cx="5281684" cy="3678142"/>
          </a:xfrm>
          <a:prstGeom prst="rect">
            <a:avLst/>
          </a:prstGeom>
          <a:noFill/>
          <a:ln>
            <a:noFill/>
          </a:ln>
        </p:spPr>
      </p:pic>
    </p:spTree>
    <p:extLst>
      <p:ext uri="{BB962C8B-B14F-4D97-AF65-F5344CB8AC3E}">
        <p14:creationId xmlns:p14="http://schemas.microsoft.com/office/powerpoint/2010/main" val="3138975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04943DDB-FAF7-A46E-AF5D-4CFAB185A1B9}"/>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AF19A41-2C6A-3BB7-F2BB-E01324324D22}"/>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8D183E83-D10D-4BBC-89C1-FA64003C686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FC7EB6C-F1D8-DFA7-380D-A8BBFAB93EDE}"/>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0696FC86-51ED-8FF0-7EE4-F73D0041D85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20</a:t>
            </a:fld>
            <a:endParaRPr lang="es-AR"/>
          </a:p>
        </p:txBody>
      </p:sp>
      <p:sp>
        <p:nvSpPr>
          <p:cNvPr id="134" name="Google Shape;134;p4">
            <a:extLst>
              <a:ext uri="{FF2B5EF4-FFF2-40B4-BE49-F238E27FC236}">
                <a16:creationId xmlns:a16="http://schemas.microsoft.com/office/drawing/2014/main" id="{7663CC00-9B33-7446-FE80-E7C9BB8F9A57}"/>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arquitectura en capas – Ejemplo:</a:t>
            </a:r>
          </a:p>
        </p:txBody>
      </p:sp>
      <p:pic>
        <p:nvPicPr>
          <p:cNvPr id="5" name="Google Shape;288;p17">
            <a:extLst>
              <a:ext uri="{FF2B5EF4-FFF2-40B4-BE49-F238E27FC236}">
                <a16:creationId xmlns:a16="http://schemas.microsoft.com/office/drawing/2014/main" id="{AAA80F0B-5592-44B3-8125-8442EF3C4EAB}"/>
              </a:ext>
            </a:extLst>
          </p:cNvPr>
          <p:cNvPicPr preferRelativeResize="0"/>
          <p:nvPr/>
        </p:nvPicPr>
        <p:blipFill rotWithShape="1">
          <a:blip r:embed="rId3">
            <a:alphaModFix/>
          </a:blip>
          <a:srcRect/>
          <a:stretch/>
        </p:blipFill>
        <p:spPr>
          <a:xfrm>
            <a:off x="6194046" y="2499857"/>
            <a:ext cx="4629907" cy="3678142"/>
          </a:xfrm>
          <a:prstGeom prst="rect">
            <a:avLst/>
          </a:prstGeom>
          <a:noFill/>
          <a:ln>
            <a:noFill/>
          </a:ln>
        </p:spPr>
      </p:pic>
      <p:pic>
        <p:nvPicPr>
          <p:cNvPr id="7" name="Google Shape;289;p17">
            <a:extLst>
              <a:ext uri="{FF2B5EF4-FFF2-40B4-BE49-F238E27FC236}">
                <a16:creationId xmlns:a16="http://schemas.microsoft.com/office/drawing/2014/main" id="{9F58F649-244A-D052-BA59-720D001A0630}"/>
              </a:ext>
            </a:extLst>
          </p:cNvPr>
          <p:cNvPicPr preferRelativeResize="0"/>
          <p:nvPr/>
        </p:nvPicPr>
        <p:blipFill rotWithShape="1">
          <a:blip r:embed="rId4">
            <a:alphaModFix/>
          </a:blip>
          <a:srcRect/>
          <a:stretch/>
        </p:blipFill>
        <p:spPr>
          <a:xfrm>
            <a:off x="1255334" y="2496271"/>
            <a:ext cx="4629907" cy="3678142"/>
          </a:xfrm>
          <a:prstGeom prst="rect">
            <a:avLst/>
          </a:prstGeom>
          <a:noFill/>
          <a:ln>
            <a:noFill/>
          </a:ln>
        </p:spPr>
      </p:pic>
    </p:spTree>
    <p:extLst>
      <p:ext uri="{BB962C8B-B14F-4D97-AF65-F5344CB8AC3E}">
        <p14:creationId xmlns:p14="http://schemas.microsoft.com/office/powerpoint/2010/main" val="4234250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A5638A2C-678B-CB3B-7CDA-42235492E64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492B6E0D-F295-4474-47C4-3700A08D3EB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F3DEC8F8-EBFA-351F-9B86-5FF039E7116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531FA10-DA07-3785-A79B-70D6DBA9F74F}"/>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6994669C-28B8-5224-C4F8-672EC0B2EC4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21</a:t>
            </a:fld>
            <a:endParaRPr lang="es-AR"/>
          </a:p>
        </p:txBody>
      </p:sp>
      <p:sp>
        <p:nvSpPr>
          <p:cNvPr id="6" name="Google Shape;134;p4">
            <a:extLst>
              <a:ext uri="{FF2B5EF4-FFF2-40B4-BE49-F238E27FC236}">
                <a16:creationId xmlns:a16="http://schemas.microsoft.com/office/drawing/2014/main" id="{019A9C3D-D849-0D03-5006-95418F0459CD}"/>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arquitectura en capas</a:t>
            </a:r>
          </a:p>
        </p:txBody>
      </p:sp>
      <p:pic>
        <p:nvPicPr>
          <p:cNvPr id="8" name="Google Shape;297;p20" descr="Diagrama&#10;&#10;El contenido generado por IA puede ser incorrecto.">
            <a:extLst>
              <a:ext uri="{FF2B5EF4-FFF2-40B4-BE49-F238E27FC236}">
                <a16:creationId xmlns:a16="http://schemas.microsoft.com/office/drawing/2014/main" id="{6988F4A0-034C-B3BA-1ABE-A84BA7364749}"/>
              </a:ext>
            </a:extLst>
          </p:cNvPr>
          <p:cNvPicPr preferRelativeResize="0"/>
          <p:nvPr/>
        </p:nvPicPr>
        <p:blipFill rotWithShape="1">
          <a:blip r:embed="rId3">
            <a:alphaModFix/>
          </a:blip>
          <a:srcRect l="5549" t="20818" r="4434" b="4949"/>
          <a:stretch>
            <a:fillRect/>
          </a:stretch>
        </p:blipFill>
        <p:spPr>
          <a:xfrm>
            <a:off x="1873864" y="2389239"/>
            <a:ext cx="8444272" cy="3864078"/>
          </a:xfrm>
          <a:prstGeom prst="rect">
            <a:avLst/>
          </a:prstGeom>
          <a:noFill/>
          <a:ln>
            <a:noFill/>
          </a:ln>
        </p:spPr>
      </p:pic>
    </p:spTree>
    <p:extLst>
      <p:ext uri="{BB962C8B-B14F-4D97-AF65-F5344CB8AC3E}">
        <p14:creationId xmlns:p14="http://schemas.microsoft.com/office/powerpoint/2010/main" val="1237242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9B694E7-16FD-DAE1-62EA-3EDD0D0E9611}"/>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578663F-D0E5-90B1-51DF-277AC0CD3F7A}"/>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Aspectos del Diseño Arquitectónico</a:t>
            </a:r>
            <a:endParaRPr dirty="0"/>
          </a:p>
        </p:txBody>
      </p:sp>
      <p:sp>
        <p:nvSpPr>
          <p:cNvPr id="2" name="Marcador de fecha 1">
            <a:extLst>
              <a:ext uri="{FF2B5EF4-FFF2-40B4-BE49-F238E27FC236}">
                <a16:creationId xmlns:a16="http://schemas.microsoft.com/office/drawing/2014/main" id="{7C0D82FD-EF3B-6CBD-0226-465C3C40703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C369AD1-683B-09E8-24BE-DE90E480FA3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DFE0E331-389C-B870-8760-4B876AC5430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22</a:t>
            </a:fld>
            <a:endParaRPr lang="es-AR"/>
          </a:p>
        </p:txBody>
      </p:sp>
      <p:sp>
        <p:nvSpPr>
          <p:cNvPr id="134" name="Google Shape;134;p4">
            <a:extLst>
              <a:ext uri="{FF2B5EF4-FFF2-40B4-BE49-F238E27FC236}">
                <a16:creationId xmlns:a16="http://schemas.microsoft.com/office/drawing/2014/main" id="{BEF1C30B-B04D-3812-9158-B50404C62120}"/>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Organización del sistema</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Descomposición modular</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Modelos de control</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Arquitectura de los Sistemas Distribuidos</a:t>
            </a:r>
          </a:p>
          <a:p>
            <a:pPr marL="0" lvl="0" indent="0" algn="just">
              <a:lnSpc>
                <a:spcPct val="85000"/>
              </a:lnSpc>
              <a:spcBef>
                <a:spcPts val="0"/>
              </a:spcBef>
              <a:spcAft>
                <a:spcPts val="0"/>
              </a:spcAft>
              <a:buClr>
                <a:srgbClr val="C00000"/>
              </a:buClr>
              <a:buNone/>
            </a:pPr>
            <a:endParaRPr sz="2800" dirty="0">
              <a:solidFill>
                <a:schemeClr val="tx1"/>
              </a:solidFill>
            </a:endParaRPr>
          </a:p>
        </p:txBody>
      </p:sp>
      <p:cxnSp>
        <p:nvCxnSpPr>
          <p:cNvPr id="5" name="Conector recto 4">
            <a:extLst>
              <a:ext uri="{FF2B5EF4-FFF2-40B4-BE49-F238E27FC236}">
                <a16:creationId xmlns:a16="http://schemas.microsoft.com/office/drawing/2014/main" id="{4CE75EF4-9046-A3EB-A362-75E24B412060}"/>
              </a:ext>
            </a:extLst>
          </p:cNvPr>
          <p:cNvCxnSpPr>
            <a:cxnSpLocks/>
          </p:cNvCxnSpPr>
          <p:nvPr/>
        </p:nvCxnSpPr>
        <p:spPr>
          <a:xfrm>
            <a:off x="1666568" y="2772696"/>
            <a:ext cx="367234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410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65FDEFB-A815-0AAF-D964-5A7F2B9FCB27}"/>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81138939-5FB1-75F6-8914-7374C607C02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Descomposición modular</a:t>
            </a:r>
            <a:endParaRPr dirty="0"/>
          </a:p>
        </p:txBody>
      </p:sp>
      <p:sp>
        <p:nvSpPr>
          <p:cNvPr id="2" name="Marcador de fecha 1">
            <a:extLst>
              <a:ext uri="{FF2B5EF4-FFF2-40B4-BE49-F238E27FC236}">
                <a16:creationId xmlns:a16="http://schemas.microsoft.com/office/drawing/2014/main" id="{C4628597-F01E-2DE2-9807-3805008308C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7999421-E39B-C6C5-8EA3-746B0ABA196D}"/>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8FAA4DC8-24FC-CCBB-0307-A93D160144B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23</a:t>
            </a:fld>
            <a:endParaRPr lang="es-AR"/>
          </a:p>
        </p:txBody>
      </p:sp>
      <p:sp>
        <p:nvSpPr>
          <p:cNvPr id="6" name="Google Shape;134;p4">
            <a:extLst>
              <a:ext uri="{FF2B5EF4-FFF2-40B4-BE49-F238E27FC236}">
                <a16:creationId xmlns:a16="http://schemas.microsoft.com/office/drawing/2014/main" id="{5464839A-59F0-FE50-9C13-DE38986A7C5E}"/>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Una vez organizado el sistema, a los subsistemas los podemos dividir en módulos, se puede aplicar los mismos criterios que vimos en la organización, pero la descomposición modular es más pequeña y permite utilizar otros estilos alternativos.</a:t>
            </a:r>
          </a:p>
        </p:txBody>
      </p:sp>
      <p:pic>
        <p:nvPicPr>
          <p:cNvPr id="5" name="Google Shape;316;p25" descr="Gráfico, Gráfico de embudo&#10;&#10;El contenido generado por IA puede ser incorrecto.">
            <a:extLst>
              <a:ext uri="{FF2B5EF4-FFF2-40B4-BE49-F238E27FC236}">
                <a16:creationId xmlns:a16="http://schemas.microsoft.com/office/drawing/2014/main" id="{DF936AE4-49DD-6C3B-25BE-07DC2EF99F0A}"/>
              </a:ext>
            </a:extLst>
          </p:cNvPr>
          <p:cNvPicPr preferRelativeResize="0"/>
          <p:nvPr/>
        </p:nvPicPr>
        <p:blipFill rotWithShape="1">
          <a:blip r:embed="rId3">
            <a:alphaModFix/>
          </a:blip>
          <a:srcRect t="21303" b="11659"/>
          <a:stretch>
            <a:fillRect/>
          </a:stretch>
        </p:blipFill>
        <p:spPr>
          <a:xfrm>
            <a:off x="3020137" y="3429000"/>
            <a:ext cx="6202527" cy="2820969"/>
          </a:xfrm>
          <a:prstGeom prst="rect">
            <a:avLst/>
          </a:prstGeom>
          <a:noFill/>
          <a:ln>
            <a:noFill/>
          </a:ln>
        </p:spPr>
      </p:pic>
    </p:spTree>
    <p:extLst>
      <p:ext uri="{BB962C8B-B14F-4D97-AF65-F5344CB8AC3E}">
        <p14:creationId xmlns:p14="http://schemas.microsoft.com/office/powerpoint/2010/main" val="1611567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A4B32EF-F1D9-D0F6-5821-D3AC526CC317}"/>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5AE9B7F-7D06-709E-8038-4F22619E0D8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Descomposición modular</a:t>
            </a:r>
            <a:endParaRPr dirty="0"/>
          </a:p>
        </p:txBody>
      </p:sp>
      <p:sp>
        <p:nvSpPr>
          <p:cNvPr id="2" name="Marcador de fecha 1">
            <a:extLst>
              <a:ext uri="{FF2B5EF4-FFF2-40B4-BE49-F238E27FC236}">
                <a16:creationId xmlns:a16="http://schemas.microsoft.com/office/drawing/2014/main" id="{43E15FE4-CAF5-C08C-5FA0-9277DFF70084}"/>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3DD9D236-C63D-3699-8EA2-DD755D1C7DD9}"/>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5B7B08A8-14B7-B865-FD2F-CFF33D8B937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24</a:t>
            </a:fld>
            <a:endParaRPr lang="es-AR"/>
          </a:p>
        </p:txBody>
      </p:sp>
      <p:sp>
        <p:nvSpPr>
          <p:cNvPr id="6" name="Google Shape;134;p4">
            <a:extLst>
              <a:ext uri="{FF2B5EF4-FFF2-40B4-BE49-F238E27FC236}">
                <a16:creationId xmlns:a16="http://schemas.microsoft.com/office/drawing/2014/main" id="{C1F9DF29-0BEE-43D5-5494-4E63FCEEA677}"/>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Definiciones:</a:t>
            </a:r>
          </a:p>
          <a:p>
            <a:pPr marL="722313" indent="-279400" algn="just">
              <a:lnSpc>
                <a:spcPct val="85000"/>
              </a:lnSpc>
              <a:spcBef>
                <a:spcPts val="0"/>
              </a:spcBef>
              <a:spcAft>
                <a:spcPts val="1200"/>
              </a:spcAft>
              <a:buClr>
                <a:srgbClr val="C00000"/>
              </a:buClr>
              <a:buFont typeface="Noto Sans Symbols2" panose="020B0502040504020204" pitchFamily="34" charset="0"/>
              <a:buChar char="»"/>
              <a:tabLst>
                <a:tab pos="900113" algn="l"/>
              </a:tabLst>
            </a:pPr>
            <a:r>
              <a:rPr lang="es-ES" sz="2400" dirty="0">
                <a:solidFill>
                  <a:schemeClr val="tx1"/>
                </a:solidFill>
              </a:rPr>
              <a:t>Subsistema</a:t>
            </a:r>
          </a:p>
          <a:p>
            <a:pPr marL="442913" indent="0" algn="just">
              <a:lnSpc>
                <a:spcPct val="85000"/>
              </a:lnSpc>
              <a:spcBef>
                <a:spcPts val="0"/>
              </a:spcBef>
              <a:spcAft>
                <a:spcPts val="1200"/>
              </a:spcAft>
              <a:buClr>
                <a:srgbClr val="C00000"/>
              </a:buClr>
              <a:buNone/>
              <a:tabLst>
                <a:tab pos="900113" algn="l"/>
              </a:tabLst>
            </a:pPr>
            <a:r>
              <a:rPr lang="es-ES" sz="2400" dirty="0">
                <a:solidFill>
                  <a:schemeClr val="tx1"/>
                </a:solidFill>
              </a:rPr>
              <a:t>Es un sistema en sí mismo cuyo funcionamiento no depende de los servicios proporcionados por otros. Los subsistemas se componen de módulos con interfaces definidas que se utilizan para comunicarse con otros subsistemas.</a:t>
            </a:r>
          </a:p>
          <a:p>
            <a:pPr marL="722313" indent="-279400" algn="just">
              <a:lnSpc>
                <a:spcPct val="85000"/>
              </a:lnSpc>
              <a:spcBef>
                <a:spcPts val="0"/>
              </a:spcBef>
              <a:spcAft>
                <a:spcPts val="1200"/>
              </a:spcAft>
              <a:buClr>
                <a:srgbClr val="C00000"/>
              </a:buClr>
              <a:buFont typeface="Noto Sans Symbols2" panose="020B0502040504020204" pitchFamily="34" charset="0"/>
              <a:buChar char="»"/>
              <a:tabLst>
                <a:tab pos="900113" algn="l"/>
              </a:tabLst>
            </a:pPr>
            <a:r>
              <a:rPr lang="es-ES" sz="2400" dirty="0">
                <a:solidFill>
                  <a:schemeClr val="tx1"/>
                </a:solidFill>
              </a:rPr>
              <a:t>Módulo</a:t>
            </a:r>
          </a:p>
          <a:p>
            <a:pPr marL="442913" indent="0" algn="just">
              <a:lnSpc>
                <a:spcPct val="85000"/>
              </a:lnSpc>
              <a:spcBef>
                <a:spcPts val="0"/>
              </a:spcBef>
              <a:spcAft>
                <a:spcPts val="1200"/>
              </a:spcAft>
              <a:buClr>
                <a:srgbClr val="C00000"/>
              </a:buClr>
              <a:buNone/>
              <a:tabLst>
                <a:tab pos="900113" algn="l"/>
              </a:tabLst>
            </a:pPr>
            <a:r>
              <a:rPr lang="es-ES" sz="2400" dirty="0">
                <a:solidFill>
                  <a:schemeClr val="tx1"/>
                </a:solidFill>
              </a:rPr>
              <a:t>Es un componente de un subsistema que proporciona uno o más servicios a otros módulos. A su vez utiliza servicios proporcionados por otros módulos. Por lo general no se los considera un sistema independiente.</a:t>
            </a: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1586015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98B24A6-02A2-A36B-D2A6-EBE71D227CC3}"/>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EA1185DE-330A-D4DC-FAEB-E8A73420237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Descomposición modular</a:t>
            </a:r>
            <a:endParaRPr dirty="0"/>
          </a:p>
        </p:txBody>
      </p:sp>
      <p:sp>
        <p:nvSpPr>
          <p:cNvPr id="2" name="Marcador de fecha 1">
            <a:extLst>
              <a:ext uri="{FF2B5EF4-FFF2-40B4-BE49-F238E27FC236}">
                <a16:creationId xmlns:a16="http://schemas.microsoft.com/office/drawing/2014/main" id="{453A82E5-DD69-3291-523C-477DE0FFA9C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6540631-5D25-DA10-32EC-FF5D66F6379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201FB084-2504-64E6-6F09-F52CA1422D4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25</a:t>
            </a:fld>
            <a:endParaRPr lang="es-AR"/>
          </a:p>
        </p:txBody>
      </p:sp>
      <p:sp>
        <p:nvSpPr>
          <p:cNvPr id="6" name="Google Shape;134;p4">
            <a:extLst>
              <a:ext uri="{FF2B5EF4-FFF2-40B4-BE49-F238E27FC236}">
                <a16:creationId xmlns:a16="http://schemas.microsoft.com/office/drawing/2014/main" id="{737DCFF1-1647-1ABA-501F-999EEF532713}"/>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Descomposición orientada a flujo de funciones:</a:t>
            </a:r>
          </a:p>
          <a:p>
            <a:pPr marL="530225" indent="0" algn="just">
              <a:lnSpc>
                <a:spcPct val="85000"/>
              </a:lnSpc>
              <a:spcBef>
                <a:spcPts val="0"/>
              </a:spcBef>
              <a:spcAft>
                <a:spcPts val="1200"/>
              </a:spcAft>
              <a:buClr>
                <a:srgbClr val="C00000"/>
              </a:buClr>
              <a:buNone/>
            </a:pPr>
            <a:r>
              <a:rPr lang="es-ES" sz="2400" dirty="0">
                <a:solidFill>
                  <a:schemeClr val="tx1"/>
                </a:solidFill>
              </a:rPr>
              <a:t>En un modelo orientado a flujo de funciones , los datos fluyen de una función a otra y se transforman a medida que pasan por una secuencia de funciones hasta llegar a los datos de salida. Las transformaciones se pueden ejecutar en secuencial o en paralelo. </a:t>
            </a:r>
          </a:p>
          <a:p>
            <a:pPr marL="530225" indent="-530225" algn="just">
              <a:lnSpc>
                <a:spcPct val="85000"/>
              </a:lnSpc>
              <a:spcBef>
                <a:spcPts val="0"/>
              </a:spcBef>
              <a:spcAft>
                <a:spcPts val="12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5" name="Google Shape;335;p27">
            <a:extLst>
              <a:ext uri="{FF2B5EF4-FFF2-40B4-BE49-F238E27FC236}">
                <a16:creationId xmlns:a16="http://schemas.microsoft.com/office/drawing/2014/main" id="{DC81986C-7CD9-8E3D-103F-AC67B392CD80}"/>
              </a:ext>
            </a:extLst>
          </p:cNvPr>
          <p:cNvPicPr preferRelativeResize="0"/>
          <p:nvPr/>
        </p:nvPicPr>
        <p:blipFill rotWithShape="1">
          <a:blip r:embed="rId3">
            <a:alphaModFix/>
          </a:blip>
          <a:srcRect/>
          <a:stretch/>
        </p:blipFill>
        <p:spPr>
          <a:xfrm>
            <a:off x="2145046" y="3919795"/>
            <a:ext cx="8786812" cy="2110298"/>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219002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A0B3F925-D829-4AF2-1E21-A4D409818186}"/>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BEE47C2F-7BE8-7831-B030-9DC97E4B066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Descomposición modular</a:t>
            </a:r>
            <a:endParaRPr dirty="0"/>
          </a:p>
        </p:txBody>
      </p:sp>
      <p:sp>
        <p:nvSpPr>
          <p:cNvPr id="2" name="Marcador de fecha 1">
            <a:extLst>
              <a:ext uri="{FF2B5EF4-FFF2-40B4-BE49-F238E27FC236}">
                <a16:creationId xmlns:a16="http://schemas.microsoft.com/office/drawing/2014/main" id="{9E15D11F-C672-D740-08CC-603AEDDC804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6CD807A-E526-1219-5FD0-6FE65E7AE650}"/>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F2005354-2C37-3397-7346-CD852A483AF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26</a:t>
            </a:fld>
            <a:endParaRPr lang="es-AR"/>
          </a:p>
        </p:txBody>
      </p:sp>
      <p:sp>
        <p:nvSpPr>
          <p:cNvPr id="6" name="Google Shape;134;p4">
            <a:extLst>
              <a:ext uri="{FF2B5EF4-FFF2-40B4-BE49-F238E27FC236}">
                <a16:creationId xmlns:a16="http://schemas.microsoft.com/office/drawing/2014/main" id="{4E4692EA-CE59-B4BE-DB99-09AC21DA2C6F}"/>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Descomposición orientada a objetos:</a:t>
            </a:r>
          </a:p>
          <a:p>
            <a:pPr marL="530225" indent="0" algn="just">
              <a:lnSpc>
                <a:spcPct val="85000"/>
              </a:lnSpc>
              <a:spcBef>
                <a:spcPts val="0"/>
              </a:spcBef>
              <a:spcAft>
                <a:spcPts val="1200"/>
              </a:spcAft>
              <a:buClr>
                <a:srgbClr val="C00000"/>
              </a:buClr>
              <a:buNone/>
            </a:pPr>
            <a:r>
              <a:rPr lang="es-ES" sz="2400" dirty="0">
                <a:solidFill>
                  <a:schemeClr val="tx1"/>
                </a:solidFill>
              </a:rPr>
              <a:t>Un modelo arquitectónico orientado a objetos estructura al sistema en un conjunto de objetos débilmente acoplados y con interfaces bien definidas. </a:t>
            </a:r>
          </a:p>
          <a:p>
            <a:pPr marL="530225" indent="-530225" algn="just">
              <a:lnSpc>
                <a:spcPct val="85000"/>
              </a:lnSpc>
              <a:spcBef>
                <a:spcPts val="0"/>
              </a:spcBef>
              <a:spcAft>
                <a:spcPts val="12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7" name="Google Shape;345;p28">
            <a:extLst>
              <a:ext uri="{FF2B5EF4-FFF2-40B4-BE49-F238E27FC236}">
                <a16:creationId xmlns:a16="http://schemas.microsoft.com/office/drawing/2014/main" id="{D25F75E5-1859-FD4D-3902-1FD433EF4354}"/>
              </a:ext>
            </a:extLst>
          </p:cNvPr>
          <p:cNvPicPr preferRelativeResize="0"/>
          <p:nvPr/>
        </p:nvPicPr>
        <p:blipFill rotWithShape="1">
          <a:blip r:embed="rId3">
            <a:alphaModFix/>
          </a:blip>
          <a:srcRect r="6252" b="13564"/>
          <a:stretch>
            <a:fillRect/>
          </a:stretch>
        </p:blipFill>
        <p:spPr>
          <a:xfrm>
            <a:off x="3570288" y="3325268"/>
            <a:ext cx="5411480" cy="2913300"/>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2931795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A3821867-98F7-649A-41D2-59C15997094F}"/>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4F636CD1-3E02-BE6F-0C44-8F54105B1DC2}"/>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Aspectos del Diseño Arquitectónico</a:t>
            </a:r>
            <a:endParaRPr dirty="0"/>
          </a:p>
        </p:txBody>
      </p:sp>
      <p:sp>
        <p:nvSpPr>
          <p:cNvPr id="2" name="Marcador de fecha 1">
            <a:extLst>
              <a:ext uri="{FF2B5EF4-FFF2-40B4-BE49-F238E27FC236}">
                <a16:creationId xmlns:a16="http://schemas.microsoft.com/office/drawing/2014/main" id="{D9A1E95D-4E31-CFAA-5F94-5A940012486E}"/>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3EE79B0-6C3E-7D98-99F6-3EE7034066EB}"/>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0FFA034-0704-7686-1484-504726EB288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27</a:t>
            </a:fld>
            <a:endParaRPr lang="es-AR"/>
          </a:p>
        </p:txBody>
      </p:sp>
      <p:sp>
        <p:nvSpPr>
          <p:cNvPr id="134" name="Google Shape;134;p4">
            <a:extLst>
              <a:ext uri="{FF2B5EF4-FFF2-40B4-BE49-F238E27FC236}">
                <a16:creationId xmlns:a16="http://schemas.microsoft.com/office/drawing/2014/main" id="{242C83AF-EEEF-9CC7-7E41-81FD9CC658EE}"/>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Organización del sistema</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Descomposición modular</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Modelos de control</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Arquitectura de los Sistemas Distribuidos</a:t>
            </a:r>
          </a:p>
          <a:p>
            <a:pPr marL="0" lvl="0" indent="0" algn="just">
              <a:lnSpc>
                <a:spcPct val="85000"/>
              </a:lnSpc>
              <a:spcBef>
                <a:spcPts val="0"/>
              </a:spcBef>
              <a:spcAft>
                <a:spcPts val="0"/>
              </a:spcAft>
              <a:buClr>
                <a:srgbClr val="C00000"/>
              </a:buClr>
              <a:buNone/>
            </a:pPr>
            <a:endParaRPr sz="2800" dirty="0">
              <a:solidFill>
                <a:schemeClr val="tx1"/>
              </a:solidFill>
            </a:endParaRPr>
          </a:p>
        </p:txBody>
      </p:sp>
      <p:cxnSp>
        <p:nvCxnSpPr>
          <p:cNvPr id="5" name="Conector recto 4">
            <a:extLst>
              <a:ext uri="{FF2B5EF4-FFF2-40B4-BE49-F238E27FC236}">
                <a16:creationId xmlns:a16="http://schemas.microsoft.com/office/drawing/2014/main" id="{3F08F929-DC85-5180-0C20-1A7418A47C43}"/>
              </a:ext>
            </a:extLst>
          </p:cNvPr>
          <p:cNvCxnSpPr>
            <a:cxnSpLocks/>
          </p:cNvCxnSpPr>
          <p:nvPr/>
        </p:nvCxnSpPr>
        <p:spPr>
          <a:xfrm>
            <a:off x="1622323" y="3244644"/>
            <a:ext cx="284643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83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2F8F3060-B307-CDBA-9FEE-FF6B320FDEA4}"/>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BAA9B5AC-F9A6-E518-AE0E-93038A48EE00}"/>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29E40959-ECD2-1BAC-0097-5CB85D0E4435}"/>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ADFC1435-CA1D-A766-A655-EF8CB7E67CA5}"/>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576DBE95-3E21-462E-75F6-7F94B4A7362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28</a:t>
            </a:fld>
            <a:endParaRPr lang="es-AR"/>
          </a:p>
        </p:txBody>
      </p:sp>
      <p:sp>
        <p:nvSpPr>
          <p:cNvPr id="6" name="Google Shape;134;p4">
            <a:extLst>
              <a:ext uri="{FF2B5EF4-FFF2-40B4-BE49-F238E27FC236}">
                <a16:creationId xmlns:a16="http://schemas.microsoft.com/office/drawing/2014/main" id="{0CBF8369-3B7B-9CC0-E4F0-3252A0437232}"/>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En un sistema, los subsistemas están controlados para que sus servicios se entreguen en el lugar correcto en el momento preciso.</a:t>
            </a:r>
          </a:p>
          <a:p>
            <a:pPr marL="530225" indent="-530225" algn="just">
              <a:lnSpc>
                <a:spcPct val="85000"/>
              </a:lnSpc>
              <a:spcBef>
                <a:spcPts val="0"/>
              </a:spcBef>
              <a:spcAft>
                <a:spcPts val="12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5" name="Google Shape;364;p30" descr="Diagrama&#10;&#10;El contenido generado por IA puede ser incorrecto.">
            <a:extLst>
              <a:ext uri="{FF2B5EF4-FFF2-40B4-BE49-F238E27FC236}">
                <a16:creationId xmlns:a16="http://schemas.microsoft.com/office/drawing/2014/main" id="{03DCFB7E-9CC9-B1F5-69C0-4026CE443CA9}"/>
              </a:ext>
            </a:extLst>
          </p:cNvPr>
          <p:cNvPicPr preferRelativeResize="0"/>
          <p:nvPr/>
        </p:nvPicPr>
        <p:blipFill rotWithShape="1">
          <a:blip r:embed="rId3">
            <a:alphaModFix/>
          </a:blip>
          <a:srcRect t="13008" b="14366"/>
          <a:stretch>
            <a:fillRect/>
          </a:stretch>
        </p:blipFill>
        <p:spPr>
          <a:xfrm>
            <a:off x="1323807" y="3074987"/>
            <a:ext cx="10182224" cy="3162917"/>
          </a:xfrm>
          <a:prstGeom prst="rect">
            <a:avLst/>
          </a:prstGeom>
          <a:noFill/>
          <a:ln>
            <a:noFill/>
          </a:ln>
        </p:spPr>
      </p:pic>
    </p:spTree>
    <p:extLst>
      <p:ext uri="{BB962C8B-B14F-4D97-AF65-F5344CB8AC3E}">
        <p14:creationId xmlns:p14="http://schemas.microsoft.com/office/powerpoint/2010/main" val="1494297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9C3432A9-4568-EE3A-59BD-CC0489FDC560}"/>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8875470F-4433-01E7-A2C5-099F376764A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B957A5BF-B235-32DA-1773-F130178F0BB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000ACAC-74F9-8FAE-B16B-3A21E80E795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6994119A-A33E-C02D-66D4-9A45FCD3148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29</a:t>
            </a:fld>
            <a:endParaRPr lang="es-AR"/>
          </a:p>
        </p:txBody>
      </p:sp>
      <p:sp>
        <p:nvSpPr>
          <p:cNvPr id="6" name="Google Shape;134;p4">
            <a:extLst>
              <a:ext uri="{FF2B5EF4-FFF2-40B4-BE49-F238E27FC236}">
                <a16:creationId xmlns:a16="http://schemas.microsoft.com/office/drawing/2014/main" id="{0A487F9D-73F1-5DA4-BF03-407B4E87334F}"/>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Control centralizado:</a:t>
            </a:r>
          </a:p>
          <a:p>
            <a:pPr marL="530225" indent="0" algn="just">
              <a:lnSpc>
                <a:spcPct val="85000"/>
              </a:lnSpc>
              <a:spcBef>
                <a:spcPts val="0"/>
              </a:spcBef>
              <a:spcAft>
                <a:spcPts val="1200"/>
              </a:spcAft>
              <a:buClr>
                <a:srgbClr val="C00000"/>
              </a:buClr>
              <a:buNone/>
            </a:pPr>
            <a:r>
              <a:rPr lang="es-ES" sz="2400" dirty="0">
                <a:solidFill>
                  <a:schemeClr val="tx1"/>
                </a:solidFill>
              </a:rPr>
              <a:t>Un subsistema se diseña como controlador y tiene la responsabilidad de gestionar la ejecución de otros subsistemas, la ejecución puede ser secuencial o en paralelo.</a:t>
            </a:r>
            <a:endParaRPr lang="es-ES" sz="1050" dirty="0">
              <a:solidFill>
                <a:schemeClr val="tx1"/>
              </a:solidFill>
            </a:endParaRP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de llamada y retorno</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Modelo de subrutinas descendentes </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Aplicable a modelos secuenciales</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de gestor</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Un gestor controla el inicio y parada coordinado con el resto de los procesos</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Aplicable a modelos concurrentes</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23655673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D43B8A9-14B4-8238-67AE-F45920C9552A}"/>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9091F69-08ED-028F-2D53-44CDF0EBE05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67745370-3A0C-A907-80D7-35247EF3C2FD}"/>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B34F3DD-7232-5F10-FC3A-66673D506E6C}"/>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F8D27A53-6863-B901-50B9-911AC8F1B08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30</a:t>
            </a:fld>
            <a:endParaRPr lang="es-AR"/>
          </a:p>
        </p:txBody>
      </p:sp>
      <p:sp>
        <p:nvSpPr>
          <p:cNvPr id="6" name="Google Shape;134;p4">
            <a:extLst>
              <a:ext uri="{FF2B5EF4-FFF2-40B4-BE49-F238E27FC236}">
                <a16:creationId xmlns:a16="http://schemas.microsoft.com/office/drawing/2014/main" id="{5C05A30D-A926-9212-58F4-A5D498F9F467}"/>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Control centralizado</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de llamada y retorno</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5" name="Google Shape;383;p32">
            <a:extLst>
              <a:ext uri="{FF2B5EF4-FFF2-40B4-BE49-F238E27FC236}">
                <a16:creationId xmlns:a16="http://schemas.microsoft.com/office/drawing/2014/main" id="{2BB24AD0-B335-4453-2F3E-327BA7CDE98B}"/>
              </a:ext>
            </a:extLst>
          </p:cNvPr>
          <p:cNvPicPr preferRelativeResize="0"/>
          <p:nvPr/>
        </p:nvPicPr>
        <p:blipFill rotWithShape="1">
          <a:blip r:embed="rId3">
            <a:alphaModFix/>
          </a:blip>
          <a:srcRect/>
          <a:stretch/>
        </p:blipFill>
        <p:spPr>
          <a:xfrm>
            <a:off x="2702718" y="3074987"/>
            <a:ext cx="6786563" cy="2963862"/>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1425037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D02A52B9-6058-A48D-CDEF-56D6C11B8E00}"/>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9379D603-0478-7AB1-E43B-AA7D6D398CE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DFE56616-38B7-3015-3B3B-E6DC7DA3255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411EF62-DF2D-1908-E7DD-C6121FFE896A}"/>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CC125C3F-2A5B-F4D0-1CEE-DC56986B147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31</a:t>
            </a:fld>
            <a:endParaRPr lang="es-AR"/>
          </a:p>
        </p:txBody>
      </p:sp>
      <p:sp>
        <p:nvSpPr>
          <p:cNvPr id="6" name="Google Shape;134;p4">
            <a:extLst>
              <a:ext uri="{FF2B5EF4-FFF2-40B4-BE49-F238E27FC236}">
                <a16:creationId xmlns:a16="http://schemas.microsoft.com/office/drawing/2014/main" id="{CBE0A04E-F62E-7E0B-A19D-1186AA05FD92}"/>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Control centralizado</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de llamada y retorno - Ejemplo</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7" name="Google Shape;391;p21" descr="Diagrama&#10;&#10;El contenido generado por IA puede ser incorrecto.">
            <a:extLst>
              <a:ext uri="{FF2B5EF4-FFF2-40B4-BE49-F238E27FC236}">
                <a16:creationId xmlns:a16="http://schemas.microsoft.com/office/drawing/2014/main" id="{4C9D8491-083E-6687-1715-30F6E2C22C27}"/>
              </a:ext>
            </a:extLst>
          </p:cNvPr>
          <p:cNvPicPr preferRelativeResize="0"/>
          <p:nvPr/>
        </p:nvPicPr>
        <p:blipFill rotWithShape="1">
          <a:blip r:embed="rId3">
            <a:alphaModFix/>
          </a:blip>
          <a:srcRect t="19469" b="8702"/>
          <a:stretch>
            <a:fillRect/>
          </a:stretch>
        </p:blipFill>
        <p:spPr>
          <a:xfrm>
            <a:off x="3184877" y="2861187"/>
            <a:ext cx="5822246" cy="3465871"/>
          </a:xfrm>
          <a:prstGeom prst="rect">
            <a:avLst/>
          </a:prstGeom>
          <a:noFill/>
          <a:ln>
            <a:noFill/>
          </a:ln>
        </p:spPr>
      </p:pic>
    </p:spTree>
    <p:extLst>
      <p:ext uri="{BB962C8B-B14F-4D97-AF65-F5344CB8AC3E}">
        <p14:creationId xmlns:p14="http://schemas.microsoft.com/office/powerpoint/2010/main" val="4179107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8ADA274-8453-F926-87D3-213E0F743AA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ED3D7FAE-99CA-AE5D-F3BA-A5999A7AB312}"/>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0584CE24-7AFE-FD6A-2C6B-59301FFE04F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3B5EDAE1-1E10-3625-71EB-FDA666A90A90}"/>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1C4CC062-BF2A-3E6C-8835-D3EB7DCD599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32</a:t>
            </a:fld>
            <a:endParaRPr lang="es-AR"/>
          </a:p>
        </p:txBody>
      </p:sp>
      <p:sp>
        <p:nvSpPr>
          <p:cNvPr id="6" name="Google Shape;134;p4">
            <a:extLst>
              <a:ext uri="{FF2B5EF4-FFF2-40B4-BE49-F238E27FC236}">
                <a16:creationId xmlns:a16="http://schemas.microsoft.com/office/drawing/2014/main" id="{2D1DC0E0-9AFC-BF00-ABD4-E25476FB9571}"/>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Control centralizado</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de gestor</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7" name="Google Shape;401;p33">
            <a:extLst>
              <a:ext uri="{FF2B5EF4-FFF2-40B4-BE49-F238E27FC236}">
                <a16:creationId xmlns:a16="http://schemas.microsoft.com/office/drawing/2014/main" id="{744B658C-08B1-F2C9-1751-0CDBEB13A52E}"/>
              </a:ext>
            </a:extLst>
          </p:cNvPr>
          <p:cNvPicPr preferRelativeResize="0"/>
          <p:nvPr/>
        </p:nvPicPr>
        <p:blipFill rotWithShape="1">
          <a:blip r:embed="rId3">
            <a:alphaModFix/>
          </a:blip>
          <a:srcRect l="16069"/>
          <a:stretch>
            <a:fillRect/>
          </a:stretch>
        </p:blipFill>
        <p:spPr>
          <a:xfrm>
            <a:off x="3604599" y="2918119"/>
            <a:ext cx="5033603" cy="3245961"/>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16016842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DF57474-D1BE-208F-DC87-F02CF6677D84}"/>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FC8453F5-F436-6840-E8A8-045B6793A37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00A7D9B5-DEA0-C838-A0DA-B35F26AC56F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B2801DD-5270-2386-5EBE-481CDD6FB5C5}"/>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ACF733DB-6BB5-E178-7CB7-51DF7F21FEB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33</a:t>
            </a:fld>
            <a:endParaRPr lang="es-AR"/>
          </a:p>
        </p:txBody>
      </p:sp>
      <p:sp>
        <p:nvSpPr>
          <p:cNvPr id="6" name="Google Shape;134;p4">
            <a:extLst>
              <a:ext uri="{FF2B5EF4-FFF2-40B4-BE49-F238E27FC236}">
                <a16:creationId xmlns:a16="http://schemas.microsoft.com/office/drawing/2014/main" id="{E3A11E03-23C1-3633-49F7-29EA4E870D77}"/>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Control centralizado</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de gestor - Ejemplo</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5" name="Google Shape;409;p22" descr="Diagrama&#10;&#10;El contenido generado por IA puede ser incorrecto.">
            <a:extLst>
              <a:ext uri="{FF2B5EF4-FFF2-40B4-BE49-F238E27FC236}">
                <a16:creationId xmlns:a16="http://schemas.microsoft.com/office/drawing/2014/main" id="{2A293507-C647-4DBE-6F28-1624AE3B71DB}"/>
              </a:ext>
            </a:extLst>
          </p:cNvPr>
          <p:cNvPicPr preferRelativeResize="0"/>
          <p:nvPr/>
        </p:nvPicPr>
        <p:blipFill rotWithShape="1">
          <a:blip r:embed="rId3">
            <a:alphaModFix/>
          </a:blip>
          <a:srcRect t="19254" b="7428"/>
          <a:stretch>
            <a:fillRect/>
          </a:stretch>
        </p:blipFill>
        <p:spPr>
          <a:xfrm>
            <a:off x="2412247" y="2831690"/>
            <a:ext cx="7367505" cy="3420584"/>
          </a:xfrm>
          <a:prstGeom prst="rect">
            <a:avLst/>
          </a:prstGeom>
          <a:noFill/>
          <a:ln>
            <a:noFill/>
          </a:ln>
        </p:spPr>
      </p:pic>
    </p:spTree>
    <p:extLst>
      <p:ext uri="{BB962C8B-B14F-4D97-AF65-F5344CB8AC3E}">
        <p14:creationId xmlns:p14="http://schemas.microsoft.com/office/powerpoint/2010/main" val="416956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F1D2A44D-471C-1502-1261-3086642A2C1E}"/>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DA34341A-1883-06AB-1740-CCA2314BF67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37D02DAB-E38E-0288-99B3-E4A2487A3E7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A88B2A4B-2832-9590-D318-1AD543A4E2BB}"/>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01EA4CE3-ED03-D930-6169-D6F0D6B4B96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34</a:t>
            </a:fld>
            <a:endParaRPr lang="es-AR"/>
          </a:p>
        </p:txBody>
      </p:sp>
      <p:sp>
        <p:nvSpPr>
          <p:cNvPr id="6" name="Google Shape;134;p4">
            <a:extLst>
              <a:ext uri="{FF2B5EF4-FFF2-40B4-BE49-F238E27FC236}">
                <a16:creationId xmlns:a16="http://schemas.microsoft.com/office/drawing/2014/main" id="{479C1297-6813-BE6C-D890-3E84CEB4DB51}"/>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Control basado en eventos:</a:t>
            </a:r>
          </a:p>
          <a:p>
            <a:pPr marL="530225" indent="0" algn="just">
              <a:lnSpc>
                <a:spcPct val="85000"/>
              </a:lnSpc>
              <a:spcBef>
                <a:spcPts val="0"/>
              </a:spcBef>
              <a:spcAft>
                <a:spcPts val="1200"/>
              </a:spcAft>
              <a:buClr>
                <a:srgbClr val="C00000"/>
              </a:buClr>
              <a:buNone/>
            </a:pPr>
            <a:r>
              <a:rPr lang="es-ES" sz="2400" dirty="0">
                <a:solidFill>
                  <a:schemeClr val="tx1"/>
                </a:solidFill>
              </a:rPr>
              <a:t>Se rigen por eventos generados externamente al proceso.</a:t>
            </a:r>
            <a:endParaRPr lang="es-ES" sz="1050" dirty="0">
              <a:solidFill>
                <a:schemeClr val="tx1"/>
              </a:solidFill>
            </a:endParaRP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Eventos:</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Señal binaria</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Un valor dentro de un rango</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Una entrada de un comando </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Una selección del menú</a:t>
            </a:r>
          </a:p>
          <a:p>
            <a:pPr marL="900113" indent="-369888" algn="just">
              <a:lnSpc>
                <a:spcPct val="85000"/>
              </a:lnSpc>
              <a:spcBef>
                <a:spcPts val="60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Modelos de sistemas dirigidos por eventos</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Modelos de transmisión (Broadcast)</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Modelo dirigido por interrupciones</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23494723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AE1B6B95-02C3-0D2F-AD01-73D37790844D}"/>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5011896D-6ADC-07A4-D8CC-E1674A9A5F2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B701E547-4A33-3DEF-C963-D8F78B5FC8A9}"/>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422B2E6-6CCD-1B08-EEFD-52566067E934}"/>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08D24C2-998A-46C5-590C-D450F6E27EC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35</a:t>
            </a:fld>
            <a:endParaRPr lang="es-AR"/>
          </a:p>
        </p:txBody>
      </p:sp>
      <p:sp>
        <p:nvSpPr>
          <p:cNvPr id="6" name="Google Shape;134;p4">
            <a:extLst>
              <a:ext uri="{FF2B5EF4-FFF2-40B4-BE49-F238E27FC236}">
                <a16:creationId xmlns:a16="http://schemas.microsoft.com/office/drawing/2014/main" id="{C5D0D5DE-D6C2-34CD-AC71-AEC9505E4FEE}"/>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Sistema dirigido por eventos</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Modelos de transmisión (Broadcast):</a:t>
            </a:r>
          </a:p>
          <a:p>
            <a:pPr marL="900113" indent="0" algn="just">
              <a:lnSpc>
                <a:spcPct val="85000"/>
              </a:lnSpc>
              <a:spcBef>
                <a:spcPts val="0"/>
              </a:spcBef>
              <a:spcAft>
                <a:spcPts val="600"/>
              </a:spcAft>
              <a:buClr>
                <a:srgbClr val="C00000"/>
              </a:buClr>
              <a:buNone/>
              <a:tabLst>
                <a:tab pos="811213" algn="l"/>
              </a:tabLst>
            </a:pPr>
            <a:r>
              <a:rPr lang="es-ES" sz="2400" dirty="0">
                <a:solidFill>
                  <a:schemeClr val="tx1"/>
                </a:solidFill>
              </a:rPr>
              <a:t>Un evento se trasmite a todos los subsistemas, cualquier subsistema programado para manejar ese evento lo atenderá.</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endParaRPr lang="es-ES" sz="2400" dirty="0">
              <a:solidFill>
                <a:schemeClr val="tx1"/>
              </a:solidFill>
            </a:endParaRP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5" name="Google Shape;429;p35">
            <a:extLst>
              <a:ext uri="{FF2B5EF4-FFF2-40B4-BE49-F238E27FC236}">
                <a16:creationId xmlns:a16="http://schemas.microsoft.com/office/drawing/2014/main" id="{E3299464-FC88-DD66-3789-6EBCBED242C0}"/>
              </a:ext>
            </a:extLst>
          </p:cNvPr>
          <p:cNvPicPr preferRelativeResize="0"/>
          <p:nvPr/>
        </p:nvPicPr>
        <p:blipFill rotWithShape="1">
          <a:blip r:embed="rId3">
            <a:alphaModFix/>
          </a:blip>
          <a:srcRect/>
          <a:stretch/>
        </p:blipFill>
        <p:spPr>
          <a:xfrm>
            <a:off x="3328988" y="3808514"/>
            <a:ext cx="6572250" cy="2230438"/>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37852647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129376A-6808-633E-0A1E-849CB35070F5}"/>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9E9AFFB-DDF4-CBDE-5DCE-5A34B0EBB9DB}"/>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43BF7AAB-F259-3DF2-C614-82DF1558316D}"/>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363B7210-F148-7C38-3464-F556893DCF89}"/>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B511F311-B74D-88BA-52E2-F9483AB2A95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36</a:t>
            </a:fld>
            <a:endParaRPr lang="es-AR"/>
          </a:p>
        </p:txBody>
      </p:sp>
      <p:sp>
        <p:nvSpPr>
          <p:cNvPr id="6" name="Google Shape;134;p4">
            <a:extLst>
              <a:ext uri="{FF2B5EF4-FFF2-40B4-BE49-F238E27FC236}">
                <a16:creationId xmlns:a16="http://schemas.microsoft.com/office/drawing/2014/main" id="{A20F8178-A38E-97CA-BABA-7A5167BB2CC6}"/>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Sistema dirigido por eventos</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Modelos de transmisión (Broadcast) - Ejemplo</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endParaRPr lang="es-ES" sz="2400" dirty="0">
              <a:solidFill>
                <a:schemeClr val="tx1"/>
              </a:solidFill>
            </a:endParaRP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7" name="Google Shape;437;p23" descr="Gráfico, Gráfico de embudo&#10;&#10;El contenido generado por IA puede ser incorrecto.">
            <a:extLst>
              <a:ext uri="{FF2B5EF4-FFF2-40B4-BE49-F238E27FC236}">
                <a16:creationId xmlns:a16="http://schemas.microsoft.com/office/drawing/2014/main" id="{9BE0A606-475F-E1A6-00A0-2C6F1C5D7379}"/>
              </a:ext>
            </a:extLst>
          </p:cNvPr>
          <p:cNvPicPr preferRelativeResize="0"/>
          <p:nvPr/>
        </p:nvPicPr>
        <p:blipFill rotWithShape="1">
          <a:blip r:embed="rId3">
            <a:alphaModFix/>
          </a:blip>
          <a:srcRect t="26899" b="14391"/>
          <a:stretch>
            <a:fillRect/>
          </a:stretch>
        </p:blipFill>
        <p:spPr>
          <a:xfrm>
            <a:off x="2329723" y="2875936"/>
            <a:ext cx="7532553" cy="3377382"/>
          </a:xfrm>
          <a:prstGeom prst="rect">
            <a:avLst/>
          </a:prstGeom>
          <a:noFill/>
          <a:ln>
            <a:noFill/>
          </a:ln>
        </p:spPr>
      </p:pic>
    </p:spTree>
    <p:extLst>
      <p:ext uri="{BB962C8B-B14F-4D97-AF65-F5344CB8AC3E}">
        <p14:creationId xmlns:p14="http://schemas.microsoft.com/office/powerpoint/2010/main" val="2923792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BE3E0635-C6C6-7D5F-A457-54D288AE07F9}"/>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9254409-CDC0-44DF-3BAC-2E83DEDD6DF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64D71BD8-7866-8D09-AF43-492AFE3F973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3481E38-9697-DE53-83E4-7201C3A5E22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F65014BF-881B-0DA8-CAAD-F64BA8244B5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37</a:t>
            </a:fld>
            <a:endParaRPr lang="es-AR"/>
          </a:p>
        </p:txBody>
      </p:sp>
      <p:sp>
        <p:nvSpPr>
          <p:cNvPr id="6" name="Google Shape;134;p4">
            <a:extLst>
              <a:ext uri="{FF2B5EF4-FFF2-40B4-BE49-F238E27FC236}">
                <a16:creationId xmlns:a16="http://schemas.microsoft.com/office/drawing/2014/main" id="{217D53C8-527C-27DC-D576-7B9166856FF0}"/>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Sistema dirigido por eventos</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dirigido por interrupciones:</a:t>
            </a:r>
          </a:p>
          <a:p>
            <a:pPr marL="900113" indent="0" algn="just">
              <a:lnSpc>
                <a:spcPct val="85000"/>
              </a:lnSpc>
              <a:spcBef>
                <a:spcPts val="0"/>
              </a:spcBef>
              <a:spcAft>
                <a:spcPts val="600"/>
              </a:spcAft>
              <a:buClr>
                <a:srgbClr val="C00000"/>
              </a:buClr>
              <a:buNone/>
              <a:tabLst>
                <a:tab pos="811213" algn="l"/>
              </a:tabLst>
            </a:pPr>
            <a:r>
              <a:rPr lang="es-ES" sz="2400" dirty="0">
                <a:solidFill>
                  <a:schemeClr val="tx1"/>
                </a:solidFill>
              </a:rPr>
              <a:t>Se utilizan en sistemas de tiempo real donde las interrupciones externas son detectadas por un manejador de interrupciones y se envía a algún componente para su procesamiento.</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endParaRPr lang="es-ES" sz="2400" dirty="0">
              <a:solidFill>
                <a:schemeClr val="tx1"/>
              </a:solidFill>
            </a:endParaRP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7" name="Google Shape;447;p36">
            <a:extLst>
              <a:ext uri="{FF2B5EF4-FFF2-40B4-BE49-F238E27FC236}">
                <a16:creationId xmlns:a16="http://schemas.microsoft.com/office/drawing/2014/main" id="{885D578C-7598-1861-793B-6B342F251889}"/>
              </a:ext>
            </a:extLst>
          </p:cNvPr>
          <p:cNvPicPr preferRelativeResize="0"/>
          <p:nvPr/>
        </p:nvPicPr>
        <p:blipFill rotWithShape="1">
          <a:blip r:embed="rId3">
            <a:alphaModFix/>
          </a:blip>
          <a:srcRect l="5377" r="7088" b="12134"/>
          <a:stretch>
            <a:fillRect/>
          </a:stretch>
        </p:blipFill>
        <p:spPr>
          <a:xfrm>
            <a:off x="3920612" y="3983089"/>
            <a:ext cx="4350775" cy="2276374"/>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3612663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0B0C411E-6D90-1E59-FDCC-18C8FCE1B135}"/>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E3468CE5-C3BD-9D6E-C553-DD6C1AF895A2}"/>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5C56D991-4741-5509-03CB-00BD4065D6D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08187FBC-8976-2AE1-E02B-83290626230E}"/>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5ACA684B-7A33-A95E-F68E-2B915544BB6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38</a:t>
            </a:fld>
            <a:endParaRPr lang="es-AR"/>
          </a:p>
        </p:txBody>
      </p:sp>
      <p:sp>
        <p:nvSpPr>
          <p:cNvPr id="6" name="Google Shape;134;p4">
            <a:extLst>
              <a:ext uri="{FF2B5EF4-FFF2-40B4-BE49-F238E27FC236}">
                <a16:creationId xmlns:a16="http://schemas.microsoft.com/office/drawing/2014/main" id="{9CA57E96-89D2-EFEB-60B0-40FAEFAFE8F3}"/>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Sistema dirigido por eventos</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dirigido por interrupciones - Ejemplo</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5" name="Google Shape;455;p39" descr="Una captura de pantalla de un celular con letras&#10;&#10;El contenido generado por IA puede ser incorrecto.">
            <a:extLst>
              <a:ext uri="{FF2B5EF4-FFF2-40B4-BE49-F238E27FC236}">
                <a16:creationId xmlns:a16="http://schemas.microsoft.com/office/drawing/2014/main" id="{14F5B2E9-0537-E995-7C9C-941D231D5994}"/>
              </a:ext>
            </a:extLst>
          </p:cNvPr>
          <p:cNvPicPr preferRelativeResize="0"/>
          <p:nvPr/>
        </p:nvPicPr>
        <p:blipFill rotWithShape="1">
          <a:blip r:embed="rId3">
            <a:alphaModFix/>
          </a:blip>
          <a:srcRect l="4352" t="18152" r="5143" b="10931"/>
          <a:stretch>
            <a:fillRect/>
          </a:stretch>
        </p:blipFill>
        <p:spPr>
          <a:xfrm>
            <a:off x="2490019" y="2842854"/>
            <a:ext cx="7211961" cy="3410462"/>
          </a:xfrm>
          <a:prstGeom prst="rect">
            <a:avLst/>
          </a:prstGeom>
          <a:noFill/>
          <a:ln>
            <a:noFill/>
          </a:ln>
        </p:spPr>
      </p:pic>
    </p:spTree>
    <p:extLst>
      <p:ext uri="{BB962C8B-B14F-4D97-AF65-F5344CB8AC3E}">
        <p14:creationId xmlns:p14="http://schemas.microsoft.com/office/powerpoint/2010/main" val="3586600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512FC19-B604-4B30-DEBE-A46B0AE98117}"/>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0DF5AFC-9879-A130-1342-163F3C7FAE0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Aspectos del Diseño Arquitectónico</a:t>
            </a:r>
            <a:endParaRPr dirty="0"/>
          </a:p>
        </p:txBody>
      </p:sp>
      <p:sp>
        <p:nvSpPr>
          <p:cNvPr id="2" name="Marcador de fecha 1">
            <a:extLst>
              <a:ext uri="{FF2B5EF4-FFF2-40B4-BE49-F238E27FC236}">
                <a16:creationId xmlns:a16="http://schemas.microsoft.com/office/drawing/2014/main" id="{F6B179F9-8C66-C580-3BE9-610D6BBEC04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C44670D7-3CA1-B149-8EE0-4DA36CB54643}"/>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E0ED7C34-0690-BCA7-1F2A-1A554CC7598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39</a:t>
            </a:fld>
            <a:endParaRPr lang="es-AR"/>
          </a:p>
        </p:txBody>
      </p:sp>
      <p:sp>
        <p:nvSpPr>
          <p:cNvPr id="134" name="Google Shape;134;p4">
            <a:extLst>
              <a:ext uri="{FF2B5EF4-FFF2-40B4-BE49-F238E27FC236}">
                <a16:creationId xmlns:a16="http://schemas.microsoft.com/office/drawing/2014/main" id="{2470B931-43BA-0561-C68E-3CA556601796}"/>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Organización del sistema</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Descomposición modular</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Modelos de control</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Arquitectura de los Sistemas Distribuidos</a:t>
            </a:r>
          </a:p>
          <a:p>
            <a:pPr marL="0" lvl="0" indent="0" algn="just">
              <a:lnSpc>
                <a:spcPct val="85000"/>
              </a:lnSpc>
              <a:spcBef>
                <a:spcPts val="0"/>
              </a:spcBef>
              <a:spcAft>
                <a:spcPts val="0"/>
              </a:spcAft>
              <a:buClr>
                <a:srgbClr val="C00000"/>
              </a:buClr>
              <a:buNone/>
            </a:pPr>
            <a:endParaRPr sz="2800" dirty="0">
              <a:solidFill>
                <a:schemeClr val="tx1"/>
              </a:solidFill>
            </a:endParaRPr>
          </a:p>
        </p:txBody>
      </p:sp>
      <p:cxnSp>
        <p:nvCxnSpPr>
          <p:cNvPr id="5" name="Conector recto 4">
            <a:extLst>
              <a:ext uri="{FF2B5EF4-FFF2-40B4-BE49-F238E27FC236}">
                <a16:creationId xmlns:a16="http://schemas.microsoft.com/office/drawing/2014/main" id="{BEB78F22-F7BC-6CDB-F0BA-C8467755EFF4}"/>
              </a:ext>
            </a:extLst>
          </p:cNvPr>
          <p:cNvCxnSpPr>
            <a:cxnSpLocks/>
          </p:cNvCxnSpPr>
          <p:nvPr/>
        </p:nvCxnSpPr>
        <p:spPr>
          <a:xfrm>
            <a:off x="1637071" y="3672348"/>
            <a:ext cx="591410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755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DE76A55-2862-EACA-89C1-739F1D852C2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CB1E596E-F09D-25C9-F2FC-EB0ADBDCBAC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C480D469-6073-EFDC-C61E-574D6669F20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B53CAA49-6BF8-CE1F-70E7-D8E0DF74345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274BD62A-6164-A224-9916-31998BE8D81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40</a:t>
            </a:fld>
            <a:endParaRPr lang="es-AR"/>
          </a:p>
        </p:txBody>
      </p:sp>
      <p:sp>
        <p:nvSpPr>
          <p:cNvPr id="6" name="Google Shape;134;p4">
            <a:extLst>
              <a:ext uri="{FF2B5EF4-FFF2-40B4-BE49-F238E27FC236}">
                <a16:creationId xmlns:a16="http://schemas.microsoft.com/office/drawing/2014/main" id="{5DA88F23-302B-EDA2-6D87-D0C60D13D9E9}"/>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Un sistema distribuido es un sistema en el que el procesamiento de información se distribuye sobre varias computadoras.</a:t>
            </a:r>
          </a:p>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Tipos genéricos de sistemas distribuidos:</a:t>
            </a:r>
          </a:p>
          <a:p>
            <a:pPr marL="900113" indent="-369888" algn="just">
              <a:lnSpc>
                <a:spcPct val="85000"/>
              </a:lnSpc>
              <a:spcBef>
                <a:spcPts val="0"/>
              </a:spcBef>
              <a:spcAft>
                <a:spcPts val="1200"/>
              </a:spcAft>
              <a:buClr>
                <a:srgbClr val="C00000"/>
              </a:buClr>
              <a:buFont typeface="Noto Sans Symbols2" panose="020B0502040504020204" pitchFamily="34" charset="0"/>
              <a:buChar char="»"/>
              <a:tabLst>
                <a:tab pos="811213" algn="l"/>
              </a:tabLst>
            </a:pPr>
            <a:r>
              <a:rPr lang="es-ES" sz="2400" dirty="0">
                <a:solidFill>
                  <a:schemeClr val="tx1"/>
                </a:solidFill>
              </a:rPr>
              <a:t>Cliente – Servidor</a:t>
            </a:r>
          </a:p>
          <a:p>
            <a:pPr marL="900113" indent="-369888" algn="just">
              <a:lnSpc>
                <a:spcPct val="85000"/>
              </a:lnSpc>
              <a:spcBef>
                <a:spcPts val="0"/>
              </a:spcBef>
              <a:spcAft>
                <a:spcPts val="1200"/>
              </a:spcAft>
              <a:buClr>
                <a:srgbClr val="C00000"/>
              </a:buClr>
              <a:buFont typeface="Noto Sans Symbols2" panose="020B0502040504020204" pitchFamily="34" charset="0"/>
              <a:buChar char="»"/>
              <a:tabLst>
                <a:tab pos="811213" algn="l"/>
              </a:tabLst>
            </a:pPr>
            <a:r>
              <a:rPr lang="es-ES" sz="2400" dirty="0">
                <a:solidFill>
                  <a:schemeClr val="tx1"/>
                </a:solidFill>
              </a:rPr>
              <a:t>Componentes distribuidos</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27642947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F6942F8-11D9-4E2F-5F2A-8DA9B17F709E}"/>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DAE4078F-30A0-9C9E-A016-9038453B7FB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86C43647-E15B-03EF-6ED4-EE212BA62A13}"/>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F3769E2C-A326-6D1F-E36B-EAC7E3DDBD04}"/>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A87B4204-D34E-2076-90D6-F1BA3E5B0FF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41</a:t>
            </a:fld>
            <a:endParaRPr lang="es-AR"/>
          </a:p>
        </p:txBody>
      </p:sp>
      <p:sp>
        <p:nvSpPr>
          <p:cNvPr id="6" name="Google Shape;134;p4">
            <a:extLst>
              <a:ext uri="{FF2B5EF4-FFF2-40B4-BE49-F238E27FC236}">
                <a16:creationId xmlns:a16="http://schemas.microsoft.com/office/drawing/2014/main" id="{2916578B-4C9B-07BB-6DB3-5DA1675B8CE0}"/>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0"/>
              </a:spcAft>
              <a:buClr>
                <a:srgbClr val="C00000"/>
              </a:buClr>
              <a:buFont typeface="Noto Sans Symbols"/>
              <a:buChar char="❖"/>
            </a:pPr>
            <a:r>
              <a:rPr lang="es-ES" sz="2800" dirty="0">
                <a:solidFill>
                  <a:schemeClr val="tx1"/>
                </a:solidFill>
              </a:rPr>
              <a:t>Características de los sistemas distribuidos:</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Compartir recursos</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Un sistema distribuido permite compartir recursos.</a:t>
            </a:r>
            <a:endParaRPr lang="es-ES" sz="2400" i="1" dirty="0">
              <a:solidFill>
                <a:schemeClr val="tx1"/>
              </a:solidFill>
            </a:endParaRP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Apertura</a:t>
            </a:r>
          </a:p>
          <a:p>
            <a:pPr marL="900113" indent="0" algn="just">
              <a:lnSpc>
                <a:spcPct val="85000"/>
              </a:lnSpc>
              <a:spcBef>
                <a:spcPts val="0"/>
              </a:spcBef>
              <a:spcAft>
                <a:spcPts val="300"/>
              </a:spcAft>
              <a:buClr>
                <a:srgbClr val="C00000"/>
              </a:buClr>
              <a:buNone/>
              <a:tabLst>
                <a:tab pos="811213" algn="l"/>
                <a:tab pos="900113" algn="l"/>
              </a:tabLst>
            </a:pPr>
            <a:r>
              <a:rPr lang="es-ES" i="1" dirty="0">
                <a:solidFill>
                  <a:schemeClr val="tx1"/>
                </a:solidFill>
              </a:rPr>
              <a:t>Son sistemas abiertos y se diseñan con protocolos estándar para simplificar la combinación de los recursos.</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Concurrencia </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Varios procesos pueden operar al mismo tiempo sobre diferentes computadoras.</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Escalabilidad </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La capacidad puede incrementarse añadiendo nuevos recursos para cubrir nuevas demandas.</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Tolerancia a fallos</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La disponibilidad de varias computadoras y el potencial para reproducir información hace que sean más tolerantes a fallos de funcionamiento de hardware y software.</a:t>
            </a:r>
            <a:endParaRPr lang="es-ES" sz="2400" i="1"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5885888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ABBF30D-9F83-7D92-4ACE-D686C90E97C2}"/>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329F68A-5B56-7D50-21C9-84F9100A678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DEB8E471-1A89-DBF8-AC63-A2F119750C7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1C35076-220D-E133-49B7-20E70BE58F85}"/>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CBF647AC-EFA4-488E-B8F8-9EBAFF4DBBC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42</a:t>
            </a:fld>
            <a:endParaRPr lang="es-AR"/>
          </a:p>
        </p:txBody>
      </p:sp>
      <p:sp>
        <p:nvSpPr>
          <p:cNvPr id="6" name="Google Shape;134;p4">
            <a:extLst>
              <a:ext uri="{FF2B5EF4-FFF2-40B4-BE49-F238E27FC236}">
                <a16:creationId xmlns:a16="http://schemas.microsoft.com/office/drawing/2014/main" id="{0BD58D2B-740F-CBF4-B277-544A2C4737E5}"/>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300"/>
              </a:spcAft>
              <a:buClr>
                <a:srgbClr val="C00000"/>
              </a:buClr>
              <a:buFont typeface="Noto Sans Symbols"/>
              <a:buChar char="❖"/>
            </a:pPr>
            <a:r>
              <a:rPr lang="es-ES" sz="2800" dirty="0">
                <a:solidFill>
                  <a:schemeClr val="tx1"/>
                </a:solidFill>
              </a:rPr>
              <a:t>Desventajas de los sistemas distribuidos:</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Complejidad</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Son más complejos que los centralizados, además del  procesamiento hay que tener en cuenta los problemas de la comunicación y sincronización entre los equipos.</a:t>
            </a:r>
            <a:endParaRPr lang="es-ES" sz="2400" i="1" dirty="0">
              <a:solidFill>
                <a:schemeClr val="tx1"/>
              </a:solidFill>
            </a:endParaRP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Seguridad</a:t>
            </a:r>
          </a:p>
          <a:p>
            <a:pPr marL="900113" indent="0" algn="just">
              <a:lnSpc>
                <a:spcPct val="85000"/>
              </a:lnSpc>
              <a:spcBef>
                <a:spcPts val="0"/>
              </a:spcBef>
              <a:spcAft>
                <a:spcPts val="300"/>
              </a:spcAft>
              <a:buClr>
                <a:srgbClr val="C00000"/>
              </a:buClr>
              <a:buNone/>
              <a:tabLst>
                <a:tab pos="811213" algn="l"/>
                <a:tab pos="900113" algn="l"/>
              </a:tabLst>
            </a:pPr>
            <a:r>
              <a:rPr lang="es-ES" i="1" dirty="0">
                <a:solidFill>
                  <a:schemeClr val="tx1"/>
                </a:solidFill>
              </a:rPr>
              <a:t>Se accede al sistema desde varias computadoras generando tráfico en la red que puede ser intervenido.</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Manejabilidad </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Las computadoras del sistema pueden ser de diferentes tipos y diferentes S.O. lo que genera más dificultades para gestionar y mantener el sistema.</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Impredecibilidad</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La respuesta depende de la carga del sistema y del estado de la red, lo que hace que el tiempo de respuesta varíe entre una petición y otra.</a:t>
            </a:r>
            <a:endParaRPr lang="es-ES" sz="2400" i="1" dirty="0">
              <a:solidFill>
                <a:schemeClr val="tx1"/>
              </a:solidFill>
            </a:endParaRPr>
          </a:p>
          <a:p>
            <a:pPr marL="530225" indent="-530225" algn="just">
              <a:lnSpc>
                <a:spcPct val="85000"/>
              </a:lnSpc>
              <a:spcBef>
                <a:spcPts val="0"/>
              </a:spcBef>
              <a:spcAft>
                <a:spcPts val="3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3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3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38038125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F700AC59-790D-4AEA-FB97-64DBFE9507DE}"/>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8552FF84-518F-6718-E92C-716A13E68E5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B8BBB323-FFA8-460A-DE8A-EDFF28823B8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29AE1B58-0DB7-7D63-0353-29C9A3FF45F4}"/>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874B0BF-4569-3440-5BBE-4618DF5BBAF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43</a:t>
            </a:fld>
            <a:endParaRPr lang="es-AR"/>
          </a:p>
        </p:txBody>
      </p:sp>
      <p:sp>
        <p:nvSpPr>
          <p:cNvPr id="6" name="Google Shape;134;p4">
            <a:extLst>
              <a:ext uri="{FF2B5EF4-FFF2-40B4-BE49-F238E27FC236}">
                <a16:creationId xmlns:a16="http://schemas.microsoft.com/office/drawing/2014/main" id="{0B52FA44-63BA-8DD1-8881-C8C7CFD38102}"/>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600"/>
              </a:spcAft>
              <a:buClr>
                <a:srgbClr val="C00000"/>
              </a:buClr>
              <a:buFont typeface="Noto Sans Symbols"/>
              <a:buChar char="❖"/>
            </a:pPr>
            <a:r>
              <a:rPr lang="es-ES" sz="2800" dirty="0">
                <a:solidFill>
                  <a:schemeClr val="tx1"/>
                </a:solidFill>
              </a:rPr>
              <a:t>Tipos de arquitectura de los SD</a:t>
            </a:r>
          </a:p>
        </p:txBody>
      </p:sp>
      <p:pic>
        <p:nvPicPr>
          <p:cNvPr id="5" name="Google Shape;500;p43" descr="Diagrama&#10;&#10;El contenido generado por IA puede ser incorrecto.">
            <a:extLst>
              <a:ext uri="{FF2B5EF4-FFF2-40B4-BE49-F238E27FC236}">
                <a16:creationId xmlns:a16="http://schemas.microsoft.com/office/drawing/2014/main" id="{F5E40BDC-42F9-51AF-486D-7EAF1AD8E199}"/>
              </a:ext>
            </a:extLst>
          </p:cNvPr>
          <p:cNvPicPr preferRelativeResize="0"/>
          <p:nvPr/>
        </p:nvPicPr>
        <p:blipFill rotWithShape="1">
          <a:blip r:embed="rId3">
            <a:alphaModFix/>
          </a:blip>
          <a:srcRect l="2882" t="16984" r="2543" b="5811"/>
          <a:stretch>
            <a:fillRect/>
          </a:stretch>
        </p:blipFill>
        <p:spPr>
          <a:xfrm>
            <a:off x="3356462" y="2329990"/>
            <a:ext cx="5529877" cy="3952567"/>
          </a:xfrm>
          <a:prstGeom prst="rect">
            <a:avLst/>
          </a:prstGeom>
          <a:noFill/>
          <a:ln>
            <a:noFill/>
          </a:ln>
        </p:spPr>
      </p:pic>
    </p:spTree>
    <p:extLst>
      <p:ext uri="{BB962C8B-B14F-4D97-AF65-F5344CB8AC3E}">
        <p14:creationId xmlns:p14="http://schemas.microsoft.com/office/powerpoint/2010/main" val="11951695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2426173-F211-D88C-3BC6-20791877D039}"/>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B858CD35-83DB-BF62-4192-97AC39B92E9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5EFFEA73-62B6-933C-4DE3-B9277B72DA2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6E9C5AA-8B4B-38A3-DA6B-7DAB3964654D}"/>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1B6CA03F-5E9B-13FD-631C-FE76459611B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44</a:t>
            </a:fld>
            <a:endParaRPr lang="es-AR"/>
          </a:p>
        </p:txBody>
      </p:sp>
      <p:sp>
        <p:nvSpPr>
          <p:cNvPr id="6" name="Google Shape;134;p4">
            <a:extLst>
              <a:ext uri="{FF2B5EF4-FFF2-40B4-BE49-F238E27FC236}">
                <a16:creationId xmlns:a16="http://schemas.microsoft.com/office/drawing/2014/main" id="{DAFF8E57-5BF2-99FE-088A-298676FAC711}"/>
              </a:ext>
            </a:extLst>
          </p:cNvPr>
          <p:cNvSpPr txBox="1">
            <a:spLocks/>
          </p:cNvSpPr>
          <p:nvPr/>
        </p:nvSpPr>
        <p:spPr bwMode="auto">
          <a:xfrm>
            <a:off x="1035051" y="25166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El sistema de software está formado por varios procesos que pueden o no ejecutarse en procesadores diferentes.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La asignación de los procesos a los procesadores puede ser predeterminada o mediante un </a:t>
            </a:r>
            <a:r>
              <a:rPr lang="es-ES" sz="2400" dirty="0" err="1">
                <a:solidFill>
                  <a:schemeClr val="tx1"/>
                </a:solidFill>
              </a:rPr>
              <a:t>dispatcher</a:t>
            </a:r>
            <a:r>
              <a:rPr lang="es-ES" sz="2400" dirty="0">
                <a:solidFill>
                  <a:schemeClr val="tx1"/>
                </a:solidFill>
              </a:rPr>
              <a:t>.</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Es común en sistemas grandes de tiempo real que recolectan información, toman decisiones y envían señales para modificar el entorno</a:t>
            </a:r>
            <a:r>
              <a:rPr lang="es-ES" sz="2800" dirty="0">
                <a:solidFill>
                  <a:schemeClr val="tx1"/>
                </a:solidFill>
              </a:rPr>
              <a:t>.</a:t>
            </a:r>
            <a:endParaRPr lang="es-ES" sz="2400" dirty="0">
              <a:solidFill>
                <a:schemeClr val="tx1"/>
              </a:solidFill>
            </a:endParaRPr>
          </a:p>
        </p:txBody>
      </p:sp>
      <p:pic>
        <p:nvPicPr>
          <p:cNvPr id="5" name="Google Shape;500;p43" descr="Diagrama&#10;&#10;El contenido generado por IA puede ser incorrecto.">
            <a:extLst>
              <a:ext uri="{FF2B5EF4-FFF2-40B4-BE49-F238E27FC236}">
                <a16:creationId xmlns:a16="http://schemas.microsoft.com/office/drawing/2014/main" id="{2E6D4380-837E-BA7E-893D-DB6CB977F393}"/>
              </a:ext>
            </a:extLst>
          </p:cNvPr>
          <p:cNvPicPr preferRelativeResize="0"/>
          <p:nvPr/>
        </p:nvPicPr>
        <p:blipFill rotWithShape="1">
          <a:blip r:embed="rId3">
            <a:alphaModFix/>
          </a:blip>
          <a:srcRect l="3340" t="36240" r="69716" b="56467"/>
          <a:stretch>
            <a:fillRect/>
          </a:stretch>
        </p:blipFill>
        <p:spPr>
          <a:xfrm>
            <a:off x="1096963" y="1946788"/>
            <a:ext cx="1823218" cy="457199"/>
          </a:xfrm>
          <a:prstGeom prst="rect">
            <a:avLst/>
          </a:prstGeom>
          <a:noFill/>
          <a:ln>
            <a:noFill/>
          </a:ln>
        </p:spPr>
      </p:pic>
    </p:spTree>
    <p:extLst>
      <p:ext uri="{BB962C8B-B14F-4D97-AF65-F5344CB8AC3E}">
        <p14:creationId xmlns:p14="http://schemas.microsoft.com/office/powerpoint/2010/main" val="6134085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E5590892-21EF-7F72-B0FD-947CA45D9E0C}"/>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26EB733-CA93-1A16-AD78-39B42BB4A35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DA5ABFBF-22F8-9B6A-B2BE-893C97670C1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02C7B555-17D4-7847-B3A1-067406B2B965}"/>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518DD92-A15E-616C-6E34-791818A50A3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45</a:t>
            </a:fld>
            <a:endParaRPr lang="es-AR"/>
          </a:p>
        </p:txBody>
      </p:sp>
      <p:pic>
        <p:nvPicPr>
          <p:cNvPr id="5" name="Google Shape;500;p43" descr="Diagrama&#10;&#10;El contenido generado por IA puede ser incorrecto.">
            <a:extLst>
              <a:ext uri="{FF2B5EF4-FFF2-40B4-BE49-F238E27FC236}">
                <a16:creationId xmlns:a16="http://schemas.microsoft.com/office/drawing/2014/main" id="{40B1CBDE-40FF-A513-EBB0-866A8D5DE8A8}"/>
              </a:ext>
            </a:extLst>
          </p:cNvPr>
          <p:cNvPicPr preferRelativeResize="0"/>
          <p:nvPr/>
        </p:nvPicPr>
        <p:blipFill rotWithShape="1">
          <a:blip r:embed="rId3">
            <a:alphaModFix/>
          </a:blip>
          <a:srcRect l="3340" t="36240" r="69716" b="56467"/>
          <a:stretch>
            <a:fillRect/>
          </a:stretch>
        </p:blipFill>
        <p:spPr>
          <a:xfrm>
            <a:off x="1096963" y="1946788"/>
            <a:ext cx="1823218" cy="457199"/>
          </a:xfrm>
          <a:prstGeom prst="rect">
            <a:avLst/>
          </a:prstGeom>
          <a:noFill/>
          <a:ln>
            <a:noFill/>
          </a:ln>
        </p:spPr>
      </p:pic>
      <p:pic>
        <p:nvPicPr>
          <p:cNvPr id="7" name="Google Shape;519;p45">
            <a:extLst>
              <a:ext uri="{FF2B5EF4-FFF2-40B4-BE49-F238E27FC236}">
                <a16:creationId xmlns:a16="http://schemas.microsoft.com/office/drawing/2014/main" id="{F5158B9C-E888-70A0-31B1-2A8EB5AE1D27}"/>
              </a:ext>
            </a:extLst>
          </p:cNvPr>
          <p:cNvPicPr preferRelativeResize="0"/>
          <p:nvPr/>
        </p:nvPicPr>
        <p:blipFill rotWithShape="1">
          <a:blip r:embed="rId4">
            <a:alphaModFix/>
          </a:blip>
          <a:srcRect l="2024" r="4297" b="5868"/>
          <a:stretch>
            <a:fillRect/>
          </a:stretch>
        </p:blipFill>
        <p:spPr>
          <a:xfrm>
            <a:off x="2579176" y="2476414"/>
            <a:ext cx="7093974" cy="3334451"/>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31918216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1B6F9B4-86AB-3413-AF2C-DCFD6D409C04}"/>
            </a:ext>
          </a:extLst>
        </p:cNvPr>
        <p:cNvGrpSpPr/>
        <p:nvPr/>
      </p:nvGrpSpPr>
      <p:grpSpPr>
        <a:xfrm>
          <a:off x="0" y="0"/>
          <a:ext cx="0" cy="0"/>
          <a:chOff x="0" y="0"/>
          <a:chExt cx="0" cy="0"/>
        </a:xfrm>
      </p:grpSpPr>
      <p:pic>
        <p:nvPicPr>
          <p:cNvPr id="6" name="Google Shape;527;p82" descr="Diagrama&#10;&#10;El contenido generado por IA puede ser incorrecto.">
            <a:extLst>
              <a:ext uri="{FF2B5EF4-FFF2-40B4-BE49-F238E27FC236}">
                <a16:creationId xmlns:a16="http://schemas.microsoft.com/office/drawing/2014/main" id="{6A92F15B-17D7-7D6D-1F69-D859D43CE293}"/>
              </a:ext>
            </a:extLst>
          </p:cNvPr>
          <p:cNvPicPr preferRelativeResize="0"/>
          <p:nvPr/>
        </p:nvPicPr>
        <p:blipFill rotWithShape="1">
          <a:blip r:embed="rId3">
            <a:alphaModFix/>
          </a:blip>
          <a:srcRect t="12841" b="3859"/>
          <a:stretch>
            <a:fillRect/>
          </a:stretch>
        </p:blipFill>
        <p:spPr>
          <a:xfrm>
            <a:off x="2723664" y="1751473"/>
            <a:ext cx="6464581" cy="4565922"/>
          </a:xfrm>
          <a:prstGeom prst="rect">
            <a:avLst/>
          </a:prstGeom>
          <a:noFill/>
          <a:ln>
            <a:noFill/>
          </a:ln>
        </p:spPr>
      </p:pic>
      <p:sp>
        <p:nvSpPr>
          <p:cNvPr id="133" name="Google Shape;133;p4">
            <a:extLst>
              <a:ext uri="{FF2B5EF4-FFF2-40B4-BE49-F238E27FC236}">
                <a16:creationId xmlns:a16="http://schemas.microsoft.com/office/drawing/2014/main" id="{D3B11CC9-38F2-10C3-578B-289AB19F64A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900F9717-C244-2EC8-B888-4BE479F70687}"/>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FFD57FD-800F-E293-B932-001E5244C0D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54E7FAA3-BB3D-C4BE-1A21-8DEEA790853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46</a:t>
            </a:fld>
            <a:endParaRPr lang="es-AR"/>
          </a:p>
        </p:txBody>
      </p:sp>
      <p:pic>
        <p:nvPicPr>
          <p:cNvPr id="5" name="Google Shape;500;p43" descr="Diagrama&#10;&#10;El contenido generado por IA puede ser incorrecto.">
            <a:extLst>
              <a:ext uri="{FF2B5EF4-FFF2-40B4-BE49-F238E27FC236}">
                <a16:creationId xmlns:a16="http://schemas.microsoft.com/office/drawing/2014/main" id="{BE68D83C-A5FF-B12D-CAFC-1DEA4E36FC66}"/>
              </a:ext>
            </a:extLst>
          </p:cNvPr>
          <p:cNvPicPr preferRelativeResize="0"/>
          <p:nvPr/>
        </p:nvPicPr>
        <p:blipFill rotWithShape="1">
          <a:blip r:embed="rId4">
            <a:alphaModFix/>
          </a:blip>
          <a:srcRect l="3340" t="36240" r="69716" b="56467"/>
          <a:stretch>
            <a:fillRect/>
          </a:stretch>
        </p:blipFill>
        <p:spPr>
          <a:xfrm>
            <a:off x="1096963" y="1946788"/>
            <a:ext cx="1823218" cy="457199"/>
          </a:xfrm>
          <a:prstGeom prst="rect">
            <a:avLst/>
          </a:prstGeom>
          <a:noFill/>
          <a:ln>
            <a:noFill/>
          </a:ln>
        </p:spPr>
      </p:pic>
    </p:spTree>
    <p:extLst>
      <p:ext uri="{BB962C8B-B14F-4D97-AF65-F5344CB8AC3E}">
        <p14:creationId xmlns:p14="http://schemas.microsoft.com/office/powerpoint/2010/main" val="23409548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3D5FD32-B0EE-6D9F-B727-A4AFA1120DDE}"/>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EEF27FE-3669-3454-7B3D-A97D2C2D5AF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A322B6FA-F18E-7979-BFCF-F1E6692FB6A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C9E321C-7BED-A0FB-4505-21565AFD2E6C}"/>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F301AB55-AD29-71AD-1F0D-5BEAFB9BB7A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47</a:t>
            </a:fld>
            <a:endParaRPr lang="es-AR"/>
          </a:p>
        </p:txBody>
      </p:sp>
      <p:sp>
        <p:nvSpPr>
          <p:cNvPr id="6" name="Google Shape;134;p4">
            <a:extLst>
              <a:ext uri="{FF2B5EF4-FFF2-40B4-BE49-F238E27FC236}">
                <a16:creationId xmlns:a16="http://schemas.microsoft.com/office/drawing/2014/main" id="{05612B51-DC0F-93C9-6801-6BE437621836}"/>
              </a:ext>
            </a:extLst>
          </p:cNvPr>
          <p:cNvSpPr txBox="1">
            <a:spLocks/>
          </p:cNvSpPr>
          <p:nvPr/>
        </p:nvSpPr>
        <p:spPr bwMode="auto">
          <a:xfrm>
            <a:off x="1035051" y="25166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Una aplicación se modela como un conjunto de servicios proporcionado por los servidores y un conjunto de clientes que usan estos servicios.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Los clientes y servidores son procesos diferentes.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Los servidores pueden atender varios clientes.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 servidor puede brindar varios servicios.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Los clientes no se conocen entre sí.</a:t>
            </a:r>
          </a:p>
        </p:txBody>
      </p:sp>
      <p:pic>
        <p:nvPicPr>
          <p:cNvPr id="5" name="Google Shape;500;p43" descr="Diagrama&#10;&#10;El contenido generado por IA puede ser incorrecto.">
            <a:extLst>
              <a:ext uri="{FF2B5EF4-FFF2-40B4-BE49-F238E27FC236}">
                <a16:creationId xmlns:a16="http://schemas.microsoft.com/office/drawing/2014/main" id="{0A672E22-8A82-CDA4-BF20-1C928218488F}"/>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spTree>
    <p:extLst>
      <p:ext uri="{BB962C8B-B14F-4D97-AF65-F5344CB8AC3E}">
        <p14:creationId xmlns:p14="http://schemas.microsoft.com/office/powerpoint/2010/main" val="1036913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A825B88-9D6F-0D40-6933-3A97E3B77D24}"/>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B8A9EBA-B120-6E5E-519D-131E92C976A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79DB47C6-4061-A22F-61F1-AB8045EBD27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558DCD3-53DF-C262-377C-654232A74B6C}"/>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BD83529C-EDA5-A8EA-94AA-D2F5D73DB06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48</a:t>
            </a:fld>
            <a:endParaRPr lang="es-AR"/>
          </a:p>
        </p:txBody>
      </p:sp>
      <p:pic>
        <p:nvPicPr>
          <p:cNvPr id="5" name="Google Shape;500;p43" descr="Diagrama&#10;&#10;El contenido generado por IA puede ser incorrecto.">
            <a:extLst>
              <a:ext uri="{FF2B5EF4-FFF2-40B4-BE49-F238E27FC236}">
                <a16:creationId xmlns:a16="http://schemas.microsoft.com/office/drawing/2014/main" id="{4390AF68-BC96-684C-9225-0501D1F32A6E}"/>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pic>
        <p:nvPicPr>
          <p:cNvPr id="7" name="Google Shape;548;p47">
            <a:extLst>
              <a:ext uri="{FF2B5EF4-FFF2-40B4-BE49-F238E27FC236}">
                <a16:creationId xmlns:a16="http://schemas.microsoft.com/office/drawing/2014/main" id="{D003FBA3-4C95-81AE-F3B4-8134F56B5DD9}"/>
              </a:ext>
            </a:extLst>
          </p:cNvPr>
          <p:cNvPicPr preferRelativeResize="0"/>
          <p:nvPr/>
        </p:nvPicPr>
        <p:blipFill rotWithShape="1">
          <a:blip r:embed="rId4">
            <a:alphaModFix/>
          </a:blip>
          <a:srcRect/>
          <a:stretch/>
        </p:blipFill>
        <p:spPr>
          <a:xfrm>
            <a:off x="2518569" y="2580966"/>
            <a:ext cx="7215187" cy="3514725"/>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23512479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9FE9E74-FE10-E9E2-767F-8F232059E911}"/>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E325ADD3-B5CE-F060-FBE2-1F402F05A8B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757B16CE-9ABB-71DC-66F4-AC75C7ACA0B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ADB78F15-0BF2-60CB-6011-B550C22ED7CD}"/>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D8FC589B-12F9-1C4C-7D94-2EC25D5D9F1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49</a:t>
            </a:fld>
            <a:endParaRPr lang="es-AR"/>
          </a:p>
        </p:txBody>
      </p:sp>
      <p:pic>
        <p:nvPicPr>
          <p:cNvPr id="5" name="Google Shape;500;p43" descr="Diagrama&#10;&#10;El contenido generado por IA puede ser incorrecto.">
            <a:extLst>
              <a:ext uri="{FF2B5EF4-FFF2-40B4-BE49-F238E27FC236}">
                <a16:creationId xmlns:a16="http://schemas.microsoft.com/office/drawing/2014/main" id="{48387458-1D5A-8C60-102F-920A566A39D9}"/>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pic>
        <p:nvPicPr>
          <p:cNvPr id="6" name="Google Shape;559;p48">
            <a:extLst>
              <a:ext uri="{FF2B5EF4-FFF2-40B4-BE49-F238E27FC236}">
                <a16:creationId xmlns:a16="http://schemas.microsoft.com/office/drawing/2014/main" id="{1FEC7202-DD87-8F5D-CE7E-ED4EEAEB7527}"/>
              </a:ext>
            </a:extLst>
          </p:cNvPr>
          <p:cNvPicPr preferRelativeResize="0"/>
          <p:nvPr/>
        </p:nvPicPr>
        <p:blipFill rotWithShape="1">
          <a:blip r:embed="rId4">
            <a:alphaModFix/>
          </a:blip>
          <a:srcRect/>
          <a:stretch/>
        </p:blipFill>
        <p:spPr>
          <a:xfrm>
            <a:off x="2554406" y="2679202"/>
            <a:ext cx="7083188" cy="3131663"/>
          </a:xfrm>
          <a:prstGeom prst="rect">
            <a:avLst/>
          </a:prstGeom>
          <a:noFill/>
          <a:ln>
            <a:noFill/>
          </a:ln>
        </p:spPr>
      </p:pic>
    </p:spTree>
    <p:extLst>
      <p:ext uri="{BB962C8B-B14F-4D97-AF65-F5344CB8AC3E}">
        <p14:creationId xmlns:p14="http://schemas.microsoft.com/office/powerpoint/2010/main" val="30053213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3036BC1-98C4-5208-84D2-E2E761A88913}"/>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980C6920-6036-01FC-03EE-1A290CD921A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D0E69FC3-0CA5-7B1D-9C85-028274F1609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46EBEA7-C9B7-68A3-9EEF-C32BA4FC0C01}"/>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A69A5145-F503-9FF0-EBDD-3026A7ACBFB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50</a:t>
            </a:fld>
            <a:endParaRPr lang="es-AR"/>
          </a:p>
        </p:txBody>
      </p:sp>
      <p:sp>
        <p:nvSpPr>
          <p:cNvPr id="6" name="Google Shape;134;p4">
            <a:extLst>
              <a:ext uri="{FF2B5EF4-FFF2-40B4-BE49-F238E27FC236}">
                <a16:creationId xmlns:a16="http://schemas.microsoft.com/office/drawing/2014/main" id="{F0D5920C-52B7-6A72-FE84-6864CCAB84FE}"/>
              </a:ext>
            </a:extLst>
          </p:cNvPr>
          <p:cNvSpPr txBox="1">
            <a:spLocks/>
          </p:cNvSpPr>
          <p:nvPr/>
        </p:nvSpPr>
        <p:spPr bwMode="auto">
          <a:xfrm>
            <a:off x="1035051" y="25166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Dos niveles</a:t>
            </a:r>
          </a:p>
          <a:p>
            <a:pPr marL="873125" indent="-342900" algn="just">
              <a:lnSpc>
                <a:spcPct val="100000"/>
              </a:lnSpc>
              <a:spcBef>
                <a:spcPts val="0"/>
              </a:spcBef>
              <a:spcAft>
                <a:spcPts val="0"/>
              </a:spcAft>
              <a:buClr>
                <a:srgbClr val="C00000"/>
              </a:buClr>
              <a:buFont typeface="Noto Sans Symbols2" panose="020B0502040504020204" pitchFamily="34" charset="0"/>
              <a:buChar char="»"/>
            </a:pPr>
            <a:r>
              <a:rPr lang="es-ES" sz="2400" dirty="0">
                <a:solidFill>
                  <a:schemeClr val="tx1"/>
                </a:solidFill>
              </a:rPr>
              <a:t>Cliente ligero</a:t>
            </a:r>
          </a:p>
          <a:p>
            <a:pPr marL="900113" indent="0" algn="just">
              <a:lnSpc>
                <a:spcPct val="100000"/>
              </a:lnSpc>
              <a:spcBef>
                <a:spcPts val="0"/>
              </a:spcBef>
              <a:spcAft>
                <a:spcPts val="0"/>
              </a:spcAft>
              <a:buClr>
                <a:srgbClr val="C00000"/>
              </a:buClr>
              <a:buNone/>
            </a:pPr>
            <a:r>
              <a:rPr lang="es-ES" i="1" dirty="0">
                <a:solidFill>
                  <a:schemeClr val="tx1"/>
                </a:solidFill>
              </a:rPr>
              <a:t>El procesamiento y gestión de datos se lleva a cabo en el servidor.</a:t>
            </a:r>
          </a:p>
          <a:p>
            <a:pPr marL="873125" indent="-342900" algn="just">
              <a:lnSpc>
                <a:spcPct val="100000"/>
              </a:lnSpc>
              <a:spcBef>
                <a:spcPts val="0"/>
              </a:spcBef>
              <a:spcAft>
                <a:spcPts val="0"/>
              </a:spcAft>
              <a:buClr>
                <a:srgbClr val="C00000"/>
              </a:buClr>
              <a:buFont typeface="Noto Sans Symbols2" panose="020B0502040504020204" pitchFamily="34" charset="0"/>
              <a:buChar char="»"/>
            </a:pPr>
            <a:r>
              <a:rPr lang="es-ES" sz="2400" dirty="0">
                <a:solidFill>
                  <a:schemeClr val="tx1"/>
                </a:solidFill>
              </a:rPr>
              <a:t>Cliente pesado</a:t>
            </a:r>
          </a:p>
          <a:p>
            <a:pPr marL="900113" indent="0" algn="just">
              <a:lnSpc>
                <a:spcPct val="100000"/>
              </a:lnSpc>
              <a:spcBef>
                <a:spcPts val="0"/>
              </a:spcBef>
              <a:spcAft>
                <a:spcPts val="0"/>
              </a:spcAft>
              <a:buClr>
                <a:srgbClr val="C00000"/>
              </a:buClr>
              <a:buNone/>
            </a:pPr>
            <a:r>
              <a:rPr lang="es-ES" i="1" dirty="0">
                <a:solidFill>
                  <a:schemeClr val="tx1"/>
                </a:solidFill>
              </a:rPr>
              <a:t>El cliente implementa la lógica de la aplicación y el servidor solo gestiona los datos.</a:t>
            </a:r>
          </a:p>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Multinivel</a:t>
            </a:r>
          </a:p>
          <a:p>
            <a:pPr marL="530225" indent="0" algn="just">
              <a:lnSpc>
                <a:spcPct val="100000"/>
              </a:lnSpc>
              <a:spcBef>
                <a:spcPts val="0"/>
              </a:spcBef>
              <a:spcAft>
                <a:spcPts val="600"/>
              </a:spcAft>
              <a:buClr>
                <a:srgbClr val="C00000"/>
              </a:buClr>
              <a:buNone/>
            </a:pPr>
            <a:r>
              <a:rPr lang="es-ES" sz="2400" dirty="0">
                <a:solidFill>
                  <a:schemeClr val="tx1"/>
                </a:solidFill>
              </a:rPr>
              <a:t>La presentación, el procesamiento y la gestión de los datos son procesos lógicamente separados y se pueden ejecutar en procesadores diferentes. </a:t>
            </a:r>
            <a:endParaRPr lang="es-ES" sz="2800" dirty="0">
              <a:solidFill>
                <a:schemeClr val="tx1"/>
              </a:solidFill>
            </a:endParaRPr>
          </a:p>
        </p:txBody>
      </p:sp>
      <p:pic>
        <p:nvPicPr>
          <p:cNvPr id="5" name="Google Shape;500;p43" descr="Diagrama&#10;&#10;El contenido generado por IA puede ser incorrecto.">
            <a:extLst>
              <a:ext uri="{FF2B5EF4-FFF2-40B4-BE49-F238E27FC236}">
                <a16:creationId xmlns:a16="http://schemas.microsoft.com/office/drawing/2014/main" id="{1BB5C120-FBDF-53DF-F2FE-2BE368DAC2C4}"/>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spTree>
    <p:extLst>
      <p:ext uri="{BB962C8B-B14F-4D97-AF65-F5344CB8AC3E}">
        <p14:creationId xmlns:p14="http://schemas.microsoft.com/office/powerpoint/2010/main" val="37073711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8544C28-2CCB-F145-8153-1C6DACB46049}"/>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462F672-1588-BE1C-53B0-EC2FDA7BAD9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B4ACB2C4-5266-905D-76BF-626AC5AB3AD7}"/>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A37DA50-9A0F-5DC0-9EF4-795354941F6F}"/>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9E375CCD-1B48-0920-7B0A-8CF6988F4F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51</a:t>
            </a:fld>
            <a:endParaRPr lang="es-AR"/>
          </a:p>
        </p:txBody>
      </p:sp>
      <p:pic>
        <p:nvPicPr>
          <p:cNvPr id="5" name="Google Shape;500;p43" descr="Diagrama&#10;&#10;El contenido generado por IA puede ser incorrecto.">
            <a:extLst>
              <a:ext uri="{FF2B5EF4-FFF2-40B4-BE49-F238E27FC236}">
                <a16:creationId xmlns:a16="http://schemas.microsoft.com/office/drawing/2014/main" id="{D70494BF-D6B2-8DB5-2D92-6B740FFDB80B}"/>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pic>
        <p:nvPicPr>
          <p:cNvPr id="7" name="Google Shape;578;p50">
            <a:extLst>
              <a:ext uri="{FF2B5EF4-FFF2-40B4-BE49-F238E27FC236}">
                <a16:creationId xmlns:a16="http://schemas.microsoft.com/office/drawing/2014/main" id="{6088D4EA-8BDF-2D3C-1E74-BF8C09EA45CD}"/>
              </a:ext>
            </a:extLst>
          </p:cNvPr>
          <p:cNvPicPr preferRelativeResize="0"/>
          <p:nvPr/>
        </p:nvPicPr>
        <p:blipFill rotWithShape="1">
          <a:blip r:embed="rId4">
            <a:alphaModFix/>
          </a:blip>
          <a:srcRect/>
          <a:stretch/>
        </p:blipFill>
        <p:spPr>
          <a:xfrm>
            <a:off x="2657997" y="3154438"/>
            <a:ext cx="6936332" cy="3137864"/>
          </a:xfrm>
          <a:prstGeom prst="rect">
            <a:avLst/>
          </a:prstGeom>
          <a:noFill/>
          <a:ln>
            <a:noFill/>
          </a:ln>
        </p:spPr>
      </p:pic>
      <p:pic>
        <p:nvPicPr>
          <p:cNvPr id="8" name="Google Shape;500;p43" descr="Diagrama&#10;&#10;El contenido generado por IA puede ser incorrecto.">
            <a:extLst>
              <a:ext uri="{FF2B5EF4-FFF2-40B4-BE49-F238E27FC236}">
                <a16:creationId xmlns:a16="http://schemas.microsoft.com/office/drawing/2014/main" id="{D94AD706-62A9-EA5A-F697-33D34BBB5126}"/>
              </a:ext>
            </a:extLst>
          </p:cNvPr>
          <p:cNvPicPr preferRelativeResize="0"/>
          <p:nvPr/>
        </p:nvPicPr>
        <p:blipFill rotWithShape="1">
          <a:blip r:embed="rId3">
            <a:alphaModFix/>
          </a:blip>
          <a:srcRect l="65753" t="55462" r="13798" b="37950"/>
          <a:stretch>
            <a:fillRect/>
          </a:stretch>
        </p:blipFill>
        <p:spPr>
          <a:xfrm>
            <a:off x="1153035" y="2510382"/>
            <a:ext cx="1383688" cy="412954"/>
          </a:xfrm>
          <a:prstGeom prst="rect">
            <a:avLst/>
          </a:prstGeom>
          <a:noFill/>
          <a:ln>
            <a:noFill/>
          </a:ln>
        </p:spPr>
      </p:pic>
    </p:spTree>
    <p:extLst>
      <p:ext uri="{BB962C8B-B14F-4D97-AF65-F5344CB8AC3E}">
        <p14:creationId xmlns:p14="http://schemas.microsoft.com/office/powerpoint/2010/main" val="3674266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2FA3CBED-2FAE-6CE5-E084-77F16DE171F4}"/>
            </a:ext>
          </a:extLst>
        </p:cNvPr>
        <p:cNvGrpSpPr/>
        <p:nvPr/>
      </p:nvGrpSpPr>
      <p:grpSpPr>
        <a:xfrm>
          <a:off x="0" y="0"/>
          <a:ext cx="0" cy="0"/>
          <a:chOff x="0" y="0"/>
          <a:chExt cx="0" cy="0"/>
        </a:xfrm>
      </p:grpSpPr>
      <p:pic>
        <p:nvPicPr>
          <p:cNvPr id="8" name="Google Shape;585;p83" descr="Diagrama&#10;&#10;El contenido generado por IA puede ser incorrecto.">
            <a:extLst>
              <a:ext uri="{FF2B5EF4-FFF2-40B4-BE49-F238E27FC236}">
                <a16:creationId xmlns:a16="http://schemas.microsoft.com/office/drawing/2014/main" id="{DFC750CA-E7A5-F4CE-A0D6-F8A3A1163211}"/>
              </a:ext>
            </a:extLst>
          </p:cNvPr>
          <p:cNvPicPr preferRelativeResize="0"/>
          <p:nvPr/>
        </p:nvPicPr>
        <p:blipFill rotWithShape="1">
          <a:blip r:embed="rId3">
            <a:alphaModFix/>
          </a:blip>
          <a:srcRect l="2874" t="23459" r="2664" b="8370"/>
          <a:stretch>
            <a:fillRect/>
          </a:stretch>
        </p:blipFill>
        <p:spPr>
          <a:xfrm>
            <a:off x="2858218" y="2516673"/>
            <a:ext cx="7698657" cy="3727757"/>
          </a:xfrm>
          <a:prstGeom prst="rect">
            <a:avLst/>
          </a:prstGeom>
          <a:noFill/>
          <a:ln>
            <a:noFill/>
          </a:ln>
        </p:spPr>
      </p:pic>
      <p:sp>
        <p:nvSpPr>
          <p:cNvPr id="133" name="Google Shape;133;p4">
            <a:extLst>
              <a:ext uri="{FF2B5EF4-FFF2-40B4-BE49-F238E27FC236}">
                <a16:creationId xmlns:a16="http://schemas.microsoft.com/office/drawing/2014/main" id="{BC752D35-B2DC-9B5E-0DD6-E1961E399DE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FF9AAC33-D257-18C2-F763-B3843C07475E}"/>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EF34F5A-149F-7055-84AB-89680ADF88B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5940EB3-413C-9452-677A-98A2A489390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52</a:t>
            </a:fld>
            <a:endParaRPr lang="es-AR"/>
          </a:p>
        </p:txBody>
      </p:sp>
      <p:pic>
        <p:nvPicPr>
          <p:cNvPr id="5" name="Google Shape;500;p43" descr="Diagrama&#10;&#10;El contenido generado por IA puede ser incorrecto.">
            <a:extLst>
              <a:ext uri="{FF2B5EF4-FFF2-40B4-BE49-F238E27FC236}">
                <a16:creationId xmlns:a16="http://schemas.microsoft.com/office/drawing/2014/main" id="{45A814C1-4FDE-ACBF-71F7-99522DA09B75}"/>
              </a:ext>
            </a:extLst>
          </p:cNvPr>
          <p:cNvPicPr preferRelativeResize="0"/>
          <p:nvPr/>
        </p:nvPicPr>
        <p:blipFill rotWithShape="1">
          <a:blip r:embed="rId4">
            <a:alphaModFix/>
          </a:blip>
          <a:srcRect l="65296" t="36710" r="6845" b="56702"/>
          <a:stretch>
            <a:fillRect/>
          </a:stretch>
        </p:blipFill>
        <p:spPr>
          <a:xfrm>
            <a:off x="1153035" y="1961536"/>
            <a:ext cx="1885130" cy="412954"/>
          </a:xfrm>
          <a:prstGeom prst="rect">
            <a:avLst/>
          </a:prstGeom>
          <a:noFill/>
          <a:ln>
            <a:noFill/>
          </a:ln>
        </p:spPr>
      </p:pic>
      <p:pic>
        <p:nvPicPr>
          <p:cNvPr id="9" name="Google Shape;500;p43" descr="Diagrama&#10;&#10;El contenido generado por IA puede ser incorrecto.">
            <a:extLst>
              <a:ext uri="{FF2B5EF4-FFF2-40B4-BE49-F238E27FC236}">
                <a16:creationId xmlns:a16="http://schemas.microsoft.com/office/drawing/2014/main" id="{A3B4692A-A109-BFAC-D013-39F50EAF9A38}"/>
              </a:ext>
            </a:extLst>
          </p:cNvPr>
          <p:cNvPicPr preferRelativeResize="0"/>
          <p:nvPr/>
        </p:nvPicPr>
        <p:blipFill rotWithShape="1">
          <a:blip r:embed="rId4">
            <a:alphaModFix/>
          </a:blip>
          <a:srcRect l="65753" t="55462" r="13798" b="37950"/>
          <a:stretch>
            <a:fillRect/>
          </a:stretch>
        </p:blipFill>
        <p:spPr>
          <a:xfrm>
            <a:off x="1153035" y="2510382"/>
            <a:ext cx="1383688" cy="412954"/>
          </a:xfrm>
          <a:prstGeom prst="rect">
            <a:avLst/>
          </a:prstGeom>
          <a:noFill/>
          <a:ln>
            <a:noFill/>
          </a:ln>
        </p:spPr>
      </p:pic>
    </p:spTree>
    <p:extLst>
      <p:ext uri="{BB962C8B-B14F-4D97-AF65-F5344CB8AC3E}">
        <p14:creationId xmlns:p14="http://schemas.microsoft.com/office/powerpoint/2010/main" val="20336939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9BA9F071-CBDB-20FD-9292-FE3326B163F0}"/>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C800CAD7-900E-13B0-3E80-5A5879B5F2CB}"/>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2AA06774-7370-06BE-6E1D-463A4660E4D5}"/>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B8F1FF0A-9EF9-02EA-8276-F25991C4A764}"/>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0FF1D4A-947D-7C47-C644-84876C08F17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53</a:t>
            </a:fld>
            <a:endParaRPr lang="es-AR"/>
          </a:p>
        </p:txBody>
      </p:sp>
      <p:pic>
        <p:nvPicPr>
          <p:cNvPr id="5" name="Google Shape;500;p43" descr="Diagrama&#10;&#10;El contenido generado por IA puede ser incorrecto.">
            <a:extLst>
              <a:ext uri="{FF2B5EF4-FFF2-40B4-BE49-F238E27FC236}">
                <a16:creationId xmlns:a16="http://schemas.microsoft.com/office/drawing/2014/main" id="{B8B8EB8D-B1B2-FE07-DC8E-D080A281BEE6}"/>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pic>
        <p:nvPicPr>
          <p:cNvPr id="8" name="Google Shape;597;p51">
            <a:extLst>
              <a:ext uri="{FF2B5EF4-FFF2-40B4-BE49-F238E27FC236}">
                <a16:creationId xmlns:a16="http://schemas.microsoft.com/office/drawing/2014/main" id="{7D0B8884-E33C-AB00-B1CE-FC7BC6CEDBD9}"/>
              </a:ext>
            </a:extLst>
          </p:cNvPr>
          <p:cNvPicPr preferRelativeResize="0"/>
          <p:nvPr/>
        </p:nvPicPr>
        <p:blipFill rotWithShape="1">
          <a:blip r:embed="rId4">
            <a:alphaModFix/>
          </a:blip>
          <a:srcRect l="1131"/>
          <a:stretch>
            <a:fillRect/>
          </a:stretch>
        </p:blipFill>
        <p:spPr>
          <a:xfrm>
            <a:off x="2528025" y="3031056"/>
            <a:ext cx="7135950" cy="3038508"/>
          </a:xfrm>
          <a:prstGeom prst="rect">
            <a:avLst/>
          </a:prstGeom>
          <a:noFill/>
          <a:ln>
            <a:noFill/>
          </a:ln>
        </p:spPr>
      </p:pic>
      <p:pic>
        <p:nvPicPr>
          <p:cNvPr id="9" name="Google Shape;500;p43" descr="Diagrama&#10;&#10;El contenido generado por IA puede ser incorrecto.">
            <a:extLst>
              <a:ext uri="{FF2B5EF4-FFF2-40B4-BE49-F238E27FC236}">
                <a16:creationId xmlns:a16="http://schemas.microsoft.com/office/drawing/2014/main" id="{11863C04-E861-9D4C-22B5-822017EA0136}"/>
              </a:ext>
            </a:extLst>
          </p:cNvPr>
          <p:cNvPicPr preferRelativeResize="0"/>
          <p:nvPr/>
        </p:nvPicPr>
        <p:blipFill rotWithShape="1">
          <a:blip r:embed="rId3">
            <a:alphaModFix/>
          </a:blip>
          <a:srcRect l="11007" t="55462" r="68544" b="37950"/>
          <a:stretch>
            <a:fillRect/>
          </a:stretch>
        </p:blipFill>
        <p:spPr>
          <a:xfrm>
            <a:off x="1153035" y="2510382"/>
            <a:ext cx="1383688" cy="412954"/>
          </a:xfrm>
          <a:prstGeom prst="rect">
            <a:avLst/>
          </a:prstGeom>
          <a:noFill/>
          <a:ln>
            <a:noFill/>
          </a:ln>
        </p:spPr>
      </p:pic>
    </p:spTree>
    <p:extLst>
      <p:ext uri="{BB962C8B-B14F-4D97-AF65-F5344CB8AC3E}">
        <p14:creationId xmlns:p14="http://schemas.microsoft.com/office/powerpoint/2010/main" val="2163932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F4D1E120-A954-6BE0-CAED-697A2E6DAB31}"/>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AB34A65-D872-AD1B-04FE-1457AE4A6FB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BCCAFD2A-2B4A-3649-CB13-EB83EA0DFD89}"/>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273C95CF-75A2-2051-75A9-74500233E659}"/>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18860FD5-D877-3645-F56E-B6E77445423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54</a:t>
            </a:fld>
            <a:endParaRPr lang="es-AR"/>
          </a:p>
        </p:txBody>
      </p:sp>
      <p:pic>
        <p:nvPicPr>
          <p:cNvPr id="5" name="Google Shape;500;p43" descr="Diagrama&#10;&#10;El contenido generado por IA puede ser incorrecto.">
            <a:extLst>
              <a:ext uri="{FF2B5EF4-FFF2-40B4-BE49-F238E27FC236}">
                <a16:creationId xmlns:a16="http://schemas.microsoft.com/office/drawing/2014/main" id="{AECBCD40-1EAF-2B9D-7FF6-25F8D9F05CE3}"/>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pic>
        <p:nvPicPr>
          <p:cNvPr id="7" name="Google Shape;605;p84" descr="Diagrama, Texto&#10;&#10;El contenido generado por IA puede ser incorrecto.">
            <a:extLst>
              <a:ext uri="{FF2B5EF4-FFF2-40B4-BE49-F238E27FC236}">
                <a16:creationId xmlns:a16="http://schemas.microsoft.com/office/drawing/2014/main" id="{2203C197-97C8-C87E-AAEC-915CE62F06A4}"/>
              </a:ext>
            </a:extLst>
          </p:cNvPr>
          <p:cNvPicPr preferRelativeResize="0"/>
          <p:nvPr/>
        </p:nvPicPr>
        <p:blipFill rotWithShape="1">
          <a:blip r:embed="rId4">
            <a:alphaModFix/>
          </a:blip>
          <a:srcRect l="1042" t="23499" r="1042" b="8108"/>
          <a:stretch>
            <a:fillRect/>
          </a:stretch>
        </p:blipFill>
        <p:spPr>
          <a:xfrm>
            <a:off x="2167526" y="3015973"/>
            <a:ext cx="7856947" cy="3162916"/>
          </a:xfrm>
          <a:prstGeom prst="rect">
            <a:avLst/>
          </a:prstGeom>
          <a:noFill/>
          <a:ln>
            <a:noFill/>
          </a:ln>
        </p:spPr>
      </p:pic>
      <p:pic>
        <p:nvPicPr>
          <p:cNvPr id="9" name="Google Shape;500;p43" descr="Diagrama&#10;&#10;El contenido generado por IA puede ser incorrecto.">
            <a:extLst>
              <a:ext uri="{FF2B5EF4-FFF2-40B4-BE49-F238E27FC236}">
                <a16:creationId xmlns:a16="http://schemas.microsoft.com/office/drawing/2014/main" id="{C561F811-177E-0243-A997-8A8F140A0FE9}"/>
              </a:ext>
            </a:extLst>
          </p:cNvPr>
          <p:cNvPicPr preferRelativeResize="0"/>
          <p:nvPr/>
        </p:nvPicPr>
        <p:blipFill rotWithShape="1">
          <a:blip r:embed="rId3">
            <a:alphaModFix/>
          </a:blip>
          <a:srcRect l="11007" t="55462" r="68544" b="37950"/>
          <a:stretch>
            <a:fillRect/>
          </a:stretch>
        </p:blipFill>
        <p:spPr>
          <a:xfrm>
            <a:off x="1153035" y="2510382"/>
            <a:ext cx="1383688" cy="412954"/>
          </a:xfrm>
          <a:prstGeom prst="rect">
            <a:avLst/>
          </a:prstGeom>
          <a:noFill/>
          <a:ln>
            <a:noFill/>
          </a:ln>
        </p:spPr>
      </p:pic>
    </p:spTree>
    <p:extLst>
      <p:ext uri="{BB962C8B-B14F-4D97-AF65-F5344CB8AC3E}">
        <p14:creationId xmlns:p14="http://schemas.microsoft.com/office/powerpoint/2010/main" val="13216062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9581A73B-F1C7-6A40-AF2D-C7DE73420F62}"/>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801695F-DA35-B118-8DC7-A5260B599A6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AB755283-8AA1-CB77-5D69-F12B6B68D569}"/>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F089648-7F38-D82B-2F0F-E71EDD3ACDD1}"/>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C9ADE13E-157C-1A8F-6F1B-EFE4506EB70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55</a:t>
            </a:fld>
            <a:endParaRPr lang="es-AR"/>
          </a:p>
        </p:txBody>
      </p:sp>
      <p:sp>
        <p:nvSpPr>
          <p:cNvPr id="6" name="Google Shape;134;p4">
            <a:extLst>
              <a:ext uri="{FF2B5EF4-FFF2-40B4-BE49-F238E27FC236}">
                <a16:creationId xmlns:a16="http://schemas.microsoft.com/office/drawing/2014/main" id="{F5820175-26D2-C69B-5174-CC4B525737BE}"/>
              </a:ext>
            </a:extLst>
          </p:cNvPr>
          <p:cNvSpPr txBox="1">
            <a:spLocks/>
          </p:cNvSpPr>
          <p:nvPr/>
        </p:nvSpPr>
        <p:spPr bwMode="auto">
          <a:xfrm>
            <a:off x="1035051" y="25166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Diseña al sistema como un conjunto de componentes u objetos que brindan una interfaz de un conjunto de servicios que ellos suministran. Otros componentes u objetos solicitan estos servicios. No hay distinción tajante entre clientes y servidores.</a:t>
            </a:r>
          </a:p>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Los componentes pueden distribuirse en varias máquinas a través de la red utilizando un middleware como intermediario de peticiones.</a:t>
            </a:r>
          </a:p>
        </p:txBody>
      </p:sp>
      <p:pic>
        <p:nvPicPr>
          <p:cNvPr id="5" name="Google Shape;500;p43" descr="Diagrama&#10;&#10;El contenido generado por IA puede ser incorrecto.">
            <a:extLst>
              <a:ext uri="{FF2B5EF4-FFF2-40B4-BE49-F238E27FC236}">
                <a16:creationId xmlns:a16="http://schemas.microsoft.com/office/drawing/2014/main" id="{93034671-E278-1012-4507-CCE664CFC6E3}"/>
              </a:ext>
            </a:extLst>
          </p:cNvPr>
          <p:cNvPicPr preferRelativeResize="0"/>
          <p:nvPr/>
        </p:nvPicPr>
        <p:blipFill rotWithShape="1">
          <a:blip r:embed="rId3">
            <a:alphaModFix/>
          </a:blip>
          <a:srcRect l="8845" t="74823" r="58937" b="18119"/>
          <a:stretch>
            <a:fillRect/>
          </a:stretch>
        </p:blipFill>
        <p:spPr>
          <a:xfrm>
            <a:off x="1153035" y="1961535"/>
            <a:ext cx="2180100" cy="442452"/>
          </a:xfrm>
          <a:prstGeom prst="rect">
            <a:avLst/>
          </a:prstGeom>
          <a:noFill/>
          <a:ln>
            <a:noFill/>
          </a:ln>
        </p:spPr>
      </p:pic>
    </p:spTree>
    <p:extLst>
      <p:ext uri="{BB962C8B-B14F-4D97-AF65-F5344CB8AC3E}">
        <p14:creationId xmlns:p14="http://schemas.microsoft.com/office/powerpoint/2010/main" val="15798622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E8E9406-A839-BC7E-89CF-33D8CB19AD34}"/>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894620F3-F794-C8AD-11E4-FEFD0EED719B}"/>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261516C5-0FE8-7EA2-011B-2EAF1904AF4D}"/>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0BDECF5E-800A-C187-6B2C-CC8E116D9565}"/>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DF2D0CBB-E276-B4C5-FF3A-8EDEF2048A1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56</a:t>
            </a:fld>
            <a:endParaRPr lang="es-AR"/>
          </a:p>
        </p:txBody>
      </p:sp>
      <p:sp>
        <p:nvSpPr>
          <p:cNvPr id="6" name="Google Shape;134;p4">
            <a:extLst>
              <a:ext uri="{FF2B5EF4-FFF2-40B4-BE49-F238E27FC236}">
                <a16:creationId xmlns:a16="http://schemas.microsoft.com/office/drawing/2014/main" id="{410860D7-1580-2811-A5DE-D66533E888CA}"/>
              </a:ext>
            </a:extLst>
          </p:cNvPr>
          <p:cNvSpPr txBox="1">
            <a:spLocks/>
          </p:cNvSpPr>
          <p:nvPr/>
        </p:nvSpPr>
        <p:spPr bwMode="auto">
          <a:xfrm>
            <a:off x="7176114" y="2182761"/>
            <a:ext cx="4036399"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lnSpc>
                <a:spcPct val="100000"/>
              </a:lnSpc>
              <a:spcBef>
                <a:spcPts val="0"/>
              </a:spcBef>
              <a:spcAft>
                <a:spcPts val="600"/>
              </a:spcAft>
              <a:buClr>
                <a:srgbClr val="C00000"/>
              </a:buClr>
              <a:buNone/>
            </a:pPr>
            <a:r>
              <a:rPr lang="es-ES" dirty="0">
                <a:solidFill>
                  <a:schemeClr val="tx1"/>
                </a:solidFill>
              </a:rPr>
              <a:t>El </a:t>
            </a:r>
            <a:r>
              <a:rPr lang="es-ES" b="1" dirty="0">
                <a:solidFill>
                  <a:schemeClr val="tx1"/>
                </a:solidFill>
              </a:rPr>
              <a:t>middleware</a:t>
            </a:r>
            <a:r>
              <a:rPr lang="es-ES" dirty="0">
                <a:solidFill>
                  <a:schemeClr val="tx1"/>
                </a:solidFill>
              </a:rPr>
              <a:t> es un software que actúa como una </a:t>
            </a:r>
            <a:r>
              <a:rPr lang="es-ES" b="1" dirty="0">
                <a:solidFill>
                  <a:schemeClr val="tx1"/>
                </a:solidFill>
              </a:rPr>
              <a:t>capa intermedia </a:t>
            </a:r>
            <a:r>
              <a:rPr lang="es-ES" dirty="0">
                <a:solidFill>
                  <a:schemeClr val="tx1"/>
                </a:solidFill>
              </a:rPr>
              <a:t>entre las aplicaciones y los sistemas operativos o las redes subyacentes. Su función principal es </a:t>
            </a:r>
            <a:r>
              <a:rPr lang="es-ES" b="1" dirty="0">
                <a:solidFill>
                  <a:schemeClr val="tx1"/>
                </a:solidFill>
              </a:rPr>
              <a:t>facilitar la comunicación y la gestión </a:t>
            </a:r>
            <a:r>
              <a:rPr lang="es-ES" dirty="0">
                <a:solidFill>
                  <a:schemeClr val="tx1"/>
                </a:solidFill>
              </a:rPr>
              <a:t>de los componentes distribuidos, permitiendo que diferentes partes de un sistema interactúen sin tener que conocer los detalles complejos de la infraestructura de red o del sistema operativo de cada una.</a:t>
            </a:r>
          </a:p>
        </p:txBody>
      </p:sp>
      <p:pic>
        <p:nvPicPr>
          <p:cNvPr id="5" name="Google Shape;500;p43" descr="Diagrama&#10;&#10;El contenido generado por IA puede ser incorrecto.">
            <a:extLst>
              <a:ext uri="{FF2B5EF4-FFF2-40B4-BE49-F238E27FC236}">
                <a16:creationId xmlns:a16="http://schemas.microsoft.com/office/drawing/2014/main" id="{C5608E48-38A3-B0B2-B574-6239ECCA4BCF}"/>
              </a:ext>
            </a:extLst>
          </p:cNvPr>
          <p:cNvPicPr preferRelativeResize="0"/>
          <p:nvPr/>
        </p:nvPicPr>
        <p:blipFill rotWithShape="1">
          <a:blip r:embed="rId3">
            <a:alphaModFix/>
          </a:blip>
          <a:srcRect l="8845" t="74823" r="58937" b="18119"/>
          <a:stretch>
            <a:fillRect/>
          </a:stretch>
        </p:blipFill>
        <p:spPr>
          <a:xfrm>
            <a:off x="1153035" y="1961535"/>
            <a:ext cx="2180100" cy="442452"/>
          </a:xfrm>
          <a:prstGeom prst="rect">
            <a:avLst/>
          </a:prstGeom>
          <a:noFill/>
          <a:ln>
            <a:noFill/>
          </a:ln>
        </p:spPr>
      </p:pic>
      <p:pic>
        <p:nvPicPr>
          <p:cNvPr id="7" name="Google Shape;626;p53">
            <a:extLst>
              <a:ext uri="{FF2B5EF4-FFF2-40B4-BE49-F238E27FC236}">
                <a16:creationId xmlns:a16="http://schemas.microsoft.com/office/drawing/2014/main" id="{9CFEAED1-F67A-2EB1-DC36-F4F4643FC029}"/>
              </a:ext>
            </a:extLst>
          </p:cNvPr>
          <p:cNvPicPr preferRelativeResize="0"/>
          <p:nvPr/>
        </p:nvPicPr>
        <p:blipFill rotWithShape="1">
          <a:blip r:embed="rId4">
            <a:alphaModFix/>
          </a:blip>
          <a:srcRect/>
          <a:stretch/>
        </p:blipFill>
        <p:spPr>
          <a:xfrm>
            <a:off x="1014228" y="2850023"/>
            <a:ext cx="6161886" cy="2917778"/>
          </a:xfrm>
          <a:prstGeom prst="rect">
            <a:avLst/>
          </a:prstGeom>
          <a:noFill/>
          <a:ln>
            <a:noFill/>
          </a:ln>
        </p:spPr>
      </p:pic>
    </p:spTree>
    <p:extLst>
      <p:ext uri="{BB962C8B-B14F-4D97-AF65-F5344CB8AC3E}">
        <p14:creationId xmlns:p14="http://schemas.microsoft.com/office/powerpoint/2010/main" val="33509099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0249C968-92B9-21A4-0EED-27B369B2DBC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FE6AA86-1DF0-16DA-5FD6-D84AD800C0B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50CA5454-18E6-9789-C59A-DC9F334239D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51037FD-0930-D3DE-4589-FC3CF1ABD5E9}"/>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06C7059D-4E0D-8BDC-89F0-FE6EC520482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57</a:t>
            </a:fld>
            <a:endParaRPr lang="es-AR"/>
          </a:p>
        </p:txBody>
      </p:sp>
      <p:pic>
        <p:nvPicPr>
          <p:cNvPr id="5" name="Google Shape;500;p43" descr="Diagrama&#10;&#10;El contenido generado por IA puede ser incorrecto.">
            <a:extLst>
              <a:ext uri="{FF2B5EF4-FFF2-40B4-BE49-F238E27FC236}">
                <a16:creationId xmlns:a16="http://schemas.microsoft.com/office/drawing/2014/main" id="{03EC90D5-7F4F-07FE-FD14-53B78CC50937}"/>
              </a:ext>
            </a:extLst>
          </p:cNvPr>
          <p:cNvPicPr preferRelativeResize="0"/>
          <p:nvPr/>
        </p:nvPicPr>
        <p:blipFill rotWithShape="1">
          <a:blip r:embed="rId3">
            <a:alphaModFix/>
          </a:blip>
          <a:srcRect l="8845" t="74823" r="58937" b="18119"/>
          <a:stretch>
            <a:fillRect/>
          </a:stretch>
        </p:blipFill>
        <p:spPr>
          <a:xfrm>
            <a:off x="1153035" y="1961535"/>
            <a:ext cx="2180100" cy="442452"/>
          </a:xfrm>
          <a:prstGeom prst="rect">
            <a:avLst/>
          </a:prstGeom>
          <a:noFill/>
          <a:ln>
            <a:noFill/>
          </a:ln>
        </p:spPr>
      </p:pic>
      <p:pic>
        <p:nvPicPr>
          <p:cNvPr id="8" name="Google Shape;635;p85" descr="Diagrama&#10;&#10;El contenido generado por IA puede ser incorrecto.">
            <a:extLst>
              <a:ext uri="{FF2B5EF4-FFF2-40B4-BE49-F238E27FC236}">
                <a16:creationId xmlns:a16="http://schemas.microsoft.com/office/drawing/2014/main" id="{93008291-D05F-2C2F-7654-4BC53D5F0A77}"/>
              </a:ext>
            </a:extLst>
          </p:cNvPr>
          <p:cNvPicPr preferRelativeResize="0"/>
          <p:nvPr/>
        </p:nvPicPr>
        <p:blipFill rotWithShape="1">
          <a:blip r:embed="rId4">
            <a:alphaModFix/>
          </a:blip>
          <a:srcRect t="20812" b="8049"/>
          <a:stretch>
            <a:fillRect/>
          </a:stretch>
        </p:blipFill>
        <p:spPr>
          <a:xfrm>
            <a:off x="1428730" y="2403987"/>
            <a:ext cx="9394866" cy="3908323"/>
          </a:xfrm>
          <a:prstGeom prst="rect">
            <a:avLst/>
          </a:prstGeom>
          <a:noFill/>
          <a:ln>
            <a:noFill/>
          </a:ln>
        </p:spPr>
      </p:pic>
      <p:sp>
        <p:nvSpPr>
          <p:cNvPr id="9" name="Google Shape;636;p85">
            <a:extLst>
              <a:ext uri="{FF2B5EF4-FFF2-40B4-BE49-F238E27FC236}">
                <a16:creationId xmlns:a16="http://schemas.microsoft.com/office/drawing/2014/main" id="{A3CA6F20-047F-729D-BD1B-429AB603F26F}"/>
              </a:ext>
            </a:extLst>
          </p:cNvPr>
          <p:cNvSpPr txBox="1"/>
          <p:nvPr/>
        </p:nvSpPr>
        <p:spPr>
          <a:xfrm>
            <a:off x="4245063" y="1388951"/>
            <a:ext cx="3289267" cy="3589063"/>
          </a:xfrm>
          <a:prstGeom prst="borderCallout2">
            <a:avLst>
              <a:gd name="adj1" fmla="val 18750"/>
              <a:gd name="adj2" fmla="val -262"/>
              <a:gd name="adj3" fmla="val 18750"/>
              <a:gd name="adj4" fmla="val -16667"/>
              <a:gd name="adj5" fmla="val 44697"/>
              <a:gd name="adj6" fmla="val -27387"/>
            </a:avLst>
          </a:prstGeom>
          <a:solidFill>
            <a:schemeClr val="accent2">
              <a:lumMod val="40000"/>
              <a:lumOff val="60000"/>
            </a:schemeClr>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AR" sz="1600" b="1" i="0" u="none" strike="noStrike" cap="none" dirty="0">
                <a:solidFill>
                  <a:schemeClr val="lt1"/>
                </a:solidFill>
                <a:latin typeface="Arial"/>
                <a:ea typeface="Arial"/>
                <a:cs typeface="Arial"/>
                <a:sym typeface="Arial"/>
              </a:rPr>
              <a:t>CORBA</a:t>
            </a:r>
            <a:r>
              <a:rPr lang="es-AR" sz="1600" b="0" i="0" u="none" strike="noStrike" cap="none" dirty="0">
                <a:solidFill>
                  <a:schemeClr val="lt1"/>
                </a:solidFill>
                <a:latin typeface="Arial"/>
                <a:ea typeface="Arial"/>
                <a:cs typeface="Arial"/>
                <a:sym typeface="Arial"/>
              </a:rPr>
              <a:t> - </a:t>
            </a:r>
            <a:r>
              <a:rPr lang="es-AR" sz="1600" b="1" i="0" u="none" strike="noStrike" cap="none" dirty="0" err="1">
                <a:solidFill>
                  <a:schemeClr val="lt1"/>
                </a:solidFill>
                <a:latin typeface="Arial"/>
                <a:ea typeface="Arial"/>
                <a:cs typeface="Arial"/>
                <a:sym typeface="Arial"/>
              </a:rPr>
              <a:t>Common</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Object</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Request</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Broker</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Architecture</a:t>
            </a:r>
            <a:r>
              <a:rPr lang="es-AR" sz="1600" b="0" i="0" u="none" strike="noStrike" cap="none" dirty="0">
                <a:solidFill>
                  <a:schemeClr val="lt1"/>
                </a:solidFill>
                <a:latin typeface="Arial"/>
                <a:ea typeface="Arial"/>
                <a:cs typeface="Arial"/>
                <a:sym typeface="Arial"/>
              </a:rPr>
              <a:t> (Arquitectura de Agente de Petición de Objetos Común).</a:t>
            </a:r>
          </a:p>
          <a:p>
            <a:pPr marL="0" marR="0" lvl="0" indent="0" algn="ctr" rtl="0">
              <a:lnSpc>
                <a:spcPct val="100000"/>
              </a:lnSpc>
              <a:spcBef>
                <a:spcPts val="0"/>
              </a:spcBef>
              <a:spcAft>
                <a:spcPts val="0"/>
              </a:spcAft>
              <a:buClr>
                <a:srgbClr val="000000"/>
              </a:buClr>
              <a:buSzPts val="1600"/>
              <a:buFont typeface="Arial"/>
              <a:buNone/>
            </a:pPr>
            <a:endParaRPr sz="500" dirty="0"/>
          </a:p>
          <a:p>
            <a:pPr marL="0" marR="0" lvl="0" indent="0" algn="ctr" rtl="0">
              <a:lnSpc>
                <a:spcPct val="100000"/>
              </a:lnSpc>
              <a:spcBef>
                <a:spcPts val="0"/>
              </a:spcBef>
              <a:spcAft>
                <a:spcPts val="0"/>
              </a:spcAft>
              <a:buNone/>
            </a:pPr>
            <a:r>
              <a:rPr lang="es-AR" sz="1600" b="0" i="0" u="none" strike="noStrike" cap="none" dirty="0">
                <a:solidFill>
                  <a:schemeClr val="lt1"/>
                </a:solidFill>
                <a:latin typeface="Arial"/>
                <a:ea typeface="Arial"/>
                <a:cs typeface="Arial"/>
                <a:sym typeface="Arial"/>
              </a:rPr>
              <a:t>Estándar definido por el </a:t>
            </a:r>
            <a:r>
              <a:rPr lang="es-AR" sz="1600" b="0" i="0" u="none" strike="noStrike" cap="none" dirty="0" err="1">
                <a:solidFill>
                  <a:schemeClr val="lt1"/>
                </a:solidFill>
                <a:latin typeface="Arial"/>
                <a:ea typeface="Arial"/>
                <a:cs typeface="Arial"/>
                <a:sym typeface="Arial"/>
              </a:rPr>
              <a:t>Object</a:t>
            </a:r>
            <a:r>
              <a:rPr lang="es-AR" sz="1600" b="0" i="0" u="none" strike="noStrike" cap="none" dirty="0">
                <a:solidFill>
                  <a:schemeClr val="lt1"/>
                </a:solidFill>
                <a:latin typeface="Arial"/>
                <a:ea typeface="Arial"/>
                <a:cs typeface="Arial"/>
                <a:sym typeface="Arial"/>
              </a:rPr>
              <a:t> Management </a:t>
            </a:r>
            <a:r>
              <a:rPr lang="es-AR" sz="1600" b="0" i="0" u="none" strike="noStrike" cap="none" dirty="0" err="1">
                <a:solidFill>
                  <a:schemeClr val="lt1"/>
                </a:solidFill>
                <a:latin typeface="Arial"/>
                <a:ea typeface="Arial"/>
                <a:cs typeface="Arial"/>
                <a:sym typeface="Arial"/>
              </a:rPr>
              <a:t>Group</a:t>
            </a:r>
            <a:r>
              <a:rPr lang="es-AR" sz="1600" b="0" i="0" u="none" strike="noStrike" cap="none" dirty="0">
                <a:solidFill>
                  <a:schemeClr val="lt1"/>
                </a:solidFill>
                <a:latin typeface="Arial"/>
                <a:ea typeface="Arial"/>
                <a:cs typeface="Arial"/>
                <a:sym typeface="Arial"/>
              </a:rPr>
              <a:t> (OMG) diseñado para permitir que componentes de software escritos en diferentes lenguajes de programación y ejecutándose en diferentes máquinas (y sistemas operativos) puedan </a:t>
            </a:r>
            <a:r>
              <a:rPr lang="es-AR" sz="1600" i="0" u="none" strike="noStrike" cap="none" dirty="0">
                <a:solidFill>
                  <a:schemeClr val="lt1"/>
                </a:solidFill>
                <a:latin typeface="Arial"/>
                <a:ea typeface="Arial"/>
                <a:cs typeface="Arial"/>
                <a:sym typeface="Arial"/>
              </a:rPr>
              <a:t>interoperar</a:t>
            </a:r>
            <a:r>
              <a:rPr lang="es-AR" sz="1600" b="0" i="0" u="none" strike="noStrike" cap="none" dirty="0">
                <a:solidFill>
                  <a:schemeClr val="lt1"/>
                </a:solidFill>
                <a:latin typeface="Arial"/>
                <a:ea typeface="Arial"/>
                <a:cs typeface="Arial"/>
                <a:sym typeface="Arial"/>
              </a:rPr>
              <a:t> y trabajar juntos como si fueran objetos locales.</a:t>
            </a:r>
            <a:endParaRPr dirty="0"/>
          </a:p>
        </p:txBody>
      </p:sp>
      <p:sp>
        <p:nvSpPr>
          <p:cNvPr id="10" name="Google Shape;637;p85">
            <a:extLst>
              <a:ext uri="{FF2B5EF4-FFF2-40B4-BE49-F238E27FC236}">
                <a16:creationId xmlns:a16="http://schemas.microsoft.com/office/drawing/2014/main" id="{BB4F5326-0339-A280-30A9-1DD5AD4BEF65}"/>
              </a:ext>
            </a:extLst>
          </p:cNvPr>
          <p:cNvSpPr txBox="1"/>
          <p:nvPr/>
        </p:nvSpPr>
        <p:spPr>
          <a:xfrm>
            <a:off x="4691791" y="1973304"/>
            <a:ext cx="3289267" cy="3616334"/>
          </a:xfrm>
          <a:prstGeom prst="borderCallout2">
            <a:avLst>
              <a:gd name="adj1" fmla="val 19158"/>
              <a:gd name="adj2" fmla="val 186"/>
              <a:gd name="adj3" fmla="val 18750"/>
              <a:gd name="adj4" fmla="val -16667"/>
              <a:gd name="adj5" fmla="val 67639"/>
              <a:gd name="adj6" fmla="val -39493"/>
            </a:avLst>
          </a:prstGeom>
          <a:solidFill>
            <a:schemeClr val="accent2">
              <a:lumMod val="40000"/>
              <a:lumOff val="60000"/>
            </a:schemeClr>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AR" sz="1600" b="1" i="0" u="none" strike="noStrike" cap="none" dirty="0">
                <a:solidFill>
                  <a:schemeClr val="lt1"/>
                </a:solidFill>
                <a:latin typeface="Arial"/>
                <a:ea typeface="Arial"/>
                <a:cs typeface="Arial"/>
                <a:sym typeface="Arial"/>
              </a:rPr>
              <a:t>RMI</a:t>
            </a:r>
            <a:r>
              <a:rPr lang="es-AR" sz="1600" b="0" i="0" u="none" strike="noStrike" cap="none" dirty="0">
                <a:solidFill>
                  <a:schemeClr val="lt1"/>
                </a:solidFill>
                <a:latin typeface="Arial"/>
                <a:ea typeface="Arial"/>
                <a:cs typeface="Arial"/>
                <a:sym typeface="Arial"/>
              </a:rPr>
              <a:t> - </a:t>
            </a:r>
            <a:r>
              <a:rPr lang="es-AR" sz="1600" b="1" i="0" u="none" strike="noStrike" cap="none" dirty="0">
                <a:solidFill>
                  <a:schemeClr val="lt1"/>
                </a:solidFill>
                <a:latin typeface="Arial"/>
                <a:ea typeface="Arial"/>
                <a:cs typeface="Arial"/>
                <a:sym typeface="Arial"/>
              </a:rPr>
              <a:t>Remote </a:t>
            </a:r>
            <a:r>
              <a:rPr lang="es-AR" sz="1600" b="1" i="0" u="none" strike="noStrike" cap="none" dirty="0" err="1">
                <a:solidFill>
                  <a:schemeClr val="lt1"/>
                </a:solidFill>
                <a:latin typeface="Arial"/>
                <a:ea typeface="Arial"/>
                <a:cs typeface="Arial"/>
                <a:sym typeface="Arial"/>
              </a:rPr>
              <a:t>Method</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Invocation</a:t>
            </a:r>
            <a:r>
              <a:rPr lang="es-AR" sz="1600" b="0" i="0" u="none" strike="noStrike" cap="none" dirty="0">
                <a:solidFill>
                  <a:schemeClr val="lt1"/>
                </a:solidFill>
                <a:latin typeface="Arial"/>
                <a:ea typeface="Arial"/>
                <a:cs typeface="Arial"/>
                <a:sym typeface="Arial"/>
              </a:rPr>
              <a:t> (Invocación de Método Remoto).</a:t>
            </a:r>
          </a:p>
          <a:p>
            <a:pPr marL="0" marR="0" lvl="0" indent="0" algn="ctr" rtl="0">
              <a:lnSpc>
                <a:spcPct val="100000"/>
              </a:lnSpc>
              <a:spcBef>
                <a:spcPts val="0"/>
              </a:spcBef>
              <a:spcAft>
                <a:spcPts val="0"/>
              </a:spcAft>
              <a:buClr>
                <a:srgbClr val="000000"/>
              </a:buClr>
              <a:buSzPts val="1600"/>
              <a:buFont typeface="Arial"/>
              <a:buNone/>
            </a:pPr>
            <a:endParaRPr sz="500" dirty="0"/>
          </a:p>
          <a:p>
            <a:pPr marL="0" marR="0" lvl="0" indent="0" algn="ctr" rtl="0">
              <a:lnSpc>
                <a:spcPct val="100000"/>
              </a:lnSpc>
              <a:spcBef>
                <a:spcPts val="0"/>
              </a:spcBef>
              <a:spcAft>
                <a:spcPts val="0"/>
              </a:spcAft>
              <a:buNone/>
            </a:pPr>
            <a:r>
              <a:rPr lang="es-AR" sz="1600" b="0" i="0" u="none" strike="noStrike" cap="none" dirty="0">
                <a:solidFill>
                  <a:schemeClr val="lt1"/>
                </a:solidFill>
                <a:latin typeface="Arial"/>
                <a:ea typeface="Arial"/>
                <a:cs typeface="Arial"/>
                <a:sym typeface="Arial"/>
              </a:rPr>
              <a:t>API nativa del lenguaje de </a:t>
            </a:r>
            <a:r>
              <a:rPr lang="es-AR" sz="1600" i="0" u="none" strike="noStrike" cap="none" dirty="0">
                <a:solidFill>
                  <a:schemeClr val="lt1"/>
                </a:solidFill>
                <a:latin typeface="Arial"/>
                <a:ea typeface="Arial"/>
                <a:cs typeface="Arial"/>
                <a:sym typeface="Arial"/>
              </a:rPr>
              <a:t>programación Java que permite que un objeto que se ejecuta en una Máquina Virtual Java (JVM) pueda invocar métodos de un objeto que se está ejecutando en otra JVM diferente. Estas </a:t>
            </a:r>
            <a:r>
              <a:rPr lang="es-AR" sz="1600" i="0" u="none" strike="noStrike" cap="none" dirty="0" err="1">
                <a:solidFill>
                  <a:schemeClr val="lt1"/>
                </a:solidFill>
                <a:latin typeface="Arial"/>
                <a:ea typeface="Arial"/>
                <a:cs typeface="Arial"/>
                <a:sym typeface="Arial"/>
              </a:rPr>
              <a:t>JVMs</a:t>
            </a:r>
            <a:r>
              <a:rPr lang="es-AR" sz="1600" i="0" u="none" strike="noStrike" cap="none" dirty="0">
                <a:solidFill>
                  <a:schemeClr val="lt1"/>
                </a:solidFill>
                <a:latin typeface="Arial"/>
                <a:ea typeface="Arial"/>
                <a:cs typeface="Arial"/>
                <a:sym typeface="Arial"/>
              </a:rPr>
              <a:t> pueden estar en la misma máquina física o en máquinas separadas </a:t>
            </a:r>
            <a:r>
              <a:rPr lang="es-AR" sz="1600" b="0" i="0" u="none" strike="noStrike" cap="none" dirty="0">
                <a:solidFill>
                  <a:schemeClr val="lt1"/>
                </a:solidFill>
                <a:latin typeface="Arial"/>
                <a:ea typeface="Arial"/>
                <a:cs typeface="Arial"/>
                <a:sym typeface="Arial"/>
              </a:rPr>
              <a:t>conectadas por una red.</a:t>
            </a:r>
            <a:endParaRPr dirty="0"/>
          </a:p>
        </p:txBody>
      </p:sp>
      <p:sp>
        <p:nvSpPr>
          <p:cNvPr id="11" name="Google Shape;638;p85">
            <a:extLst>
              <a:ext uri="{FF2B5EF4-FFF2-40B4-BE49-F238E27FC236}">
                <a16:creationId xmlns:a16="http://schemas.microsoft.com/office/drawing/2014/main" id="{7B1F4264-E5AF-B6A7-4F2A-710C1A45E2FE}"/>
              </a:ext>
            </a:extLst>
          </p:cNvPr>
          <p:cNvSpPr txBox="1"/>
          <p:nvPr/>
        </p:nvSpPr>
        <p:spPr>
          <a:xfrm>
            <a:off x="4836602" y="1498425"/>
            <a:ext cx="3289266" cy="3370113"/>
          </a:xfrm>
          <a:prstGeom prst="borderCallout2">
            <a:avLst>
              <a:gd name="adj1" fmla="val 19625"/>
              <a:gd name="adj2" fmla="val 99278"/>
              <a:gd name="adj3" fmla="val 19625"/>
              <a:gd name="adj4" fmla="val 116502"/>
              <a:gd name="adj5" fmla="val 44231"/>
              <a:gd name="adj6" fmla="val 156449"/>
            </a:avLst>
          </a:prstGeom>
          <a:solidFill>
            <a:schemeClr val="accent2">
              <a:lumMod val="40000"/>
              <a:lumOff val="60000"/>
            </a:schemeClr>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AR" sz="1600" b="1" i="0" u="none" strike="noStrike" cap="none" dirty="0">
                <a:solidFill>
                  <a:schemeClr val="lt1"/>
                </a:solidFill>
                <a:latin typeface="Arial"/>
                <a:ea typeface="Arial"/>
                <a:cs typeface="Arial"/>
                <a:sym typeface="Arial"/>
              </a:rPr>
              <a:t>DCOM</a:t>
            </a:r>
            <a:r>
              <a:rPr lang="es-AR" sz="1600" b="0" i="0" u="none" strike="noStrike" cap="none" dirty="0">
                <a:solidFill>
                  <a:schemeClr val="lt1"/>
                </a:solidFill>
                <a:latin typeface="Arial"/>
                <a:ea typeface="Arial"/>
                <a:cs typeface="Arial"/>
                <a:sym typeface="Arial"/>
              </a:rPr>
              <a:t> - </a:t>
            </a:r>
            <a:r>
              <a:rPr lang="es-AR" sz="1600" b="1" i="0" u="none" strike="noStrike" cap="none" dirty="0" err="1">
                <a:solidFill>
                  <a:schemeClr val="lt1"/>
                </a:solidFill>
                <a:latin typeface="Arial"/>
                <a:ea typeface="Arial"/>
                <a:cs typeface="Arial"/>
                <a:sym typeface="Arial"/>
              </a:rPr>
              <a:t>Distributed</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Component</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Object</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Model</a:t>
            </a:r>
            <a:r>
              <a:rPr lang="es-AR" sz="1600" b="0" i="0" u="none" strike="noStrike" cap="none" dirty="0">
                <a:solidFill>
                  <a:schemeClr val="lt1"/>
                </a:solidFill>
                <a:latin typeface="Arial"/>
                <a:ea typeface="Arial"/>
                <a:cs typeface="Arial"/>
                <a:sym typeface="Arial"/>
              </a:rPr>
              <a:t> (Modelo de Objetos Componentes Distribuidos).</a:t>
            </a:r>
          </a:p>
          <a:p>
            <a:pPr marL="0" marR="0" lvl="0" indent="0" algn="ctr" rtl="0">
              <a:lnSpc>
                <a:spcPct val="100000"/>
              </a:lnSpc>
              <a:spcBef>
                <a:spcPts val="0"/>
              </a:spcBef>
              <a:spcAft>
                <a:spcPts val="0"/>
              </a:spcAft>
              <a:buClr>
                <a:srgbClr val="000000"/>
              </a:buClr>
              <a:buSzPts val="1600"/>
              <a:buFont typeface="Arial"/>
              <a:buNone/>
            </a:pPr>
            <a:endParaRPr sz="500" dirty="0"/>
          </a:p>
          <a:p>
            <a:pPr marL="0" marR="0" lvl="0" indent="0" algn="ctr" rtl="0">
              <a:lnSpc>
                <a:spcPct val="100000"/>
              </a:lnSpc>
              <a:spcBef>
                <a:spcPts val="0"/>
              </a:spcBef>
              <a:spcAft>
                <a:spcPts val="0"/>
              </a:spcAft>
              <a:buNone/>
            </a:pPr>
            <a:r>
              <a:rPr lang="es-AR" sz="1600" i="0" u="none" strike="noStrike" cap="none" dirty="0">
                <a:solidFill>
                  <a:schemeClr val="lt1"/>
                </a:solidFill>
                <a:latin typeface="Arial"/>
                <a:ea typeface="Arial"/>
                <a:cs typeface="Arial"/>
                <a:sym typeface="Arial"/>
              </a:rPr>
              <a:t>Es una tecnología desarrollada por Microsoft que permite que componentes de software (objetos COM) se comuniquen directamente a través de una red. Es, esencialmente, una extensión del </a:t>
            </a:r>
            <a:r>
              <a:rPr lang="es-AR" sz="1600" i="0" u="none" strike="noStrike" cap="none" dirty="0" err="1">
                <a:solidFill>
                  <a:schemeClr val="lt1"/>
                </a:solidFill>
                <a:latin typeface="Arial"/>
                <a:ea typeface="Arial"/>
                <a:cs typeface="Arial"/>
                <a:sym typeface="Arial"/>
              </a:rPr>
              <a:t>Component</a:t>
            </a:r>
            <a:r>
              <a:rPr lang="es-AR" sz="1600" i="0" u="none" strike="noStrike" cap="none" dirty="0">
                <a:solidFill>
                  <a:schemeClr val="lt1"/>
                </a:solidFill>
                <a:latin typeface="Arial"/>
                <a:ea typeface="Arial"/>
                <a:cs typeface="Arial"/>
                <a:sym typeface="Arial"/>
              </a:rPr>
              <a:t> </a:t>
            </a:r>
            <a:r>
              <a:rPr lang="es-AR" sz="1600" i="0" u="none" strike="noStrike" cap="none" dirty="0" err="1">
                <a:solidFill>
                  <a:schemeClr val="lt1"/>
                </a:solidFill>
                <a:latin typeface="Arial"/>
                <a:ea typeface="Arial"/>
                <a:cs typeface="Arial"/>
                <a:sym typeface="Arial"/>
              </a:rPr>
              <a:t>Object</a:t>
            </a:r>
            <a:r>
              <a:rPr lang="es-AR" sz="1600" i="0" u="none" strike="noStrike" cap="none" dirty="0">
                <a:solidFill>
                  <a:schemeClr val="lt1"/>
                </a:solidFill>
                <a:latin typeface="Arial"/>
                <a:ea typeface="Arial"/>
                <a:cs typeface="Arial"/>
                <a:sym typeface="Arial"/>
              </a:rPr>
              <a:t> </a:t>
            </a:r>
            <a:r>
              <a:rPr lang="es-AR" sz="1600" i="0" u="none" strike="noStrike" cap="none" dirty="0" err="1">
                <a:solidFill>
                  <a:schemeClr val="lt1"/>
                </a:solidFill>
                <a:latin typeface="Arial"/>
                <a:ea typeface="Arial"/>
                <a:cs typeface="Arial"/>
                <a:sym typeface="Arial"/>
              </a:rPr>
              <a:t>Model</a:t>
            </a:r>
            <a:r>
              <a:rPr lang="es-AR" sz="1600" i="0" u="none" strike="noStrike" cap="none" dirty="0">
                <a:solidFill>
                  <a:schemeClr val="lt1"/>
                </a:solidFill>
                <a:latin typeface="Arial"/>
                <a:ea typeface="Arial"/>
                <a:cs typeface="Arial"/>
                <a:sym typeface="Arial"/>
              </a:rPr>
              <a:t> (COM) de Microsoft para soportar </a:t>
            </a:r>
            <a:r>
              <a:rPr lang="es-AR" sz="1600" b="0" i="0" u="none" strike="noStrike" cap="none" dirty="0">
                <a:solidFill>
                  <a:schemeClr val="lt1"/>
                </a:solidFill>
                <a:latin typeface="Arial"/>
                <a:ea typeface="Arial"/>
                <a:cs typeface="Arial"/>
                <a:sym typeface="Arial"/>
              </a:rPr>
              <a:t>la comunicación distribuida.</a:t>
            </a:r>
            <a:endParaRPr dirty="0"/>
          </a:p>
        </p:txBody>
      </p:sp>
    </p:spTree>
    <p:extLst>
      <p:ext uri="{BB962C8B-B14F-4D97-AF65-F5344CB8AC3E}">
        <p14:creationId xmlns:p14="http://schemas.microsoft.com/office/powerpoint/2010/main" val="3444718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0" nodeType="clickEffect">
                                  <p:stCondLst>
                                    <p:cond delay="0"/>
                                  </p:stCondLst>
                                  <p:childTnLst>
                                    <p:animEffect transition="out" filter="fade">
                                      <p:cBhvr>
                                        <p:cTn id="20" dur="500"/>
                                        <p:tgtEl>
                                          <p:spTgt spid="10"/>
                                        </p:tgtEl>
                                      </p:cBhvr>
                                    </p:animEffect>
                                    <p:set>
                                      <p:cBhvr>
                                        <p:cTn id="21" dur="1" fill="hold">
                                          <p:stCondLst>
                                            <p:cond delay="499"/>
                                          </p:stCondLst>
                                        </p:cTn>
                                        <p:tgtEl>
                                          <p:spTgt spid="10"/>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42D9F45-607C-EC51-5261-53D730A9C25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03A15C15-9B5D-C4E8-66CA-2DC8A99040CB}"/>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4C75DF3A-C38F-E7D2-31A2-C0C48BF0CCB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25BB2598-6167-8850-C05A-BB3CB65EB4DF}"/>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E84B857B-B21C-58BB-9E84-867B07F6EAF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58</a:t>
            </a:fld>
            <a:endParaRPr lang="es-AR"/>
          </a:p>
        </p:txBody>
      </p:sp>
      <p:sp>
        <p:nvSpPr>
          <p:cNvPr id="6" name="Google Shape;134;p4">
            <a:extLst>
              <a:ext uri="{FF2B5EF4-FFF2-40B4-BE49-F238E27FC236}">
                <a16:creationId xmlns:a16="http://schemas.microsoft.com/office/drawing/2014/main" id="{FE348710-00E1-939E-4714-24652423DF5E}"/>
              </a:ext>
            </a:extLst>
          </p:cNvPr>
          <p:cNvSpPr txBox="1">
            <a:spLocks/>
          </p:cNvSpPr>
          <p:nvPr/>
        </p:nvSpPr>
        <p:spPr bwMode="auto">
          <a:xfrm>
            <a:off x="1035051" y="25166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Una organización tiene varios servidores y reparte su carga computacional entre ellos.</a:t>
            </a:r>
          </a:p>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Extender este concepto a varias organizaciones.</a:t>
            </a:r>
          </a:p>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Pueden ser arquitecturas del tipo:</a:t>
            </a:r>
          </a:p>
          <a:p>
            <a:pPr marL="873125" indent="-342900" algn="just">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tx1"/>
                </a:solidFill>
              </a:rPr>
              <a:t>Peer-</a:t>
            </a:r>
            <a:r>
              <a:rPr lang="es-ES" sz="2800" dirty="0" err="1">
                <a:solidFill>
                  <a:schemeClr val="tx1"/>
                </a:solidFill>
              </a:rPr>
              <a:t>to</a:t>
            </a:r>
            <a:r>
              <a:rPr lang="es-ES" sz="2800" dirty="0">
                <a:solidFill>
                  <a:schemeClr val="tx1"/>
                </a:solidFill>
              </a:rPr>
              <a:t>-Peer</a:t>
            </a:r>
          </a:p>
          <a:p>
            <a:pPr marL="873125" indent="-342900" algn="just">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tx1"/>
                </a:solidFill>
              </a:rPr>
              <a:t>Orientados a servicios</a:t>
            </a:r>
          </a:p>
        </p:txBody>
      </p:sp>
      <p:pic>
        <p:nvPicPr>
          <p:cNvPr id="5" name="Google Shape;500;p43" descr="Diagrama&#10;&#10;El contenido generado por IA puede ser incorrecto.">
            <a:extLst>
              <a:ext uri="{FF2B5EF4-FFF2-40B4-BE49-F238E27FC236}">
                <a16:creationId xmlns:a16="http://schemas.microsoft.com/office/drawing/2014/main" id="{FB2B44BC-0094-4FF4-A4BA-1C67F7AA0C14}"/>
              </a:ext>
            </a:extLst>
          </p:cNvPr>
          <p:cNvPicPr preferRelativeResize="0"/>
          <p:nvPr/>
        </p:nvPicPr>
        <p:blipFill rotWithShape="1">
          <a:blip r:embed="rId3">
            <a:alphaModFix/>
          </a:blip>
          <a:srcRect l="54616" t="74823" r="3576" b="16321"/>
          <a:stretch>
            <a:fillRect/>
          </a:stretch>
        </p:blipFill>
        <p:spPr>
          <a:xfrm>
            <a:off x="1153035" y="1961535"/>
            <a:ext cx="2829030" cy="555138"/>
          </a:xfrm>
          <a:prstGeom prst="rect">
            <a:avLst/>
          </a:prstGeom>
          <a:noFill/>
          <a:ln>
            <a:noFill/>
          </a:ln>
        </p:spPr>
      </p:pic>
    </p:spTree>
    <p:extLst>
      <p:ext uri="{BB962C8B-B14F-4D97-AF65-F5344CB8AC3E}">
        <p14:creationId xmlns:p14="http://schemas.microsoft.com/office/powerpoint/2010/main" val="7176963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29C483D-5347-40BD-3B15-1BD506AD442A}"/>
            </a:ext>
          </a:extLst>
        </p:cNvPr>
        <p:cNvGrpSpPr/>
        <p:nvPr/>
      </p:nvGrpSpPr>
      <p:grpSpPr>
        <a:xfrm>
          <a:off x="0" y="0"/>
          <a:ext cx="0" cy="0"/>
          <a:chOff x="0" y="0"/>
          <a:chExt cx="0" cy="0"/>
        </a:xfrm>
      </p:grpSpPr>
      <p:pic>
        <p:nvPicPr>
          <p:cNvPr id="7" name="Google Shape;500;p43" descr="Diagrama&#10;&#10;El contenido generado por IA puede ser incorrecto.">
            <a:extLst>
              <a:ext uri="{FF2B5EF4-FFF2-40B4-BE49-F238E27FC236}">
                <a16:creationId xmlns:a16="http://schemas.microsoft.com/office/drawing/2014/main" id="{3DC94547-5B23-D287-9325-572361B9F141}"/>
              </a:ext>
            </a:extLst>
          </p:cNvPr>
          <p:cNvPicPr preferRelativeResize="0"/>
          <p:nvPr/>
        </p:nvPicPr>
        <p:blipFill rotWithShape="1">
          <a:blip r:embed="rId3">
            <a:alphaModFix/>
          </a:blip>
          <a:srcRect l="18218" t="15915" r="59332" b="75229"/>
          <a:stretch>
            <a:fillRect/>
          </a:stretch>
        </p:blipFill>
        <p:spPr>
          <a:xfrm>
            <a:off x="1153035" y="2537002"/>
            <a:ext cx="1519086" cy="555138"/>
          </a:xfrm>
          <a:prstGeom prst="rect">
            <a:avLst/>
          </a:prstGeom>
          <a:noFill/>
          <a:ln>
            <a:noFill/>
          </a:ln>
        </p:spPr>
      </p:pic>
      <p:sp>
        <p:nvSpPr>
          <p:cNvPr id="133" name="Google Shape;133;p4">
            <a:extLst>
              <a:ext uri="{FF2B5EF4-FFF2-40B4-BE49-F238E27FC236}">
                <a16:creationId xmlns:a16="http://schemas.microsoft.com/office/drawing/2014/main" id="{4F553287-4FD2-1348-9C0F-E9F95A84C45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BC21DFAA-D1E6-1134-0750-9A001441422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B262DA7-CE99-8FE5-D28A-3A1165C9D69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7612F4BA-DD1F-6353-59D4-82DBBA7310B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59</a:t>
            </a:fld>
            <a:endParaRPr lang="es-AR"/>
          </a:p>
        </p:txBody>
      </p:sp>
      <p:sp>
        <p:nvSpPr>
          <p:cNvPr id="6" name="Google Shape;134;p4">
            <a:extLst>
              <a:ext uri="{FF2B5EF4-FFF2-40B4-BE49-F238E27FC236}">
                <a16:creationId xmlns:a16="http://schemas.microsoft.com/office/drawing/2014/main" id="{BD3986BC-D800-A69C-4332-DC44FF61B011}"/>
              </a:ext>
            </a:extLst>
          </p:cNvPr>
          <p:cNvSpPr txBox="1">
            <a:spLocks/>
          </p:cNvSpPr>
          <p:nvPr/>
        </p:nvSpPr>
        <p:spPr bwMode="auto">
          <a:xfrm>
            <a:off x="1035051" y="29738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Sistemas descentralizados en los que el cálculo puede llevarse a cabo en cualquier nodo de la red.</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Se diseñan para aprovechar la ventaja de la potencia computacional y el almacenamiento a través de una red.</a:t>
            </a:r>
          </a:p>
          <a:p>
            <a:pPr marL="530225" indent="-530225" algn="just">
              <a:lnSpc>
                <a:spcPct val="100000"/>
              </a:lnSpc>
              <a:spcBef>
                <a:spcPts val="0"/>
              </a:spcBef>
              <a:spcAft>
                <a:spcPts val="0"/>
              </a:spcAft>
              <a:buClr>
                <a:srgbClr val="C00000"/>
              </a:buClr>
              <a:buFont typeface="Noto Sans Symbols"/>
              <a:buChar char="❖"/>
            </a:pPr>
            <a:r>
              <a:rPr lang="es-ES" sz="2400" dirty="0">
                <a:solidFill>
                  <a:schemeClr val="tx1"/>
                </a:solidFill>
              </a:rPr>
              <a:t>Pueden utilizar una arquitectura:</a:t>
            </a:r>
          </a:p>
          <a:p>
            <a:pPr marL="873125" indent="-342900" algn="just">
              <a:lnSpc>
                <a:spcPct val="100000"/>
              </a:lnSpc>
              <a:spcBef>
                <a:spcPts val="0"/>
              </a:spcBef>
              <a:spcAft>
                <a:spcPts val="0"/>
              </a:spcAft>
              <a:buClr>
                <a:srgbClr val="C00000"/>
              </a:buClr>
              <a:buFont typeface="Noto Sans Symbols2" panose="020B0502040504020204" pitchFamily="34" charset="0"/>
              <a:buChar char="»"/>
            </a:pPr>
            <a:r>
              <a:rPr lang="es-ES" sz="2200" dirty="0">
                <a:solidFill>
                  <a:schemeClr val="tx1"/>
                </a:solidFill>
              </a:rPr>
              <a:t>Descentralizada </a:t>
            </a:r>
          </a:p>
          <a:p>
            <a:pPr marL="900113" indent="0" algn="just">
              <a:lnSpc>
                <a:spcPct val="100000"/>
              </a:lnSpc>
              <a:spcBef>
                <a:spcPts val="0"/>
              </a:spcBef>
              <a:spcAft>
                <a:spcPts val="0"/>
              </a:spcAft>
              <a:buClr>
                <a:srgbClr val="C00000"/>
              </a:buClr>
              <a:buNone/>
            </a:pPr>
            <a:r>
              <a:rPr lang="es-ES" i="1" dirty="0">
                <a:solidFill>
                  <a:schemeClr val="tx1"/>
                </a:solidFill>
              </a:rPr>
              <a:t>donde cada nodo rutea los paquetes a sus vecinos hasta encontrar el destino.</a:t>
            </a:r>
            <a:endParaRPr lang="es-ES" dirty="0">
              <a:solidFill>
                <a:schemeClr val="tx1"/>
              </a:solidFill>
            </a:endParaRPr>
          </a:p>
          <a:p>
            <a:pPr marL="873125" indent="-342900" algn="just">
              <a:lnSpc>
                <a:spcPct val="100000"/>
              </a:lnSpc>
              <a:spcBef>
                <a:spcPts val="0"/>
              </a:spcBef>
              <a:spcAft>
                <a:spcPts val="0"/>
              </a:spcAft>
              <a:buClr>
                <a:srgbClr val="C00000"/>
              </a:buClr>
              <a:buFont typeface="Noto Sans Symbols2" panose="020B0502040504020204" pitchFamily="34" charset="0"/>
              <a:buChar char="»"/>
            </a:pPr>
            <a:r>
              <a:rPr lang="es-ES" sz="2200" dirty="0" err="1">
                <a:solidFill>
                  <a:schemeClr val="tx1"/>
                </a:solidFill>
              </a:rPr>
              <a:t>Semi-centralizada</a:t>
            </a:r>
            <a:r>
              <a:rPr lang="es-ES" sz="2200" dirty="0">
                <a:solidFill>
                  <a:schemeClr val="tx1"/>
                </a:solidFill>
              </a:rPr>
              <a:t>  </a:t>
            </a:r>
          </a:p>
          <a:p>
            <a:pPr marL="900113" indent="0" algn="just">
              <a:lnSpc>
                <a:spcPct val="100000"/>
              </a:lnSpc>
              <a:spcBef>
                <a:spcPts val="0"/>
              </a:spcBef>
              <a:spcAft>
                <a:spcPts val="0"/>
              </a:spcAft>
              <a:buClr>
                <a:srgbClr val="C00000"/>
              </a:buClr>
              <a:buNone/>
              <a:tabLst>
                <a:tab pos="987425" algn="l"/>
              </a:tabLst>
            </a:pPr>
            <a:r>
              <a:rPr lang="es-ES" i="1" dirty="0">
                <a:solidFill>
                  <a:schemeClr val="tx1"/>
                </a:solidFill>
              </a:rPr>
              <a:t>donde un servidor ayuda a conectarse a los nodos o coordinar resultados.</a:t>
            </a:r>
            <a:endParaRPr lang="es-ES" sz="2400" i="1" dirty="0">
              <a:solidFill>
                <a:schemeClr val="tx1"/>
              </a:solidFill>
            </a:endParaRPr>
          </a:p>
        </p:txBody>
      </p:sp>
      <p:pic>
        <p:nvPicPr>
          <p:cNvPr id="5" name="Google Shape;500;p43" descr="Diagrama&#10;&#10;El contenido generado por IA puede ser incorrecto.">
            <a:extLst>
              <a:ext uri="{FF2B5EF4-FFF2-40B4-BE49-F238E27FC236}">
                <a16:creationId xmlns:a16="http://schemas.microsoft.com/office/drawing/2014/main" id="{4C3D6824-6559-DEFB-A3A5-EA854E86E108}"/>
              </a:ext>
            </a:extLst>
          </p:cNvPr>
          <p:cNvPicPr preferRelativeResize="0"/>
          <p:nvPr/>
        </p:nvPicPr>
        <p:blipFill rotWithShape="1">
          <a:blip r:embed="rId3">
            <a:alphaModFix/>
          </a:blip>
          <a:srcRect l="54616" t="74823" r="3576" b="15996"/>
          <a:stretch>
            <a:fillRect/>
          </a:stretch>
        </p:blipFill>
        <p:spPr>
          <a:xfrm>
            <a:off x="1153035" y="1961535"/>
            <a:ext cx="2829030" cy="575467"/>
          </a:xfrm>
          <a:prstGeom prst="rect">
            <a:avLst/>
          </a:prstGeom>
          <a:noFill/>
          <a:ln>
            <a:noFill/>
          </a:ln>
        </p:spPr>
      </p:pic>
    </p:spTree>
    <p:extLst>
      <p:ext uri="{BB962C8B-B14F-4D97-AF65-F5344CB8AC3E}">
        <p14:creationId xmlns:p14="http://schemas.microsoft.com/office/powerpoint/2010/main" val="42532035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91C834D-0B27-564E-3538-10CDF720FBFF}"/>
            </a:ext>
          </a:extLst>
        </p:cNvPr>
        <p:cNvGrpSpPr/>
        <p:nvPr/>
      </p:nvGrpSpPr>
      <p:grpSpPr>
        <a:xfrm>
          <a:off x="0" y="0"/>
          <a:ext cx="0" cy="0"/>
          <a:chOff x="0" y="0"/>
          <a:chExt cx="0" cy="0"/>
        </a:xfrm>
      </p:grpSpPr>
      <p:pic>
        <p:nvPicPr>
          <p:cNvPr id="7" name="Google Shape;500;p43" descr="Diagrama&#10;&#10;El contenido generado por IA puede ser incorrecto.">
            <a:extLst>
              <a:ext uri="{FF2B5EF4-FFF2-40B4-BE49-F238E27FC236}">
                <a16:creationId xmlns:a16="http://schemas.microsoft.com/office/drawing/2014/main" id="{EE1ED889-982F-E233-A3CC-9AC42C2DF082}"/>
              </a:ext>
            </a:extLst>
          </p:cNvPr>
          <p:cNvPicPr preferRelativeResize="0"/>
          <p:nvPr/>
        </p:nvPicPr>
        <p:blipFill rotWithShape="1">
          <a:blip r:embed="rId3">
            <a:alphaModFix/>
          </a:blip>
          <a:srcRect l="18218" t="15915" r="59332" b="75229"/>
          <a:stretch>
            <a:fillRect/>
          </a:stretch>
        </p:blipFill>
        <p:spPr>
          <a:xfrm>
            <a:off x="1153035" y="2537002"/>
            <a:ext cx="1519086" cy="555138"/>
          </a:xfrm>
          <a:prstGeom prst="rect">
            <a:avLst/>
          </a:prstGeom>
          <a:noFill/>
          <a:ln>
            <a:noFill/>
          </a:ln>
        </p:spPr>
      </p:pic>
      <p:sp>
        <p:nvSpPr>
          <p:cNvPr id="133" name="Google Shape;133;p4">
            <a:extLst>
              <a:ext uri="{FF2B5EF4-FFF2-40B4-BE49-F238E27FC236}">
                <a16:creationId xmlns:a16="http://schemas.microsoft.com/office/drawing/2014/main" id="{F502E3BE-175A-9297-5CD9-57CB399C1548}"/>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FB472FB7-2ADF-9B42-E0D6-F0641486118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FEE7A4EF-881E-6C3D-C13D-7C1B0C0415B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C8CEFF72-CD0B-5691-DCAE-9EA574F5659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60</a:t>
            </a:fld>
            <a:endParaRPr lang="es-AR"/>
          </a:p>
        </p:txBody>
      </p:sp>
      <p:pic>
        <p:nvPicPr>
          <p:cNvPr id="5" name="Google Shape;500;p43" descr="Diagrama&#10;&#10;El contenido generado por IA puede ser incorrecto.">
            <a:extLst>
              <a:ext uri="{FF2B5EF4-FFF2-40B4-BE49-F238E27FC236}">
                <a16:creationId xmlns:a16="http://schemas.microsoft.com/office/drawing/2014/main" id="{2DEDC3A1-1A9D-2333-761E-D667880DF27D}"/>
              </a:ext>
            </a:extLst>
          </p:cNvPr>
          <p:cNvPicPr preferRelativeResize="0"/>
          <p:nvPr/>
        </p:nvPicPr>
        <p:blipFill rotWithShape="1">
          <a:blip r:embed="rId3">
            <a:alphaModFix/>
          </a:blip>
          <a:srcRect l="54616" t="74823" r="3576" b="15996"/>
          <a:stretch>
            <a:fillRect/>
          </a:stretch>
        </p:blipFill>
        <p:spPr>
          <a:xfrm>
            <a:off x="1153035" y="1961535"/>
            <a:ext cx="2829030" cy="575467"/>
          </a:xfrm>
          <a:prstGeom prst="rect">
            <a:avLst/>
          </a:prstGeom>
          <a:noFill/>
          <a:ln>
            <a:noFill/>
          </a:ln>
        </p:spPr>
      </p:pic>
      <p:pic>
        <p:nvPicPr>
          <p:cNvPr id="8" name="Google Shape;667;p56">
            <a:extLst>
              <a:ext uri="{FF2B5EF4-FFF2-40B4-BE49-F238E27FC236}">
                <a16:creationId xmlns:a16="http://schemas.microsoft.com/office/drawing/2014/main" id="{65C256F9-2C06-E4FA-3642-32F88854FA55}"/>
              </a:ext>
            </a:extLst>
          </p:cNvPr>
          <p:cNvPicPr preferRelativeResize="0"/>
          <p:nvPr/>
        </p:nvPicPr>
        <p:blipFill rotWithShape="1">
          <a:blip r:embed="rId4">
            <a:alphaModFix/>
          </a:blip>
          <a:srcRect/>
          <a:stretch/>
        </p:blipFill>
        <p:spPr>
          <a:xfrm>
            <a:off x="1530753" y="3226592"/>
            <a:ext cx="5489479" cy="2801716"/>
          </a:xfrm>
          <a:prstGeom prst="rect">
            <a:avLst/>
          </a:prstGeom>
          <a:noFill/>
          <a:ln>
            <a:noFill/>
          </a:ln>
          <a:effectLst>
            <a:outerShdw blurRad="292100" dist="139700" dir="2700000" algn="tl" rotWithShape="0">
              <a:srgbClr val="333333">
                <a:alpha val="63529"/>
              </a:srgbClr>
            </a:outerShdw>
          </a:effectLst>
        </p:spPr>
      </p:pic>
      <p:pic>
        <p:nvPicPr>
          <p:cNvPr id="9" name="Google Shape;668;p56">
            <a:extLst>
              <a:ext uri="{FF2B5EF4-FFF2-40B4-BE49-F238E27FC236}">
                <a16:creationId xmlns:a16="http://schemas.microsoft.com/office/drawing/2014/main" id="{73BFF7B9-9BCC-B159-185B-62B611B40951}"/>
              </a:ext>
            </a:extLst>
          </p:cNvPr>
          <p:cNvPicPr preferRelativeResize="0"/>
          <p:nvPr/>
        </p:nvPicPr>
        <p:blipFill rotWithShape="1">
          <a:blip r:embed="rId5">
            <a:alphaModFix/>
          </a:blip>
          <a:srcRect/>
          <a:stretch/>
        </p:blipFill>
        <p:spPr>
          <a:xfrm>
            <a:off x="7515829" y="3226592"/>
            <a:ext cx="3858916" cy="2801716"/>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4672392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2B38F8BE-C38D-E15D-630B-B9D330EF4FC1}"/>
            </a:ext>
          </a:extLst>
        </p:cNvPr>
        <p:cNvGrpSpPr/>
        <p:nvPr/>
      </p:nvGrpSpPr>
      <p:grpSpPr>
        <a:xfrm>
          <a:off x="0" y="0"/>
          <a:ext cx="0" cy="0"/>
          <a:chOff x="0" y="0"/>
          <a:chExt cx="0" cy="0"/>
        </a:xfrm>
      </p:grpSpPr>
      <p:pic>
        <p:nvPicPr>
          <p:cNvPr id="6" name="Google Shape;676;p86" descr="Diagrama&#10;&#10;El contenido generado por IA puede ser incorrecto.">
            <a:extLst>
              <a:ext uri="{FF2B5EF4-FFF2-40B4-BE49-F238E27FC236}">
                <a16:creationId xmlns:a16="http://schemas.microsoft.com/office/drawing/2014/main" id="{DBD13DF9-9B65-09DB-3FE2-0CCB565B117E}"/>
              </a:ext>
            </a:extLst>
          </p:cNvPr>
          <p:cNvPicPr preferRelativeResize="0"/>
          <p:nvPr/>
        </p:nvPicPr>
        <p:blipFill rotWithShape="1">
          <a:blip r:embed="rId3">
            <a:alphaModFix/>
          </a:blip>
          <a:srcRect t="19802" b="9875"/>
          <a:stretch>
            <a:fillRect/>
          </a:stretch>
        </p:blipFill>
        <p:spPr>
          <a:xfrm>
            <a:off x="2934929" y="2537002"/>
            <a:ext cx="6630456" cy="3686817"/>
          </a:xfrm>
          <a:prstGeom prst="rect">
            <a:avLst/>
          </a:prstGeom>
          <a:noFill/>
          <a:ln>
            <a:noFill/>
          </a:ln>
        </p:spPr>
      </p:pic>
      <p:pic>
        <p:nvPicPr>
          <p:cNvPr id="7" name="Google Shape;500;p43" descr="Diagrama&#10;&#10;El contenido generado por IA puede ser incorrecto.">
            <a:extLst>
              <a:ext uri="{FF2B5EF4-FFF2-40B4-BE49-F238E27FC236}">
                <a16:creationId xmlns:a16="http://schemas.microsoft.com/office/drawing/2014/main" id="{08188CA5-01DF-1E87-A578-D62AD85594CB}"/>
              </a:ext>
            </a:extLst>
          </p:cNvPr>
          <p:cNvPicPr preferRelativeResize="0"/>
          <p:nvPr/>
        </p:nvPicPr>
        <p:blipFill rotWithShape="1">
          <a:blip r:embed="rId4">
            <a:alphaModFix/>
          </a:blip>
          <a:srcRect l="18218" t="15915" r="59332" b="75229"/>
          <a:stretch>
            <a:fillRect/>
          </a:stretch>
        </p:blipFill>
        <p:spPr>
          <a:xfrm>
            <a:off x="1153035" y="2537002"/>
            <a:ext cx="1519086" cy="555138"/>
          </a:xfrm>
          <a:prstGeom prst="rect">
            <a:avLst/>
          </a:prstGeom>
          <a:noFill/>
          <a:ln>
            <a:noFill/>
          </a:ln>
        </p:spPr>
      </p:pic>
      <p:sp>
        <p:nvSpPr>
          <p:cNvPr id="133" name="Google Shape;133;p4">
            <a:extLst>
              <a:ext uri="{FF2B5EF4-FFF2-40B4-BE49-F238E27FC236}">
                <a16:creationId xmlns:a16="http://schemas.microsoft.com/office/drawing/2014/main" id="{9109F65D-1083-701E-3EDA-C331B45DD68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35AE7971-F1B8-B614-3B79-550C294AB457}"/>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B880992-EE11-8EF1-BC98-B7A0657A33C1}"/>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C9E4A97A-06C3-0BA9-C3EB-D52B82EAE30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61</a:t>
            </a:fld>
            <a:endParaRPr lang="es-AR"/>
          </a:p>
        </p:txBody>
      </p:sp>
      <p:pic>
        <p:nvPicPr>
          <p:cNvPr id="5" name="Google Shape;500;p43" descr="Diagrama&#10;&#10;El contenido generado por IA puede ser incorrecto.">
            <a:extLst>
              <a:ext uri="{FF2B5EF4-FFF2-40B4-BE49-F238E27FC236}">
                <a16:creationId xmlns:a16="http://schemas.microsoft.com/office/drawing/2014/main" id="{82F96127-27A2-607A-9FE7-24507A3D9FA1}"/>
              </a:ext>
            </a:extLst>
          </p:cNvPr>
          <p:cNvPicPr preferRelativeResize="0"/>
          <p:nvPr/>
        </p:nvPicPr>
        <p:blipFill rotWithShape="1">
          <a:blip r:embed="rId4">
            <a:alphaModFix/>
          </a:blip>
          <a:srcRect l="54616" t="74823" r="3576" b="15996"/>
          <a:stretch>
            <a:fillRect/>
          </a:stretch>
        </p:blipFill>
        <p:spPr>
          <a:xfrm>
            <a:off x="1153035" y="1961535"/>
            <a:ext cx="2829030" cy="575467"/>
          </a:xfrm>
          <a:prstGeom prst="rect">
            <a:avLst/>
          </a:prstGeom>
          <a:noFill/>
          <a:ln>
            <a:noFill/>
          </a:ln>
        </p:spPr>
      </p:pic>
    </p:spTree>
    <p:extLst>
      <p:ext uri="{BB962C8B-B14F-4D97-AF65-F5344CB8AC3E}">
        <p14:creationId xmlns:p14="http://schemas.microsoft.com/office/powerpoint/2010/main" val="23492344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038F3B8-B47C-B309-A8CD-764D3339B271}"/>
            </a:ext>
          </a:extLst>
        </p:cNvPr>
        <p:cNvGrpSpPr/>
        <p:nvPr/>
      </p:nvGrpSpPr>
      <p:grpSpPr>
        <a:xfrm>
          <a:off x="0" y="0"/>
          <a:ext cx="0" cy="0"/>
          <a:chOff x="0" y="0"/>
          <a:chExt cx="0" cy="0"/>
        </a:xfrm>
      </p:grpSpPr>
      <p:pic>
        <p:nvPicPr>
          <p:cNvPr id="7" name="Google Shape;500;p43" descr="Diagrama&#10;&#10;El contenido generado por IA puede ser incorrecto.">
            <a:extLst>
              <a:ext uri="{FF2B5EF4-FFF2-40B4-BE49-F238E27FC236}">
                <a16:creationId xmlns:a16="http://schemas.microsoft.com/office/drawing/2014/main" id="{2DEB4B49-DE1F-95CC-E593-59D45F4B78BF}"/>
              </a:ext>
            </a:extLst>
          </p:cNvPr>
          <p:cNvPicPr preferRelativeResize="0"/>
          <p:nvPr/>
        </p:nvPicPr>
        <p:blipFill rotWithShape="1">
          <a:blip r:embed="rId3">
            <a:alphaModFix/>
          </a:blip>
          <a:srcRect l="54400" t="15916" r="13599" b="75148"/>
          <a:stretch>
            <a:fillRect/>
          </a:stretch>
        </p:blipFill>
        <p:spPr>
          <a:xfrm>
            <a:off x="1153035" y="2537001"/>
            <a:ext cx="2165352" cy="560159"/>
          </a:xfrm>
          <a:prstGeom prst="rect">
            <a:avLst/>
          </a:prstGeom>
          <a:noFill/>
          <a:ln>
            <a:noFill/>
          </a:ln>
        </p:spPr>
      </p:pic>
      <p:sp>
        <p:nvSpPr>
          <p:cNvPr id="133" name="Google Shape;133;p4">
            <a:extLst>
              <a:ext uri="{FF2B5EF4-FFF2-40B4-BE49-F238E27FC236}">
                <a16:creationId xmlns:a16="http://schemas.microsoft.com/office/drawing/2014/main" id="{EF477831-D5C2-92FF-3B63-BA7BC01DE1C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AB5BC20B-9569-E5AB-875A-41984A69EA6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7B8B6925-F005-AC4E-55F3-3527618BF94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6596686-F0D4-1433-B45D-3D82DC0D336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62</a:t>
            </a:fld>
            <a:endParaRPr lang="es-AR"/>
          </a:p>
        </p:txBody>
      </p:sp>
      <p:sp>
        <p:nvSpPr>
          <p:cNvPr id="6" name="Google Shape;134;p4">
            <a:extLst>
              <a:ext uri="{FF2B5EF4-FFF2-40B4-BE49-F238E27FC236}">
                <a16:creationId xmlns:a16="http://schemas.microsoft.com/office/drawing/2014/main" id="{5BBC424D-5BE3-427C-3F95-996AE17E036F}"/>
              </a:ext>
            </a:extLst>
          </p:cNvPr>
          <p:cNvSpPr txBox="1">
            <a:spLocks/>
          </p:cNvSpPr>
          <p:nvPr/>
        </p:nvSpPr>
        <p:spPr bwMode="auto">
          <a:xfrm>
            <a:off x="1035051" y="29738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Representación de un recurso computacional o de información que puede ser utilizado por otros programas. </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 servicio es independiente de la aplicación que lo utiliza.</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 servicio puede ser utilizado por varias organizaciones.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Una aplicación puede construirse enlazando servicios.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Las arquitecturas de las aplicaciones de servicios web son arquitecturas débilmente acopladas.</a:t>
            </a:r>
          </a:p>
        </p:txBody>
      </p:sp>
      <p:pic>
        <p:nvPicPr>
          <p:cNvPr id="5" name="Google Shape;500;p43" descr="Diagrama&#10;&#10;El contenido generado por IA puede ser incorrecto.">
            <a:extLst>
              <a:ext uri="{FF2B5EF4-FFF2-40B4-BE49-F238E27FC236}">
                <a16:creationId xmlns:a16="http://schemas.microsoft.com/office/drawing/2014/main" id="{830E6227-0091-3415-BD64-FFC917910E5A}"/>
              </a:ext>
            </a:extLst>
          </p:cNvPr>
          <p:cNvPicPr preferRelativeResize="0"/>
          <p:nvPr/>
        </p:nvPicPr>
        <p:blipFill rotWithShape="1">
          <a:blip r:embed="rId3">
            <a:alphaModFix/>
          </a:blip>
          <a:srcRect l="54616" t="74823" r="3576" b="15996"/>
          <a:stretch>
            <a:fillRect/>
          </a:stretch>
        </p:blipFill>
        <p:spPr>
          <a:xfrm>
            <a:off x="1153035" y="1961535"/>
            <a:ext cx="2829030" cy="575466"/>
          </a:xfrm>
          <a:prstGeom prst="rect">
            <a:avLst/>
          </a:prstGeom>
          <a:noFill/>
          <a:ln>
            <a:noFill/>
          </a:ln>
        </p:spPr>
      </p:pic>
    </p:spTree>
    <p:extLst>
      <p:ext uri="{BB962C8B-B14F-4D97-AF65-F5344CB8AC3E}">
        <p14:creationId xmlns:p14="http://schemas.microsoft.com/office/powerpoint/2010/main" val="13240563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E311969B-83D1-C53B-7111-DE33A6115C88}"/>
            </a:ext>
          </a:extLst>
        </p:cNvPr>
        <p:cNvGrpSpPr/>
        <p:nvPr/>
      </p:nvGrpSpPr>
      <p:grpSpPr>
        <a:xfrm>
          <a:off x="0" y="0"/>
          <a:ext cx="0" cy="0"/>
          <a:chOff x="0" y="0"/>
          <a:chExt cx="0" cy="0"/>
        </a:xfrm>
      </p:grpSpPr>
      <p:pic>
        <p:nvPicPr>
          <p:cNvPr id="8" name="Google Shape;697;p58">
            <a:extLst>
              <a:ext uri="{FF2B5EF4-FFF2-40B4-BE49-F238E27FC236}">
                <a16:creationId xmlns:a16="http://schemas.microsoft.com/office/drawing/2014/main" id="{830B6D59-DC29-C87D-2B04-D04927E56861}"/>
              </a:ext>
            </a:extLst>
          </p:cNvPr>
          <p:cNvPicPr preferRelativeResize="0"/>
          <p:nvPr/>
        </p:nvPicPr>
        <p:blipFill rotWithShape="1">
          <a:blip r:embed="rId3">
            <a:alphaModFix/>
          </a:blip>
          <a:srcRect l="3263" t="10089" r="8562" b="17910"/>
          <a:stretch/>
        </p:blipFill>
        <p:spPr>
          <a:xfrm>
            <a:off x="9277845" y="5078756"/>
            <a:ext cx="2914155" cy="1219408"/>
          </a:xfrm>
          <a:prstGeom prst="rect">
            <a:avLst/>
          </a:prstGeom>
          <a:noFill/>
          <a:ln>
            <a:noFill/>
          </a:ln>
          <a:effectLst>
            <a:outerShdw blurRad="292100" dist="139700" dir="2700000" algn="tl" rotWithShape="0">
              <a:srgbClr val="333333">
                <a:alpha val="63529"/>
              </a:srgbClr>
            </a:outerShdw>
          </a:effectLst>
        </p:spPr>
      </p:pic>
      <p:pic>
        <p:nvPicPr>
          <p:cNvPr id="7" name="Google Shape;500;p43" descr="Diagrama&#10;&#10;El contenido generado por IA puede ser incorrecto.">
            <a:extLst>
              <a:ext uri="{FF2B5EF4-FFF2-40B4-BE49-F238E27FC236}">
                <a16:creationId xmlns:a16="http://schemas.microsoft.com/office/drawing/2014/main" id="{B93777F6-E92D-5CF7-C3A2-F467CEBF41DD}"/>
              </a:ext>
            </a:extLst>
          </p:cNvPr>
          <p:cNvPicPr preferRelativeResize="0"/>
          <p:nvPr/>
        </p:nvPicPr>
        <p:blipFill rotWithShape="1">
          <a:blip r:embed="rId4">
            <a:alphaModFix/>
          </a:blip>
          <a:srcRect l="54400" t="15916" r="13599" b="75148"/>
          <a:stretch>
            <a:fillRect/>
          </a:stretch>
        </p:blipFill>
        <p:spPr>
          <a:xfrm>
            <a:off x="1153035" y="2537001"/>
            <a:ext cx="2165352" cy="560159"/>
          </a:xfrm>
          <a:prstGeom prst="rect">
            <a:avLst/>
          </a:prstGeom>
          <a:noFill/>
          <a:ln>
            <a:noFill/>
          </a:ln>
        </p:spPr>
      </p:pic>
      <p:sp>
        <p:nvSpPr>
          <p:cNvPr id="133" name="Google Shape;133;p4">
            <a:extLst>
              <a:ext uri="{FF2B5EF4-FFF2-40B4-BE49-F238E27FC236}">
                <a16:creationId xmlns:a16="http://schemas.microsoft.com/office/drawing/2014/main" id="{604790D0-A427-1916-628D-3D54EF9A785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DA477435-B4A0-C26F-22F8-AA1609872ABD}"/>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4A2F8CF-49CB-D374-F0CA-34A30C535961}"/>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D20C0F4B-9167-DF6A-2AF1-6E142F6B259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63</a:t>
            </a:fld>
            <a:endParaRPr lang="es-AR"/>
          </a:p>
        </p:txBody>
      </p:sp>
      <p:sp>
        <p:nvSpPr>
          <p:cNvPr id="6" name="Google Shape;134;p4">
            <a:extLst>
              <a:ext uri="{FF2B5EF4-FFF2-40B4-BE49-F238E27FC236}">
                <a16:creationId xmlns:a16="http://schemas.microsoft.com/office/drawing/2014/main" id="{DC478DBF-014E-63E4-E4EF-2CFAD64D9BF2}"/>
              </a:ext>
            </a:extLst>
          </p:cNvPr>
          <p:cNvSpPr txBox="1">
            <a:spLocks/>
          </p:cNvSpPr>
          <p:nvPr/>
        </p:nvSpPr>
        <p:spPr bwMode="auto">
          <a:xfrm>
            <a:off x="1035051" y="29738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 proveedor de servicios oferta servicios definiendo su interfaz y su funcionalidad.</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Para que el servicio sea externo, el proveedor publica el servicio en un “registro de servicio” con información del mismo.</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 solicitante enlaza este servicio a su aplicación, es decir que el </a:t>
            </a:r>
            <a:r>
              <a:rPr lang="es-ES" sz="2400" i="1" dirty="0">
                <a:solidFill>
                  <a:schemeClr val="tx1"/>
                </a:solidFill>
              </a:rPr>
              <a:t>solicitante</a:t>
            </a:r>
            <a:r>
              <a:rPr lang="es-ES" sz="2400" dirty="0">
                <a:solidFill>
                  <a:schemeClr val="tx1"/>
                </a:solidFill>
              </a:rPr>
              <a:t> incluye el </a:t>
            </a:r>
            <a:r>
              <a:rPr lang="es-ES" sz="2400" i="1" dirty="0">
                <a:solidFill>
                  <a:schemeClr val="tx1"/>
                </a:solidFill>
              </a:rPr>
              <a:t>código</a:t>
            </a:r>
            <a:r>
              <a:rPr lang="es-ES" sz="2400" dirty="0">
                <a:solidFill>
                  <a:schemeClr val="tx1"/>
                </a:solidFill>
              </a:rPr>
              <a:t> para invocarlo y procesa el </a:t>
            </a:r>
            <a:r>
              <a:rPr lang="es-ES" sz="2400" i="1" dirty="0">
                <a:solidFill>
                  <a:schemeClr val="tx1"/>
                </a:solidFill>
              </a:rPr>
              <a:t>resultado</a:t>
            </a:r>
            <a:r>
              <a:rPr lang="es-ES" sz="2400" dirty="0">
                <a:solidFill>
                  <a:schemeClr val="tx1"/>
                </a:solidFill>
              </a:rPr>
              <a:t> del mismo.</a:t>
            </a:r>
          </a:p>
          <a:p>
            <a:pPr marL="530225" indent="-530225" algn="just">
              <a:lnSpc>
                <a:spcPct val="100000"/>
              </a:lnSpc>
              <a:spcBef>
                <a:spcPts val="0"/>
              </a:spcBef>
              <a:spcAft>
                <a:spcPts val="600"/>
              </a:spcAft>
              <a:buClr>
                <a:srgbClr val="C00000"/>
              </a:buClr>
              <a:buFont typeface="Noto Sans Symbols"/>
              <a:buChar char="❖"/>
            </a:pPr>
            <a:endParaRPr lang="es-ES" sz="2400" dirty="0">
              <a:solidFill>
                <a:schemeClr val="tx1"/>
              </a:solidFill>
            </a:endParaRPr>
          </a:p>
        </p:txBody>
      </p:sp>
      <p:pic>
        <p:nvPicPr>
          <p:cNvPr id="5" name="Google Shape;500;p43" descr="Diagrama&#10;&#10;El contenido generado por IA puede ser incorrecto.">
            <a:extLst>
              <a:ext uri="{FF2B5EF4-FFF2-40B4-BE49-F238E27FC236}">
                <a16:creationId xmlns:a16="http://schemas.microsoft.com/office/drawing/2014/main" id="{98CF7208-E71C-8128-A160-D0187658815F}"/>
              </a:ext>
            </a:extLst>
          </p:cNvPr>
          <p:cNvPicPr preferRelativeResize="0"/>
          <p:nvPr/>
        </p:nvPicPr>
        <p:blipFill rotWithShape="1">
          <a:blip r:embed="rId4">
            <a:alphaModFix/>
          </a:blip>
          <a:srcRect l="54616" t="74823" r="3576" b="15996"/>
          <a:stretch>
            <a:fillRect/>
          </a:stretch>
        </p:blipFill>
        <p:spPr>
          <a:xfrm>
            <a:off x="1153035" y="1961535"/>
            <a:ext cx="2829030" cy="575466"/>
          </a:xfrm>
          <a:prstGeom prst="rect">
            <a:avLst/>
          </a:prstGeom>
          <a:noFill/>
          <a:ln>
            <a:noFill/>
          </a:ln>
        </p:spPr>
      </p:pic>
    </p:spTree>
    <p:extLst>
      <p:ext uri="{BB962C8B-B14F-4D97-AF65-F5344CB8AC3E}">
        <p14:creationId xmlns:p14="http://schemas.microsoft.com/office/powerpoint/2010/main" val="27006767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48E2F478-C841-E2EE-1B67-28EF39009863}"/>
            </a:ext>
          </a:extLst>
        </p:cNvPr>
        <p:cNvGrpSpPr/>
        <p:nvPr/>
      </p:nvGrpSpPr>
      <p:grpSpPr>
        <a:xfrm>
          <a:off x="0" y="0"/>
          <a:ext cx="0" cy="0"/>
          <a:chOff x="0" y="0"/>
          <a:chExt cx="0" cy="0"/>
        </a:xfrm>
      </p:grpSpPr>
      <p:pic>
        <p:nvPicPr>
          <p:cNvPr id="7" name="Google Shape;500;p43" descr="Diagrama&#10;&#10;El contenido generado por IA puede ser incorrecto.">
            <a:extLst>
              <a:ext uri="{FF2B5EF4-FFF2-40B4-BE49-F238E27FC236}">
                <a16:creationId xmlns:a16="http://schemas.microsoft.com/office/drawing/2014/main" id="{CFB35BB0-BCC9-836D-BF97-790F7E5C9805}"/>
              </a:ext>
            </a:extLst>
          </p:cNvPr>
          <p:cNvPicPr preferRelativeResize="0"/>
          <p:nvPr/>
        </p:nvPicPr>
        <p:blipFill rotWithShape="1">
          <a:blip r:embed="rId3">
            <a:alphaModFix/>
          </a:blip>
          <a:srcRect l="54400" t="15916" r="13599" b="75148"/>
          <a:stretch>
            <a:fillRect/>
          </a:stretch>
        </p:blipFill>
        <p:spPr>
          <a:xfrm>
            <a:off x="1153035" y="2537001"/>
            <a:ext cx="2165352" cy="560159"/>
          </a:xfrm>
          <a:prstGeom prst="rect">
            <a:avLst/>
          </a:prstGeom>
          <a:noFill/>
          <a:ln>
            <a:noFill/>
          </a:ln>
        </p:spPr>
      </p:pic>
      <p:sp>
        <p:nvSpPr>
          <p:cNvPr id="133" name="Google Shape;133;p4">
            <a:extLst>
              <a:ext uri="{FF2B5EF4-FFF2-40B4-BE49-F238E27FC236}">
                <a16:creationId xmlns:a16="http://schemas.microsoft.com/office/drawing/2014/main" id="{09B34F38-858F-D679-C87C-ACAB887FD56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94E14C9D-233E-9651-AFF8-E914E80DB52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36F60F7E-36B1-E953-7C09-CE3F58F74910}"/>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417588D-7416-4F6C-0585-92F5CC1C23C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64</a:t>
            </a:fld>
            <a:endParaRPr lang="es-AR"/>
          </a:p>
        </p:txBody>
      </p:sp>
      <p:pic>
        <p:nvPicPr>
          <p:cNvPr id="5" name="Google Shape;500;p43" descr="Diagrama&#10;&#10;El contenido generado por IA puede ser incorrecto.">
            <a:extLst>
              <a:ext uri="{FF2B5EF4-FFF2-40B4-BE49-F238E27FC236}">
                <a16:creationId xmlns:a16="http://schemas.microsoft.com/office/drawing/2014/main" id="{15078032-8228-70AA-69AA-4F8964B11314}"/>
              </a:ext>
            </a:extLst>
          </p:cNvPr>
          <p:cNvPicPr preferRelativeResize="0"/>
          <p:nvPr/>
        </p:nvPicPr>
        <p:blipFill rotWithShape="1">
          <a:blip r:embed="rId3">
            <a:alphaModFix/>
          </a:blip>
          <a:srcRect l="54616" t="74823" r="3576" b="15996"/>
          <a:stretch>
            <a:fillRect/>
          </a:stretch>
        </p:blipFill>
        <p:spPr>
          <a:xfrm>
            <a:off x="1153035" y="1961535"/>
            <a:ext cx="2829030" cy="575466"/>
          </a:xfrm>
          <a:prstGeom prst="rect">
            <a:avLst/>
          </a:prstGeom>
          <a:noFill/>
          <a:ln>
            <a:noFill/>
          </a:ln>
        </p:spPr>
      </p:pic>
      <p:pic>
        <p:nvPicPr>
          <p:cNvPr id="9" name="Google Shape;705;p87" descr="Diagrama&#10;&#10;El contenido generado por IA puede ser incorrecto.">
            <a:extLst>
              <a:ext uri="{FF2B5EF4-FFF2-40B4-BE49-F238E27FC236}">
                <a16:creationId xmlns:a16="http://schemas.microsoft.com/office/drawing/2014/main" id="{A8A83114-7655-E6C2-FC23-F531665FB6E9}"/>
              </a:ext>
            </a:extLst>
          </p:cNvPr>
          <p:cNvPicPr preferRelativeResize="0"/>
          <p:nvPr/>
        </p:nvPicPr>
        <p:blipFill rotWithShape="1">
          <a:blip r:embed="rId4">
            <a:alphaModFix/>
          </a:blip>
          <a:srcRect t="13773" b="8431"/>
          <a:stretch>
            <a:fillRect/>
          </a:stretch>
        </p:blipFill>
        <p:spPr>
          <a:xfrm>
            <a:off x="4897934" y="1803585"/>
            <a:ext cx="4399845" cy="4468761"/>
          </a:xfrm>
          <a:prstGeom prst="rect">
            <a:avLst/>
          </a:prstGeom>
          <a:noFill/>
          <a:ln>
            <a:noFill/>
          </a:ln>
        </p:spPr>
      </p:pic>
    </p:spTree>
    <p:extLst>
      <p:ext uri="{BB962C8B-B14F-4D97-AF65-F5344CB8AC3E}">
        <p14:creationId xmlns:p14="http://schemas.microsoft.com/office/powerpoint/2010/main" val="41609757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59"/>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4A6617"/>
              </a:buClr>
              <a:buSzPts val="3300"/>
              <a:buFont typeface="Calibri"/>
              <a:buNone/>
            </a:pPr>
            <a:r>
              <a:rPr lang="es-AR" dirty="0"/>
              <a:t>Codificación</a:t>
            </a:r>
            <a:endParaRPr dirty="0"/>
          </a:p>
        </p:txBody>
      </p:sp>
      <p:sp>
        <p:nvSpPr>
          <p:cNvPr id="712" name="Google Shape;712;p59"/>
          <p:cNvSpPr txBox="1">
            <a:spLocks noGrp="1"/>
          </p:cNvSpPr>
          <p:nvPr>
            <p:ph type="body" sz="half" idx="2"/>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endParaRPr dirty="0"/>
          </a:p>
        </p:txBody>
      </p:sp>
      <p:sp>
        <p:nvSpPr>
          <p:cNvPr id="2" name="Marcador de fecha 1">
            <a:extLst>
              <a:ext uri="{FF2B5EF4-FFF2-40B4-BE49-F238E27FC236}">
                <a16:creationId xmlns:a16="http://schemas.microsoft.com/office/drawing/2014/main" id="{DCF67AC6-3438-A02E-BBE7-C1D7FF9AE97C}"/>
              </a:ext>
            </a:extLst>
          </p:cNvPr>
          <p:cNvSpPr>
            <a:spLocks noGrp="1"/>
          </p:cNvSpPr>
          <p:nvPr>
            <p:ph type="dt" sz="half" idx="10"/>
          </p:nvPr>
        </p:nvSpPr>
        <p:spPr/>
        <p:txBody>
          <a:bodyPr/>
          <a:lstStyle/>
          <a:p>
            <a:r>
              <a:rPr lang="es-ES"/>
              <a:t>2026</a:t>
            </a:r>
          </a:p>
        </p:txBody>
      </p:sp>
      <p:sp>
        <p:nvSpPr>
          <p:cNvPr id="713" name="Google Shape;713;p59"/>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AR"/>
              <a:t>INGENIERÍA DE SOFTWARE II</a:t>
            </a:r>
            <a:endParaRPr/>
          </a:p>
        </p:txBody>
      </p:sp>
      <p:sp>
        <p:nvSpPr>
          <p:cNvPr id="714" name="Google Shape;714;p59"/>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300"/>
              <a:buNone/>
            </a:pPr>
            <a:fld id="{00000000-1234-1234-1234-123412341234}" type="slidenum">
              <a:rPr lang="es-AR"/>
              <a:t>65</a:t>
            </a:fld>
            <a:endParaRPr/>
          </a:p>
        </p:txBody>
      </p:sp>
      <p:sp>
        <p:nvSpPr>
          <p:cNvPr id="5" name="Marcador de contenido 1">
            <a:extLst>
              <a:ext uri="{FF2B5EF4-FFF2-40B4-BE49-F238E27FC236}">
                <a16:creationId xmlns:a16="http://schemas.microsoft.com/office/drawing/2014/main" id="{BD6FDAC7-1B79-1D74-D92D-F3EBCD60E87E}"/>
              </a:ext>
            </a:extLst>
          </p:cNvPr>
          <p:cNvSpPr>
            <a:spLocks noGrp="1"/>
          </p:cNvSpPr>
          <p:nvPr>
            <p:ph idx="1"/>
          </p:nvPr>
        </p:nvSpPr>
        <p:spPr>
          <a:xfrm>
            <a:off x="4800600" y="731838"/>
            <a:ext cx="6492875" cy="5257800"/>
          </a:xfrm>
        </p:spPr>
        <p:txBody>
          <a:bodyPr/>
          <a:lstStyle/>
          <a:p>
            <a:pPr marL="442913" indent="-442913" algn="just">
              <a:buClr>
                <a:srgbClr val="C00000"/>
              </a:buClr>
              <a:buFont typeface="Wingdings" panose="05000000000000000000" pitchFamily="2" charset="2"/>
              <a:buChar char="v"/>
            </a:pPr>
            <a:r>
              <a:rPr lang="es-ES" sz="2400" dirty="0">
                <a:solidFill>
                  <a:schemeClr val="tx1"/>
                </a:solidFill>
              </a:rPr>
              <a:t>Una vez establecido el diseño, se deben escribir los programas que implementen dicho diseño.</a:t>
            </a:r>
          </a:p>
          <a:p>
            <a:pPr marL="442913" indent="-442913" algn="just">
              <a:buClr>
                <a:srgbClr val="C00000"/>
              </a:buClr>
              <a:buFont typeface="Wingdings" panose="05000000000000000000" pitchFamily="2" charset="2"/>
              <a:buChar char="v"/>
            </a:pPr>
            <a:r>
              <a:rPr lang="es-ES" sz="2400" dirty="0">
                <a:solidFill>
                  <a:schemeClr val="tx1"/>
                </a:solidFill>
              </a:rPr>
              <a:t>Esto puede resultar una tarea compleja por distintos motivos:</a:t>
            </a:r>
          </a:p>
          <a:p>
            <a:pPr marL="722313" indent="-279400" algn="just">
              <a:buClr>
                <a:srgbClr val="C00000"/>
              </a:buClr>
              <a:buFont typeface="Noto Sans Symbols2" panose="020B0502040504020204" pitchFamily="34" charset="0"/>
              <a:buChar char="»"/>
            </a:pPr>
            <a:r>
              <a:rPr lang="es-ES" dirty="0">
                <a:solidFill>
                  <a:schemeClr val="tx1"/>
                </a:solidFill>
              </a:rPr>
              <a:t>Los diseñadores pueden no haber tenido en cuenta las particularidades de la plataforma y el ambiente de programación.</a:t>
            </a:r>
          </a:p>
          <a:p>
            <a:pPr marL="722313" indent="-279400" algn="just">
              <a:buClr>
                <a:srgbClr val="C00000"/>
              </a:buClr>
              <a:buFont typeface="Noto Sans Symbols2" panose="020B0502040504020204" pitchFamily="34" charset="0"/>
              <a:buChar char="»"/>
            </a:pPr>
            <a:r>
              <a:rPr lang="es-ES" dirty="0">
                <a:solidFill>
                  <a:schemeClr val="tx1"/>
                </a:solidFill>
              </a:rPr>
              <a:t>Las estructuras e interrelaciones que son fáciles de describir mediante diagramas, no siempre resultan sencillas de escribir en código.</a:t>
            </a:r>
          </a:p>
          <a:p>
            <a:pPr marL="722313" indent="-279400" algn="just">
              <a:buClr>
                <a:srgbClr val="C00000"/>
              </a:buClr>
              <a:buFont typeface="Noto Sans Symbols2" panose="020B0502040504020204" pitchFamily="34" charset="0"/>
              <a:buChar char="»"/>
            </a:pPr>
            <a:r>
              <a:rPr lang="es-ES" dirty="0">
                <a:solidFill>
                  <a:schemeClr val="tx1"/>
                </a:solidFill>
              </a:rPr>
              <a:t>Es indispensable escribir el código de forma que resulte comprensible para otras personas.</a:t>
            </a:r>
          </a:p>
          <a:p>
            <a:pPr marL="722313" indent="-279400" algn="just">
              <a:buClr>
                <a:srgbClr val="C00000"/>
              </a:buClr>
              <a:buFont typeface="Noto Sans Symbols2" panose="020B0502040504020204" pitchFamily="34" charset="0"/>
              <a:buChar char="»"/>
            </a:pPr>
            <a:r>
              <a:rPr lang="es-ES" dirty="0">
                <a:solidFill>
                  <a:schemeClr val="tx1"/>
                </a:solidFill>
              </a:rPr>
              <a:t>Se deben sacar beneficios de las características de diseño creando código que sea reutilizable. </a:t>
            </a:r>
          </a:p>
          <a:p>
            <a:pPr algn="just"/>
            <a:endParaRPr lang="es-E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936AF8B8-CC0D-9CEA-7BD2-D57813F717B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EA3D03E9-2FE4-165F-76D5-33093D0E89F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Codificación – Pautas generales</a:t>
            </a:r>
            <a:endParaRPr dirty="0"/>
          </a:p>
        </p:txBody>
      </p:sp>
      <p:sp>
        <p:nvSpPr>
          <p:cNvPr id="2" name="Marcador de fecha 1">
            <a:extLst>
              <a:ext uri="{FF2B5EF4-FFF2-40B4-BE49-F238E27FC236}">
                <a16:creationId xmlns:a16="http://schemas.microsoft.com/office/drawing/2014/main" id="{6D2A0D88-5E0A-2290-C742-233FFE904C43}"/>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7E295B1-904E-F1F5-473E-E503378EB809}"/>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B392EEFE-6F1B-D09A-B05E-2DDD78C4B69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66</a:t>
            </a:fld>
            <a:endParaRPr lang="es-AR"/>
          </a:p>
        </p:txBody>
      </p:sp>
      <p:sp>
        <p:nvSpPr>
          <p:cNvPr id="6" name="Google Shape;134;p4">
            <a:extLst>
              <a:ext uri="{FF2B5EF4-FFF2-40B4-BE49-F238E27FC236}">
                <a16:creationId xmlns:a16="http://schemas.microsoft.com/office/drawing/2014/main" id="{6909BE82-2945-9E98-EDDA-4C29B2EA84CA}"/>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0"/>
              </a:spcAft>
              <a:buClr>
                <a:srgbClr val="C00000"/>
              </a:buClr>
              <a:buFont typeface="Noto Sans Symbols"/>
              <a:buChar char="❖"/>
            </a:pPr>
            <a:r>
              <a:rPr lang="es-ES" sz="2800" dirty="0">
                <a:solidFill>
                  <a:schemeClr val="tx1"/>
                </a:solidFill>
              </a:rPr>
              <a:t>Resultan útiles para conservar la calidad del diseño en la codificación:</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Localización de entrada y salida</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Es deseable localizarlas en componentes separados del resto del código ya que generalmente son más difíciles de probar..</a:t>
            </a:r>
            <a:endParaRPr lang="es-ES" sz="2400" i="1" dirty="0">
              <a:solidFill>
                <a:schemeClr val="tx1"/>
              </a:solidFill>
            </a:endParaRP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Inclusión de pseudocódigo</a:t>
            </a:r>
          </a:p>
          <a:p>
            <a:pPr marL="900113" indent="0" algn="just">
              <a:lnSpc>
                <a:spcPct val="85000"/>
              </a:lnSpc>
              <a:spcBef>
                <a:spcPts val="0"/>
              </a:spcBef>
              <a:spcAft>
                <a:spcPts val="300"/>
              </a:spcAft>
              <a:buClr>
                <a:srgbClr val="C00000"/>
              </a:buClr>
              <a:buNone/>
              <a:tabLst>
                <a:tab pos="811213" algn="l"/>
                <a:tab pos="900113" algn="l"/>
              </a:tabLst>
            </a:pPr>
            <a:r>
              <a:rPr lang="es-ES" i="1" dirty="0">
                <a:solidFill>
                  <a:schemeClr val="tx1"/>
                </a:solidFill>
              </a:rPr>
              <a:t>Es útil avanzar el diseño, realizando un pseudocódigo para adaptar el diseño al lenguaje elegido.</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Revisión y reescritura </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Es recomendable realizar un borrador, revisarlo y reescribirlo tantas veces como sea necesario.</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Reutilización</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Productiva: se crean componentes destinados a ser reutilizados por otra aplicación.</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Consumidora: Se usan componentes originalmente desarrollados para otros proyectos.</a:t>
            </a: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21760926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EAD10984-D0A7-2200-5DE6-DA2855E70301}"/>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D7E18743-E2FB-9357-5ABB-3CBAF6BBE7B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Codificación – Documentación</a:t>
            </a:r>
            <a:endParaRPr dirty="0"/>
          </a:p>
        </p:txBody>
      </p:sp>
      <p:sp>
        <p:nvSpPr>
          <p:cNvPr id="2" name="Marcador de fecha 1">
            <a:extLst>
              <a:ext uri="{FF2B5EF4-FFF2-40B4-BE49-F238E27FC236}">
                <a16:creationId xmlns:a16="http://schemas.microsoft.com/office/drawing/2014/main" id="{9CB98C1C-2B86-26AA-5296-B3BBF7D6E309}"/>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9A61AD1-2D5C-C1BF-A900-28C12D13D4DD}"/>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ED6ED4E6-1FFA-2918-253D-033FAD6C43C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67</a:t>
            </a:fld>
            <a:endParaRPr lang="es-AR"/>
          </a:p>
        </p:txBody>
      </p:sp>
      <p:sp>
        <p:nvSpPr>
          <p:cNvPr id="6" name="Google Shape;134;p4">
            <a:extLst>
              <a:ext uri="{FF2B5EF4-FFF2-40B4-BE49-F238E27FC236}">
                <a16:creationId xmlns:a16="http://schemas.microsoft.com/office/drawing/2014/main" id="{FA8028EC-D5D9-B66A-2FF2-59211C5244B8}"/>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0"/>
              </a:spcAft>
              <a:buClr>
                <a:srgbClr val="C00000"/>
              </a:buClr>
              <a:buFont typeface="Noto Sans Symbols"/>
              <a:buChar char="❖"/>
            </a:pPr>
            <a:r>
              <a:rPr lang="es-ES" sz="2800" dirty="0">
                <a:solidFill>
                  <a:schemeClr val="tx1"/>
                </a:solidFill>
              </a:rPr>
              <a:t>Se considera como documentación del programa al conjunto de descripciones escritas que explican al lector qué hace el programa y cómo lo hace.</a:t>
            </a:r>
          </a:p>
          <a:p>
            <a:pPr marL="530225" indent="-530225" algn="just">
              <a:lnSpc>
                <a:spcPct val="85000"/>
              </a:lnSpc>
              <a:spcBef>
                <a:spcPts val="0"/>
              </a:spcBef>
              <a:spcAft>
                <a:spcPts val="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r>
              <a:rPr lang="es-ES" sz="2800" dirty="0">
                <a:solidFill>
                  <a:schemeClr val="tx1"/>
                </a:solidFill>
              </a:rPr>
              <a:t>Se divide en:</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Documentación interna:  </a:t>
            </a:r>
          </a:p>
          <a:p>
            <a:pPr marL="900113" indent="0" algn="just">
              <a:lnSpc>
                <a:spcPct val="85000"/>
              </a:lnSpc>
              <a:spcBef>
                <a:spcPts val="0"/>
              </a:spcBef>
              <a:spcAft>
                <a:spcPts val="600"/>
              </a:spcAft>
              <a:buClr>
                <a:srgbClr val="C00000"/>
              </a:buClr>
              <a:buNone/>
              <a:tabLst>
                <a:tab pos="811213" algn="l"/>
              </a:tabLst>
            </a:pPr>
            <a:r>
              <a:rPr lang="es-ES" i="1" dirty="0">
                <a:solidFill>
                  <a:schemeClr val="tx1"/>
                </a:solidFill>
              </a:rPr>
              <a:t>Es concisa, escrita en un nivel apropiado para un programador. Contiene información dirigida a quienes leerán el código fuente. Incluye información de algoritmos, estructuras de control, flujos de control.</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Documentación externa:  </a:t>
            </a:r>
          </a:p>
          <a:p>
            <a:pPr marL="900113" indent="0" algn="just">
              <a:lnSpc>
                <a:spcPct val="85000"/>
              </a:lnSpc>
              <a:spcBef>
                <a:spcPts val="0"/>
              </a:spcBef>
              <a:spcAft>
                <a:spcPts val="600"/>
              </a:spcAft>
              <a:buClr>
                <a:srgbClr val="C00000"/>
              </a:buClr>
              <a:buNone/>
              <a:tabLst>
                <a:tab pos="811213" algn="l"/>
              </a:tabLst>
            </a:pPr>
            <a:r>
              <a:rPr lang="es-ES" i="1" dirty="0">
                <a:solidFill>
                  <a:schemeClr val="tx1"/>
                </a:solidFill>
              </a:rPr>
              <a:t>Se prepara para ser leída por quienes, tal vez, nunca verán el código real. Por ejemplo, los diseñadores, cuando evalúan modificaciones o mejoras.</a:t>
            </a: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351160601"/>
      </p:ext>
    </p:extLst>
  </p:cSld>
  <p:clrMapOvr>
    <a:masterClrMapping/>
  </p:clrMapOvr>
</p:sld>
</file>

<file path=ppt/theme/theme1.xml><?xml version="1.0" encoding="utf-8"?>
<a:theme xmlns:a="http://schemas.openxmlformats.org/drawingml/2006/main" name="Retrospección">
  <a:themeElements>
    <a:clrScheme name="Naranja rojo">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2026 Clase 1_Comunicacion_SRS.pptx" id="{F39401A9-85DB-4349-A76B-94D95506DA4C}" vid="{1FC3EF6D-30C9-4320-8FF3-A71339F5A8A3}"/>
    </a:ext>
  </a:ext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TotalTime>
  <Words>3089</Words>
  <Application>Microsoft Office PowerPoint</Application>
  <PresentationFormat>Panorámica</PresentationFormat>
  <Paragraphs>524</Paragraphs>
  <Slides>67</Slides>
  <Notes>67</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67</vt:i4>
      </vt:variant>
    </vt:vector>
  </HeadingPairs>
  <TitlesOfParts>
    <vt:vector size="74" baseType="lpstr">
      <vt:lpstr>Arial</vt:lpstr>
      <vt:lpstr>Calibri</vt:lpstr>
      <vt:lpstr>Noto Sans Symbols</vt:lpstr>
      <vt:lpstr>Noto Sans Symbols2</vt:lpstr>
      <vt:lpstr>Times New Roman</vt:lpstr>
      <vt:lpstr>Wingdings</vt:lpstr>
      <vt:lpstr>Retrospección</vt:lpstr>
      <vt:lpstr>Ingeniería de Software II</vt:lpstr>
      <vt:lpstr>Contenidos</vt:lpstr>
      <vt:lpstr>Diseño Arquitectónico</vt:lpstr>
      <vt:lpstr>Diseño Arquitectónico</vt:lpstr>
      <vt:lpstr>Diseño Arquitectónico</vt:lpstr>
      <vt:lpstr>Diseño Arquitectónico</vt:lpstr>
      <vt:lpstr>Aspectos del Diseño Arquitectónico</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Aspectos del Diseño Arquitectónico</vt:lpstr>
      <vt:lpstr>Descomposición modular</vt:lpstr>
      <vt:lpstr>Descomposición modular</vt:lpstr>
      <vt:lpstr>Descomposición modular</vt:lpstr>
      <vt:lpstr>Descomposición modular</vt:lpstr>
      <vt:lpstr>Aspectos del Diseño Arquitectónico</vt:lpstr>
      <vt:lpstr>Modelos de control</vt:lpstr>
      <vt:lpstr>Modelos de control</vt:lpstr>
      <vt:lpstr>Modelos de control</vt:lpstr>
      <vt:lpstr>Modelos de control</vt:lpstr>
      <vt:lpstr>Modelos de control</vt:lpstr>
      <vt:lpstr>Modelos de control</vt:lpstr>
      <vt:lpstr>Modelos de control</vt:lpstr>
      <vt:lpstr>Modelos de control</vt:lpstr>
      <vt:lpstr>Modelos de control</vt:lpstr>
      <vt:lpstr>Modelos de control</vt:lpstr>
      <vt:lpstr>Modelos de control</vt:lpstr>
      <vt:lpstr>Aspectos del Diseño Arquitectónico</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Codificación</vt:lpstr>
      <vt:lpstr>Codificación – Pautas generales</vt:lpstr>
      <vt:lpstr>Codificación – Documentación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Alejandro Gonzalez</dc:creator>
  <cp:lastModifiedBy>Rocio Muñoz</cp:lastModifiedBy>
  <cp:revision>34</cp:revision>
  <dcterms:created xsi:type="dcterms:W3CDTF">2020-03-04T11:49:59Z</dcterms:created>
  <dcterms:modified xsi:type="dcterms:W3CDTF">2026-04-22T13:47:54Z</dcterms:modified>
</cp:coreProperties>
</file>