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50"/>
  </p:notesMasterIdLst>
  <p:sldIdLst>
    <p:sldId id="31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321" r:id="rId26"/>
    <p:sldId id="320" r:id="rId27"/>
    <p:sldId id="322" r:id="rId28"/>
    <p:sldId id="323" r:id="rId29"/>
    <p:sldId id="324" r:id="rId30"/>
    <p:sldId id="325" r:id="rId31"/>
    <p:sldId id="289" r:id="rId32"/>
    <p:sldId id="290" r:id="rId33"/>
    <p:sldId id="291" r:id="rId34"/>
    <p:sldId id="292" r:id="rId35"/>
    <p:sldId id="326" r:id="rId36"/>
    <p:sldId id="295" r:id="rId37"/>
    <p:sldId id="327" r:id="rId38"/>
    <p:sldId id="328" r:id="rId39"/>
    <p:sldId id="299" r:id="rId40"/>
    <p:sldId id="300" r:id="rId41"/>
    <p:sldId id="310" r:id="rId42"/>
    <p:sldId id="312" r:id="rId43"/>
    <p:sldId id="332" r:id="rId44"/>
    <p:sldId id="314" r:id="rId45"/>
    <p:sldId id="333" r:id="rId46"/>
    <p:sldId id="334" r:id="rId47"/>
    <p:sldId id="317" r:id="rId48"/>
    <p:sldId id="318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9" roundtripDataSignature="AMtx7mhG0ynQnXCQS3oEX32Nm7cPAxJk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03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9" Type="http://customschemas.google.com/relationships/presentationmetadata" Target="metadata"/><Relationship Id="rId8" Type="http://schemas.openxmlformats.org/officeDocument/2006/relationships/slide" Target="slides/slide7.xml"/><Relationship Id="rId72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A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2</a:t>
            </a:fld>
            <a:endParaRPr/>
          </a:p>
        </p:txBody>
      </p:sp>
      <p:sp>
        <p:nvSpPr>
          <p:cNvPr id="60" name="Google Shape;6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598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7:notes"/>
          <p:cNvSpPr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3</a:t>
            </a:fld>
            <a:endParaRPr/>
          </a:p>
        </p:txBody>
      </p:sp>
      <p:sp>
        <p:nvSpPr>
          <p:cNvPr id="72" name="Google Shape;7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598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p8:notes"/>
          <p:cNvSpPr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4</a:t>
            </a:fld>
            <a:endParaRPr/>
          </a:p>
        </p:txBody>
      </p:sp>
      <p:sp>
        <p:nvSpPr>
          <p:cNvPr id="88" name="Google Shape;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9" name="Google Shape;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5</a:t>
            </a:fld>
            <a:endParaRPr/>
          </a:p>
        </p:txBody>
      </p:sp>
      <p:sp>
        <p:nvSpPr>
          <p:cNvPr id="99" name="Google Shape;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0" name="Google Shape;1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6</a:t>
            </a:fld>
            <a:endParaRPr/>
          </a:p>
        </p:txBody>
      </p:sp>
      <p:sp>
        <p:nvSpPr>
          <p:cNvPr id="109" name="Google Shape;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0" name="Google Shape;1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8</a:t>
            </a:fld>
            <a:endParaRPr/>
          </a:p>
        </p:txBody>
      </p:sp>
      <p:sp>
        <p:nvSpPr>
          <p:cNvPr id="128" name="Google Shape;12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9" name="Google Shape;12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9</a:t>
            </a:fld>
            <a:endParaRPr/>
          </a:p>
        </p:txBody>
      </p:sp>
      <p:sp>
        <p:nvSpPr>
          <p:cNvPr id="138" name="Google Shape;138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598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25:notes"/>
          <p:cNvSpPr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10</a:t>
            </a:fld>
            <a:endParaRPr/>
          </a:p>
        </p:txBody>
      </p:sp>
      <p:sp>
        <p:nvSpPr>
          <p:cNvPr id="149" name="Google Shape;14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0" name="Google Shape;15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a) Documentos: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Organigrama (identificar el propietario, usuarios claves)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Memos, notas internas, minutas, registros contables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Solicitudes de proyectos de sistemas de información anteriore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Documentación de sistemas anteriores</a:t>
            </a:r>
            <a:endParaRPr/>
          </a:p>
          <a:p>
            <a:pPr marL="914400" lvl="2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 "/>
            </a:pPr>
            <a:r>
              <a:rPr lang="es-AR" sz="1200" i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Diagramas</a:t>
            </a:r>
            <a:endParaRPr/>
          </a:p>
          <a:p>
            <a:pPr marL="914400" lvl="2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 "/>
            </a:pPr>
            <a:r>
              <a:rPr lang="es-AR" sz="1200" i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Diccionario o Repositorios de proyecto</a:t>
            </a:r>
            <a:endParaRPr/>
          </a:p>
          <a:p>
            <a:pPr marL="914400" lvl="2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 "/>
            </a:pPr>
            <a:r>
              <a:rPr lang="es-AR" sz="1200" i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Documentos de diseño</a:t>
            </a:r>
            <a:endParaRPr/>
          </a:p>
          <a:p>
            <a:pPr marL="914400" lvl="2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 "/>
            </a:pPr>
            <a:r>
              <a:rPr lang="es-AR" sz="1200" i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Manuales de operación y/o entrenamien</a:t>
            </a:r>
            <a:endParaRPr sz="1200" i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None/>
            </a:pPr>
            <a:endParaRPr sz="1200" i="1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None/>
            </a:pPr>
            <a:r>
              <a:rPr lang="es-AR" sz="12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Documentos que describen la funcionalidad del negocio que está siendo analizada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 i="1">
                <a:latin typeface="Times New Roman"/>
                <a:ea typeface="Times New Roman"/>
                <a:cs typeface="Times New Roman"/>
                <a:sym typeface="Times New Roman"/>
              </a:rPr>
              <a:t>Declaración de la misión y plan estratégico de la organización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 i="1">
                <a:latin typeface="Times New Roman"/>
                <a:ea typeface="Times New Roman"/>
                <a:cs typeface="Times New Roman"/>
                <a:sym typeface="Times New Roman"/>
              </a:rPr>
              <a:t>Objetivos formales del departamento en cuestión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 i="1">
                <a:latin typeface="Times New Roman"/>
                <a:ea typeface="Times New Roman"/>
                <a:cs typeface="Times New Roman"/>
                <a:sym typeface="Times New Roman"/>
              </a:rPr>
              <a:t>Políticas, restricciones, procedimientos operativos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 i="1">
                <a:latin typeface="Times New Roman"/>
                <a:ea typeface="Times New Roman"/>
                <a:cs typeface="Times New Roman"/>
                <a:sym typeface="Times New Roman"/>
              </a:rPr>
              <a:t>Formularios de operaciones realizadas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 i="1">
                <a:latin typeface="Times New Roman"/>
                <a:ea typeface="Times New Roman"/>
                <a:cs typeface="Times New Roman"/>
                <a:sym typeface="Times New Roman"/>
              </a:rPr>
              <a:t>Bases de Datos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 i="1">
                <a:latin typeface="Times New Roman"/>
                <a:ea typeface="Times New Roman"/>
                <a:cs typeface="Times New Roman"/>
                <a:sym typeface="Times New Roman"/>
              </a:rPr>
              <a:t>Sistemas en funcionamiento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b) Permiten conocer el historial que origina el proyecto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11</a:t>
            </a:fld>
            <a:endParaRPr/>
          </a:p>
        </p:txBody>
      </p:sp>
      <p:sp>
        <p:nvSpPr>
          <p:cNvPr id="160" name="Google Shape;16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1" name="Google Shape;16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a) Se denomina “Investigación y visitas al sitio”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b) Deben buscarse compañías o software con similares características a través de un buscador.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Debe revisarse la autoría de la pagina, fecha de actualización, comentarios de los clientes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revisar si el lugar o producto está posicionado en algún benchmarking.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Indgar si está presente en las redes sociales para poder ver el impacto.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12</a:t>
            </a:fld>
            <a:endParaRPr/>
          </a:p>
        </p:txBody>
      </p:sp>
      <p:sp>
        <p:nvSpPr>
          <p:cNvPr id="172" name="Google Shape;17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3" name="Google Shape;17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Lineamientos a tener en cuenta: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Noto Sans Symbols"/>
              <a:buChar char="❖"/>
            </a:pPr>
            <a:r>
              <a:rPr lang="es-AR" sz="1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Lineamientos de la observación:</a:t>
            </a:r>
            <a:endParaRPr/>
          </a:p>
          <a:p>
            <a:pPr marL="457200" lvl="1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 "/>
            </a:pPr>
            <a:r>
              <a:rPr lang="es-AR" sz="1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Determinar quién y cuándo será observado</a:t>
            </a:r>
            <a:endParaRPr/>
          </a:p>
          <a:p>
            <a:pPr marL="457200" lvl="1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 "/>
            </a:pPr>
            <a:r>
              <a:rPr lang="es-AR" sz="1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Obtener el permiso de la persona y explicar el porqué será observado</a:t>
            </a:r>
            <a:endParaRPr/>
          </a:p>
          <a:p>
            <a:pPr marL="457200" lvl="1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 "/>
            </a:pPr>
            <a:r>
              <a:rPr lang="es-AR" sz="1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Mantener bajo perfil</a:t>
            </a:r>
            <a:endParaRPr/>
          </a:p>
          <a:p>
            <a:pPr marL="457200" lvl="1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 "/>
            </a:pPr>
            <a:r>
              <a:rPr lang="es-AR" sz="1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Tomar nota de lo observado</a:t>
            </a:r>
            <a:endParaRPr/>
          </a:p>
          <a:p>
            <a:pPr marL="457200" lvl="1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 "/>
            </a:pPr>
            <a:r>
              <a:rPr lang="es-AR" sz="1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Revisar las notas con la persona apropiada</a:t>
            </a:r>
            <a:endParaRPr/>
          </a:p>
          <a:p>
            <a:pPr marL="457200" lvl="1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 "/>
            </a:pPr>
            <a:r>
              <a:rPr lang="es-AR" sz="1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interrumpir a la persona en su trabajo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13</a:t>
            </a:fld>
            <a:endParaRPr/>
          </a:p>
        </p:txBody>
      </p:sp>
      <p:sp>
        <p:nvSpPr>
          <p:cNvPr id="183" name="Google Shape;183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598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5900" lvl="0" indent="-214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a)Si porque las personas en general deben responder </a:t>
            </a:r>
            <a:endParaRPr/>
          </a:p>
          <a:p>
            <a:pPr marL="215900" lvl="0" indent="-214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a ítems tipo V/F, opciones múltiples y pocas preguntas abiertas.</a:t>
            </a:r>
            <a:endParaRPr/>
          </a:p>
          <a:p>
            <a:pPr marL="215900" lvl="0" indent="-214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Esta estructurada y pensada con anterioridad.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5900" lvl="0" indent="-214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5900" lvl="0" indent="-214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b)Inconvenientes</a:t>
            </a:r>
            <a:endParaRPr/>
          </a:p>
          <a:p>
            <a:pPr marL="215900" lvl="0" indent="-214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Número bajo de respuestas</a:t>
            </a:r>
            <a:endParaRPr/>
          </a:p>
          <a:p>
            <a:pPr marL="215900" lvl="0" indent="-214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No responde a todas las preguntas</a:t>
            </a:r>
            <a:endParaRPr/>
          </a:p>
          <a:p>
            <a:pPr marL="215900" lvl="0" indent="-214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Preguntas rígidas</a:t>
            </a:r>
            <a:endParaRPr/>
          </a:p>
          <a:p>
            <a:pPr marL="215900" lvl="0" indent="-214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No se puede realizar </a:t>
            </a:r>
            <a:endParaRPr/>
          </a:p>
          <a:p>
            <a:pPr marL="215900" lvl="0" indent="-214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el análisis corporal</a:t>
            </a:r>
            <a:endParaRPr/>
          </a:p>
          <a:p>
            <a:pPr marL="215900" lvl="0" indent="-214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No se pueden aclarar respuestas incompletas</a:t>
            </a:r>
            <a:endParaRPr/>
          </a:p>
          <a:p>
            <a:pPr marL="215900" lvl="0" indent="-214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1200">
                <a:latin typeface="Times New Roman"/>
                <a:ea typeface="Times New Roman"/>
                <a:cs typeface="Times New Roman"/>
                <a:sym typeface="Times New Roman"/>
              </a:rPr>
              <a:t>Difíciles de preparar</a:t>
            </a:r>
            <a:endParaRPr/>
          </a:p>
          <a:p>
            <a:pPr marL="215900" lvl="0" indent="-214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15900" lvl="0" indent="-214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15900" lvl="0" indent="-214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15900" lvl="0" indent="-214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15900" lvl="0" indent="-214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14</a:t>
            </a:fld>
            <a:endParaRPr/>
          </a:p>
        </p:txBody>
      </p:sp>
      <p:sp>
        <p:nvSpPr>
          <p:cNvPr id="226" name="Google Shape;22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7" name="Google Shape;22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b="1">
                <a:latin typeface="Times New Roman"/>
                <a:ea typeface="Times New Roman"/>
                <a:cs typeface="Times New Roman"/>
                <a:sym typeface="Times New Roman"/>
              </a:rPr>
              <a:t>a) Debe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Vestirse adecuadamente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Ser cortés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Escuchar cuidadosamente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Mantener el control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Observar los gestos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Ser paciente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Mantener al entrevistado en calma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Mantener el autocontrol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Terminar a tiempo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b="1">
                <a:latin typeface="Times New Roman"/>
                <a:ea typeface="Times New Roman"/>
                <a:cs typeface="Times New Roman"/>
                <a:sym typeface="Times New Roman"/>
              </a:rPr>
              <a:t>b) Evite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Suponer que una respuesta no lleva a ningún lado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Revelar pistas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Usar jerga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Revelar sesgos personales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Hablar en lugar de escuchar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Suponer cualquier cosa acerca del tema o del entrevistado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Uso de grabadores (señal de debilidad de escuchar)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16</a:t>
            </a:fld>
            <a:endParaRPr/>
          </a:p>
        </p:txBody>
      </p:sp>
      <p:sp>
        <p:nvSpPr>
          <p:cNvPr id="244" name="Google Shape;244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p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b="1">
                <a:latin typeface="Times New Roman"/>
                <a:ea typeface="Times New Roman"/>
                <a:cs typeface="Times New Roman"/>
                <a:sym typeface="Times New Roman"/>
              </a:rPr>
              <a:t>a) Debe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Vestirse adecuadamente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Ser cortés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Escuchar cuidadosamente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Mantener el control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Observar los gestos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Ser paciente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Mantener al entrevistado en calma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Mantener el autocontrol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Terminar a tiempo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b="1">
                <a:latin typeface="Times New Roman"/>
                <a:ea typeface="Times New Roman"/>
                <a:cs typeface="Times New Roman"/>
                <a:sym typeface="Times New Roman"/>
              </a:rPr>
              <a:t>b) Evite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Suponer que una respuesta no lleva a ningún lado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Revelar pistas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Usar jerga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Revelar sesgos personales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Hablar en lugar de escuchar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Suponer cualquier cosa acerca del tema o del entrevistado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Uso de grabadores (señal de debilidad de escuchar)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17</a:t>
            </a:fld>
            <a:endParaRPr/>
          </a:p>
        </p:txBody>
      </p:sp>
      <p:sp>
        <p:nvSpPr>
          <p:cNvPr id="253" name="Google Shape;253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4" name="Google Shape;254;p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b="1">
                <a:latin typeface="Times New Roman"/>
                <a:ea typeface="Times New Roman"/>
                <a:cs typeface="Times New Roman"/>
                <a:sym typeface="Times New Roman"/>
              </a:rPr>
              <a:t>a) Debe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Vestirse adecuadamente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Ser cortés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Escuchar cuidadosamente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Mantener el control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Observar los gestos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Ser paciente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Mantener al entrevistado en calma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Mantener el autocontrol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Terminar a tiempo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b="1">
                <a:latin typeface="Times New Roman"/>
                <a:ea typeface="Times New Roman"/>
                <a:cs typeface="Times New Roman"/>
                <a:sym typeface="Times New Roman"/>
              </a:rPr>
              <a:t>b) Evite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Suponer que una respuesta no lleva a ningún lado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Revelar pistas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Usar jerga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Revelar sesgos personales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Hablar en lugar de escuchar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Suponer cualquier cosa acerca del tema o del entrevistado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Uso de grabadores (señal de debilidad de escuchar)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18</a:t>
            </a:fld>
            <a:endParaRPr/>
          </a:p>
        </p:txBody>
      </p:sp>
      <p:sp>
        <p:nvSpPr>
          <p:cNvPr id="262" name="Google Shape;26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63" name="Google Shape;26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lphaLcParenR"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Proceso mediante el cual se conducen reuniones de grupo altamente estructurados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 con el propósito de analizar problemas y definir requerimientos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b) Requiere de extenso entrenamiento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Reduce el tiempo de exploración de requisitos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Amplia participación de los integrantes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Se trabaja sobre lo que se va generando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19</a:t>
            </a:fld>
            <a:endParaRPr/>
          </a:p>
        </p:txBody>
      </p:sp>
      <p:sp>
        <p:nvSpPr>
          <p:cNvPr id="273" name="Google Shape;27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74" name="Google Shape;27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lphaLcParenR"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Técnica para generar ideas al alentar a los participantes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para que ofrezcan tantas ideas como sea posible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en un corto tiempo sin ningún análisis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hasta que se hayan agotado las ideas.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b) Clave para resolver la falta de consenso entre usuarios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Es útil combinarlo con la toma de decisiones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Ayuda a entender el dominio del problema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Encara la dificultad del usuario para transmitir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Times New Roman"/>
                <a:ea typeface="Times New Roman"/>
                <a:cs typeface="Times New Roman"/>
                <a:sym typeface="Times New Roman"/>
              </a:rPr>
              <a:t>Ayuda a entender: al usuario y al analista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20</a:t>
            </a:fld>
            <a:endParaRPr/>
          </a:p>
        </p:txBody>
      </p:sp>
      <p:sp>
        <p:nvSpPr>
          <p:cNvPr id="285" name="Google Shape;2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6" name="Google Shape;2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21</a:t>
            </a:fld>
            <a:endParaRPr/>
          </a:p>
        </p:txBody>
      </p:sp>
      <p:sp>
        <p:nvSpPr>
          <p:cNvPr id="304" name="Google Shape;3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5" name="Google Shape;30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22</a:t>
            </a:fld>
            <a:endParaRPr/>
          </a:p>
        </p:txBody>
      </p:sp>
      <p:sp>
        <p:nvSpPr>
          <p:cNvPr id="315" name="Google Shape;3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6" name="Google Shape;31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23</a:t>
            </a:fld>
            <a:endParaRPr/>
          </a:p>
        </p:txBody>
      </p:sp>
      <p:sp>
        <p:nvSpPr>
          <p:cNvPr id="324" name="Google Shape;32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25" name="Google Shape;32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24</a:t>
            </a:fld>
            <a:endParaRPr/>
          </a:p>
        </p:txBody>
      </p:sp>
      <p:sp>
        <p:nvSpPr>
          <p:cNvPr id="335" name="Google Shape;33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36" name="Google Shape;33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>
          <a:extLst>
            <a:ext uri="{FF2B5EF4-FFF2-40B4-BE49-F238E27FC236}">
              <a16:creationId xmlns:a16="http://schemas.microsoft.com/office/drawing/2014/main" id="{667B067A-64D4-91B6-2187-FEDC97247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:notes">
            <a:extLst>
              <a:ext uri="{FF2B5EF4-FFF2-40B4-BE49-F238E27FC236}">
                <a16:creationId xmlns:a16="http://schemas.microsoft.com/office/drawing/2014/main" id="{1BE2EBF9-6192-44CA-385D-B9396B7C4E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25</a:t>
            </a:fld>
            <a:endParaRPr/>
          </a:p>
        </p:txBody>
      </p:sp>
      <p:sp>
        <p:nvSpPr>
          <p:cNvPr id="335" name="Google Shape;335;p27:notes">
            <a:extLst>
              <a:ext uri="{FF2B5EF4-FFF2-40B4-BE49-F238E27FC236}">
                <a16:creationId xmlns:a16="http://schemas.microsoft.com/office/drawing/2014/main" id="{7D4DF8AA-9C9E-CFE9-55D0-939B01EA09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36" name="Google Shape;336;p27:notes">
            <a:extLst>
              <a:ext uri="{FF2B5EF4-FFF2-40B4-BE49-F238E27FC236}">
                <a16:creationId xmlns:a16="http://schemas.microsoft.com/office/drawing/2014/main" id="{3FFFAD9F-8B22-E48B-11B4-A608EBB6E6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2626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>
          <a:extLst>
            <a:ext uri="{FF2B5EF4-FFF2-40B4-BE49-F238E27FC236}">
              <a16:creationId xmlns:a16="http://schemas.microsoft.com/office/drawing/2014/main" id="{5ED3619C-350F-A4B6-0F4C-DDD496141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:notes">
            <a:extLst>
              <a:ext uri="{FF2B5EF4-FFF2-40B4-BE49-F238E27FC236}">
                <a16:creationId xmlns:a16="http://schemas.microsoft.com/office/drawing/2014/main" id="{6AF39148-5BCE-00CF-3DE1-274DA05553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26</a:t>
            </a:fld>
            <a:endParaRPr/>
          </a:p>
        </p:txBody>
      </p:sp>
      <p:sp>
        <p:nvSpPr>
          <p:cNvPr id="335" name="Google Shape;335;p27:notes">
            <a:extLst>
              <a:ext uri="{FF2B5EF4-FFF2-40B4-BE49-F238E27FC236}">
                <a16:creationId xmlns:a16="http://schemas.microsoft.com/office/drawing/2014/main" id="{762B3ACB-48A6-2CB0-FD2B-5F56635523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36" name="Google Shape;336;p27:notes">
            <a:extLst>
              <a:ext uri="{FF2B5EF4-FFF2-40B4-BE49-F238E27FC236}">
                <a16:creationId xmlns:a16="http://schemas.microsoft.com/office/drawing/2014/main" id="{7C321F35-AF88-A9EE-4F85-7D3B881642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76205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>
          <a:extLst>
            <a:ext uri="{FF2B5EF4-FFF2-40B4-BE49-F238E27FC236}">
              <a16:creationId xmlns:a16="http://schemas.microsoft.com/office/drawing/2014/main" id="{33ABBBEC-D2EC-120D-A899-B6601F7F9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:notes">
            <a:extLst>
              <a:ext uri="{FF2B5EF4-FFF2-40B4-BE49-F238E27FC236}">
                <a16:creationId xmlns:a16="http://schemas.microsoft.com/office/drawing/2014/main" id="{0DE1EC0C-5E53-73D3-764D-C49C1AC370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27</a:t>
            </a:fld>
            <a:endParaRPr/>
          </a:p>
        </p:txBody>
      </p:sp>
      <p:sp>
        <p:nvSpPr>
          <p:cNvPr id="335" name="Google Shape;335;p27:notes">
            <a:extLst>
              <a:ext uri="{FF2B5EF4-FFF2-40B4-BE49-F238E27FC236}">
                <a16:creationId xmlns:a16="http://schemas.microsoft.com/office/drawing/2014/main" id="{5793CF5A-38EE-FDB7-9536-0980ADEAB7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36" name="Google Shape;336;p27:notes">
            <a:extLst>
              <a:ext uri="{FF2B5EF4-FFF2-40B4-BE49-F238E27FC236}">
                <a16:creationId xmlns:a16="http://schemas.microsoft.com/office/drawing/2014/main" id="{1248F84B-8A24-94E3-CC95-1889BCB6C5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85114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>
          <a:extLst>
            <a:ext uri="{FF2B5EF4-FFF2-40B4-BE49-F238E27FC236}">
              <a16:creationId xmlns:a16="http://schemas.microsoft.com/office/drawing/2014/main" id="{00E84464-692D-22A3-5E04-B10A0A1F9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:notes">
            <a:extLst>
              <a:ext uri="{FF2B5EF4-FFF2-40B4-BE49-F238E27FC236}">
                <a16:creationId xmlns:a16="http://schemas.microsoft.com/office/drawing/2014/main" id="{961C2A5B-C823-DD3E-B8A8-82F139BDA8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28</a:t>
            </a:fld>
            <a:endParaRPr/>
          </a:p>
        </p:txBody>
      </p:sp>
      <p:sp>
        <p:nvSpPr>
          <p:cNvPr id="335" name="Google Shape;335;p27:notes">
            <a:extLst>
              <a:ext uri="{FF2B5EF4-FFF2-40B4-BE49-F238E27FC236}">
                <a16:creationId xmlns:a16="http://schemas.microsoft.com/office/drawing/2014/main" id="{467D739F-E854-AB39-5F83-D65E63BB6E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36" name="Google Shape;336;p27:notes">
            <a:extLst>
              <a:ext uri="{FF2B5EF4-FFF2-40B4-BE49-F238E27FC236}">
                <a16:creationId xmlns:a16="http://schemas.microsoft.com/office/drawing/2014/main" id="{AB0A6A00-E24B-475D-B0F6-B1E1182CE0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72072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>
          <a:extLst>
            <a:ext uri="{FF2B5EF4-FFF2-40B4-BE49-F238E27FC236}">
              <a16:creationId xmlns:a16="http://schemas.microsoft.com/office/drawing/2014/main" id="{153AC024-98EA-751F-7720-ED0E48B0A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:notes">
            <a:extLst>
              <a:ext uri="{FF2B5EF4-FFF2-40B4-BE49-F238E27FC236}">
                <a16:creationId xmlns:a16="http://schemas.microsoft.com/office/drawing/2014/main" id="{D9091879-706D-C6C4-3221-257A73EFEA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29</a:t>
            </a:fld>
            <a:endParaRPr/>
          </a:p>
        </p:txBody>
      </p:sp>
      <p:sp>
        <p:nvSpPr>
          <p:cNvPr id="335" name="Google Shape;335;p27:notes">
            <a:extLst>
              <a:ext uri="{FF2B5EF4-FFF2-40B4-BE49-F238E27FC236}">
                <a16:creationId xmlns:a16="http://schemas.microsoft.com/office/drawing/2014/main" id="{C42C7A8F-D4FF-8A30-3787-C82B92A77D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36" name="Google Shape;336;p27:notes">
            <a:extLst>
              <a:ext uri="{FF2B5EF4-FFF2-40B4-BE49-F238E27FC236}">
                <a16:creationId xmlns:a16="http://schemas.microsoft.com/office/drawing/2014/main" id="{F310D35D-0A55-DEA0-50A0-91CA824819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4888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>
          <a:extLst>
            <a:ext uri="{FF2B5EF4-FFF2-40B4-BE49-F238E27FC236}">
              <a16:creationId xmlns:a16="http://schemas.microsoft.com/office/drawing/2014/main" id="{0F64B411-BAB5-97C7-F7B7-091985ACD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:notes">
            <a:extLst>
              <a:ext uri="{FF2B5EF4-FFF2-40B4-BE49-F238E27FC236}">
                <a16:creationId xmlns:a16="http://schemas.microsoft.com/office/drawing/2014/main" id="{565744C8-1A3E-2FDD-DB96-5C028AC897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30</a:t>
            </a:fld>
            <a:endParaRPr/>
          </a:p>
        </p:txBody>
      </p:sp>
      <p:sp>
        <p:nvSpPr>
          <p:cNvPr id="335" name="Google Shape;335;p27:notes">
            <a:extLst>
              <a:ext uri="{FF2B5EF4-FFF2-40B4-BE49-F238E27FC236}">
                <a16:creationId xmlns:a16="http://schemas.microsoft.com/office/drawing/2014/main" id="{470B5F28-D078-BB5A-4104-DBD29C69C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36" name="Google Shape;336;p27:notes">
            <a:extLst>
              <a:ext uri="{FF2B5EF4-FFF2-40B4-BE49-F238E27FC236}">
                <a16:creationId xmlns:a16="http://schemas.microsoft.com/office/drawing/2014/main" id="{F7E3F06A-9356-8C3E-566A-0E0CBFE7F9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84324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31</a:t>
            </a:fld>
            <a:endParaRPr/>
          </a:p>
        </p:txBody>
      </p:sp>
      <p:sp>
        <p:nvSpPr>
          <p:cNvPr id="416" name="Google Shape;41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17" name="Google Shape;417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32</a:t>
            </a:fld>
            <a:endParaRPr/>
          </a:p>
        </p:txBody>
      </p:sp>
      <p:sp>
        <p:nvSpPr>
          <p:cNvPr id="425" name="Google Shape;425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598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6" name="Google Shape;426;p44:notes"/>
          <p:cNvSpPr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33</a:t>
            </a:fld>
            <a:endParaRPr/>
          </a:p>
        </p:txBody>
      </p:sp>
      <p:sp>
        <p:nvSpPr>
          <p:cNvPr id="436" name="Google Shape;43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37" name="Google Shape;437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34</a:t>
            </a:fld>
            <a:endParaRPr/>
          </a:p>
        </p:txBody>
      </p:sp>
      <p:sp>
        <p:nvSpPr>
          <p:cNvPr id="446" name="Google Shape;44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47" name="Google Shape;447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>
          <a:extLst>
            <a:ext uri="{FF2B5EF4-FFF2-40B4-BE49-F238E27FC236}">
              <a16:creationId xmlns:a16="http://schemas.microsoft.com/office/drawing/2014/main" id="{954E364A-C029-FEBC-A3F1-A732FC69E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6:notes">
            <a:extLst>
              <a:ext uri="{FF2B5EF4-FFF2-40B4-BE49-F238E27FC236}">
                <a16:creationId xmlns:a16="http://schemas.microsoft.com/office/drawing/2014/main" id="{6ADC1E8E-7939-9456-6233-247F3B57FF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35</a:t>
            </a:fld>
            <a:endParaRPr/>
          </a:p>
        </p:txBody>
      </p:sp>
      <p:sp>
        <p:nvSpPr>
          <p:cNvPr id="446" name="Google Shape;446;p46:notes">
            <a:extLst>
              <a:ext uri="{FF2B5EF4-FFF2-40B4-BE49-F238E27FC236}">
                <a16:creationId xmlns:a16="http://schemas.microsoft.com/office/drawing/2014/main" id="{3403C7A0-359B-E29E-E66E-A006F9325A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47" name="Google Shape;447;p46:notes">
            <a:extLst>
              <a:ext uri="{FF2B5EF4-FFF2-40B4-BE49-F238E27FC236}">
                <a16:creationId xmlns:a16="http://schemas.microsoft.com/office/drawing/2014/main" id="{A4DD8CF9-B95A-D6B6-FBDA-2370E1DD5C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15117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36</a:t>
            </a:fld>
            <a:endParaRPr/>
          </a:p>
        </p:txBody>
      </p:sp>
      <p:sp>
        <p:nvSpPr>
          <p:cNvPr id="476" name="Google Shape;47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77" name="Google Shape;477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>
          <a:extLst>
            <a:ext uri="{FF2B5EF4-FFF2-40B4-BE49-F238E27FC236}">
              <a16:creationId xmlns:a16="http://schemas.microsoft.com/office/drawing/2014/main" id="{0AC1181D-1A6C-E24D-7C95-3E40934C2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9:notes">
            <a:extLst>
              <a:ext uri="{FF2B5EF4-FFF2-40B4-BE49-F238E27FC236}">
                <a16:creationId xmlns:a16="http://schemas.microsoft.com/office/drawing/2014/main" id="{2079BB12-95D2-D9FB-A564-147B154E03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37</a:t>
            </a:fld>
            <a:endParaRPr/>
          </a:p>
        </p:txBody>
      </p:sp>
      <p:sp>
        <p:nvSpPr>
          <p:cNvPr id="476" name="Google Shape;476;p49:notes">
            <a:extLst>
              <a:ext uri="{FF2B5EF4-FFF2-40B4-BE49-F238E27FC236}">
                <a16:creationId xmlns:a16="http://schemas.microsoft.com/office/drawing/2014/main" id="{AE3F9005-4ADE-8354-1762-B134C30796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77" name="Google Shape;477;p49:notes">
            <a:extLst>
              <a:ext uri="{FF2B5EF4-FFF2-40B4-BE49-F238E27FC236}">
                <a16:creationId xmlns:a16="http://schemas.microsoft.com/office/drawing/2014/main" id="{4B631773-340B-D7B9-92E4-5EA1475CE5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1934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>
          <a:extLst>
            <a:ext uri="{FF2B5EF4-FFF2-40B4-BE49-F238E27FC236}">
              <a16:creationId xmlns:a16="http://schemas.microsoft.com/office/drawing/2014/main" id="{4C6AB749-917B-E266-416A-3CCC29345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9:notes">
            <a:extLst>
              <a:ext uri="{FF2B5EF4-FFF2-40B4-BE49-F238E27FC236}">
                <a16:creationId xmlns:a16="http://schemas.microsoft.com/office/drawing/2014/main" id="{EA7E55C1-584D-13DA-7D90-6461E31886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38</a:t>
            </a:fld>
            <a:endParaRPr/>
          </a:p>
        </p:txBody>
      </p:sp>
      <p:sp>
        <p:nvSpPr>
          <p:cNvPr id="476" name="Google Shape;476;p49:notes">
            <a:extLst>
              <a:ext uri="{FF2B5EF4-FFF2-40B4-BE49-F238E27FC236}">
                <a16:creationId xmlns:a16="http://schemas.microsoft.com/office/drawing/2014/main" id="{71ABB3FE-4967-93CC-DB66-122C6D1506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77" name="Google Shape;477;p49:notes">
            <a:extLst>
              <a:ext uri="{FF2B5EF4-FFF2-40B4-BE49-F238E27FC236}">
                <a16:creationId xmlns:a16="http://schemas.microsoft.com/office/drawing/2014/main" id="{87E92250-F526-329B-B431-363E9EB5CF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50139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39</a:t>
            </a:fld>
            <a:endParaRPr/>
          </a:p>
        </p:txBody>
      </p:sp>
      <p:sp>
        <p:nvSpPr>
          <p:cNvPr id="517" name="Google Shape;51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18" name="Google Shape;518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40</a:t>
            </a:fld>
            <a:endParaRPr/>
          </a:p>
        </p:txBody>
      </p:sp>
      <p:sp>
        <p:nvSpPr>
          <p:cNvPr id="528" name="Google Shape;528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5325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29" name="Google Shape;529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6" name="Google Shape;626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1" name="Google Shape;64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2" name="Google Shape;64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42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>
          <a:extLst>
            <a:ext uri="{FF2B5EF4-FFF2-40B4-BE49-F238E27FC236}">
              <a16:creationId xmlns:a16="http://schemas.microsoft.com/office/drawing/2014/main" id="{91815D1C-6BC8-E1DC-52A0-0189F7254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4:notes">
            <a:extLst>
              <a:ext uri="{FF2B5EF4-FFF2-40B4-BE49-F238E27FC236}">
                <a16:creationId xmlns:a16="http://schemas.microsoft.com/office/drawing/2014/main" id="{8588900E-443C-6103-51A8-60590ED874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1" name="Google Shape;641;p14:notes">
            <a:extLst>
              <a:ext uri="{FF2B5EF4-FFF2-40B4-BE49-F238E27FC236}">
                <a16:creationId xmlns:a16="http://schemas.microsoft.com/office/drawing/2014/main" id="{04B7C320-FA23-E654-CA04-A3B8A470B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2" name="Google Shape;642;p14:notes">
            <a:extLst>
              <a:ext uri="{FF2B5EF4-FFF2-40B4-BE49-F238E27FC236}">
                <a16:creationId xmlns:a16="http://schemas.microsoft.com/office/drawing/2014/main" id="{07B7DD8A-2A69-6D77-3E94-A2DC810EFE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490666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9" name="Google Shape;65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0" name="Google Shape;66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44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CE8D2C75-8CF6-C190-0CF0-BDA9FD65E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6:notes">
            <a:extLst>
              <a:ext uri="{FF2B5EF4-FFF2-40B4-BE49-F238E27FC236}">
                <a16:creationId xmlns:a16="http://schemas.microsoft.com/office/drawing/2014/main" id="{61244C24-4C62-C78A-FF87-C5644568DF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9" name="Google Shape;659;p16:notes">
            <a:extLst>
              <a:ext uri="{FF2B5EF4-FFF2-40B4-BE49-F238E27FC236}">
                <a16:creationId xmlns:a16="http://schemas.microsoft.com/office/drawing/2014/main" id="{3F143B8F-360C-EDF7-F778-CD5FBD1E33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0" name="Google Shape;660;p16:notes">
            <a:extLst>
              <a:ext uri="{FF2B5EF4-FFF2-40B4-BE49-F238E27FC236}">
                <a16:creationId xmlns:a16="http://schemas.microsoft.com/office/drawing/2014/main" id="{7F9E3386-41DA-67F7-991B-0770C07246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068278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>
          <a:extLst>
            <a:ext uri="{FF2B5EF4-FFF2-40B4-BE49-F238E27FC236}">
              <a16:creationId xmlns:a16="http://schemas.microsoft.com/office/drawing/2014/main" id="{E84301DE-BFE1-FBD7-C3AA-D7E20C5AE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6:notes">
            <a:extLst>
              <a:ext uri="{FF2B5EF4-FFF2-40B4-BE49-F238E27FC236}">
                <a16:creationId xmlns:a16="http://schemas.microsoft.com/office/drawing/2014/main" id="{B663C8FB-A6E5-7F2B-F903-8F71674AD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9" name="Google Shape;659;p16:notes">
            <a:extLst>
              <a:ext uri="{FF2B5EF4-FFF2-40B4-BE49-F238E27FC236}">
                <a16:creationId xmlns:a16="http://schemas.microsoft.com/office/drawing/2014/main" id="{6DCBA5B7-3B3F-1AF9-57E7-94BB342900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0" name="Google Shape;660;p16:notes">
            <a:extLst>
              <a:ext uri="{FF2B5EF4-FFF2-40B4-BE49-F238E27FC236}">
                <a16:creationId xmlns:a16="http://schemas.microsoft.com/office/drawing/2014/main" id="{343F8977-CE77-6482-25E9-C3C0AC676B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276323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70e62d47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3" name="Google Shape;713;g70e62d47d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4" name="Google Shape;714;g70e62d47d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AR"/>
              <a:t>48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 con 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106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sz="4400"/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0838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4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329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170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9797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‹Nº›</a:t>
            </a:fld>
            <a:endParaRPr lang="es-ES"/>
          </a:p>
        </p:txBody>
      </p:sp>
      <p:pic>
        <p:nvPicPr>
          <p:cNvPr id="2" name="Google Shape;67;p52">
            <a:extLst>
              <a:ext uri="{FF2B5EF4-FFF2-40B4-BE49-F238E27FC236}">
                <a16:creationId xmlns:a16="http://schemas.microsoft.com/office/drawing/2014/main" id="{A844C95F-546E-9488-1A58-FED0BA9A04C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778760" y="178229"/>
            <a:ext cx="1207440" cy="12146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1723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s-ES"/>
              <a:t>2026</a:t>
            </a:r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93AC9C-ACC0-4EC3-93B1-4DD7B869C9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413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7470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117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9604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userDrawn="1">
  <p:cSld name="1_En blanc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8D1602AE-9AA8-7D2E-95EF-706B97BBA2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</p:spPr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550F4AF2-5295-CC20-DD1C-72064DB52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8F020A42-4F4D-04BE-7179-C07EE14F9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EE93AC9C-ACC0-4EC3-93B1-4DD7B869C923}" type="slidenum">
              <a:rPr lang="es-ES" smtClean="0"/>
              <a:t>‹Nº›</a:t>
            </a:fld>
            <a:endParaRPr lang="es-E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1795525F-6420-D02C-9AFB-4B12C2A7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620695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userDrawn="1">
  <p:cSld name="1_Imagen con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BB554F20-B8F1-17D7-C236-C9D8581353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</p:spPr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D51E0B47-C453-EFC6-21AB-92A6FCF56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09D1E393-D94E-933C-B146-BD016919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EE93AC9C-ACC0-4EC3-93B1-4DD7B869C9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0346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 con fuente " userDrawn="1">
  <p:cSld name="Normal con fuente 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4584959E-CA45-EB64-1322-704ED6D659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</p:spPr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26EE684E-7332-A385-59FA-7D9887079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4486FA68-5923-040C-698D-B1E686E04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EE93AC9C-ACC0-4EC3-93B1-4DD7B869C9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0470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E93AC9C-ACC0-4EC3-93B1-4DD7B869C923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oogle Shape;67;p52">
            <a:extLst>
              <a:ext uri="{FF2B5EF4-FFF2-40B4-BE49-F238E27FC236}">
                <a16:creationId xmlns:a16="http://schemas.microsoft.com/office/drawing/2014/main" id="{D1EBF95E-2560-5977-672A-C074F71D37CC}"/>
              </a:ext>
            </a:extLst>
          </p:cNvPr>
          <p:cNvPicPr preferRelativeResize="0"/>
          <p:nvPr userDrawn="1"/>
        </p:nvPicPr>
        <p:blipFill rotWithShape="1">
          <a:blip r:embed="rId16">
            <a:alphaModFix/>
          </a:blip>
          <a:srcRect/>
          <a:stretch/>
        </p:blipFill>
        <p:spPr>
          <a:xfrm>
            <a:off x="10778760" y="178229"/>
            <a:ext cx="1207440" cy="12146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78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7" r:id="rId12"/>
    <p:sldLayoutId id="2147483666" r:id="rId13"/>
    <p:sldLayoutId id="2147483668" r:id="rId14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5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3SgXeu-Se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40.xml"/><Relationship Id="rId5" Type="http://schemas.openxmlformats.org/officeDocument/2006/relationships/slide" Target="slide36.xml"/><Relationship Id="rId4" Type="http://schemas.openxmlformats.org/officeDocument/2006/relationships/slide" Target="slide3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2b3xG_YjgvI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v357YzY7-k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91A157-5FDE-82EC-E9AB-8F2A3159B7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E0D96D-8D75-C62E-C7DE-2923D11FEA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2026 - Clase 1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4F5302-90FE-2F89-9C03-6F7EF9D87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5724F8-2056-6C00-2222-938224C72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BC06E6-6539-129B-5D94-75E39ECAC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3882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/>
          <p:nvPr/>
        </p:nvSpPr>
        <p:spPr>
          <a:xfrm>
            <a:off x="9248775" y="2852738"/>
            <a:ext cx="292576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95953" y="3360420"/>
            <a:ext cx="2592483" cy="275400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ítulo 10">
            <a:extLst>
              <a:ext uri="{FF2B5EF4-FFF2-40B4-BE49-F238E27FC236}">
                <a16:creationId xmlns:a16="http://schemas.microsoft.com/office/drawing/2014/main" id="{B3278392-262B-7531-979E-CF08BD2C1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Temas</a:t>
            </a:r>
          </a:p>
        </p:txBody>
      </p:sp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0CF22FD3-81BF-66D2-6C50-63713E262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416" y="697413"/>
            <a:ext cx="6492240" cy="5257800"/>
          </a:xfrm>
        </p:spPr>
        <p:txBody>
          <a:bodyPr>
            <a:normAutofit/>
          </a:bodyPr>
          <a:lstStyle/>
          <a:p>
            <a:pPr marL="346075" lvl="1" indent="-34131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 "/>
            </a:pPr>
            <a:r>
              <a:rPr lang="es-ES" sz="28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1- Gestión o Administración de Proyectos.</a:t>
            </a:r>
            <a:endParaRPr lang="es-ES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6075" lvl="1" indent="-34131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 "/>
            </a:pPr>
            <a:r>
              <a:rPr lang="es-ES" sz="28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2- Diseño e Implementación de Software. </a:t>
            </a:r>
            <a:endParaRPr lang="es-ES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6075" lvl="1" indent="-34131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 "/>
            </a:pPr>
            <a:r>
              <a:rPr lang="es-ES" sz="28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3- Verificación y Validación.</a:t>
            </a:r>
            <a:endParaRPr lang="es-ES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6075" lvl="1" indent="-34131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 "/>
            </a:pPr>
            <a:r>
              <a:rPr lang="es-ES" sz="28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4- Mantenimiento de Software.</a:t>
            </a:r>
            <a:endParaRPr lang="es-ES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6075" lvl="1" indent="-34131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 "/>
            </a:pPr>
            <a:r>
              <a:rPr lang="es-ES" sz="28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5- Gestión de Configuración.</a:t>
            </a:r>
            <a:endParaRPr lang="es-ES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6075" lvl="1" indent="-34131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 "/>
            </a:pPr>
            <a:r>
              <a:rPr lang="es-ES" sz="28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6- Conceptos de Auditoría y Peritaje.</a:t>
            </a:r>
            <a:endParaRPr lang="es-ES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s-ES" sz="2800" dirty="0"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467793A-BD57-934B-0263-914D95C85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0A2EAE32-2136-E866-F171-EC2A5C0FC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465CC8C4-6AA9-2A5F-F8D6-E283CE10E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81D1F346-D477-FEF8-3308-91FFDD001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2</a:t>
            </a:fld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10410198" y="6061572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92075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 b="0" i="0" u="none" strike="noStrike" cap="none" dirty="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Sommerville – Capítulo 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2075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959919" y="1836796"/>
            <a:ext cx="10058400" cy="422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AR" sz="32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 un conjunto de actividades y resultados asociados que producen un producto de software.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488" marR="0" lvl="0" indent="-904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es-ES" sz="32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0488" marR="0" lvl="0" indent="-904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es-ES" sz="32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0488" marR="0" lvl="0" indent="-904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es-ES" sz="32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0488" marR="0" lvl="0" indent="-904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es-ES" sz="32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0488" marR="0" lvl="0" indent="-904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es-ES" sz="32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0488" indent="-90488">
              <a:buClr>
                <a:srgbClr val="000000"/>
              </a:buClr>
              <a:buSzPts val="3200"/>
            </a:pPr>
            <a:r>
              <a:rPr lang="es-ES" sz="24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¿Modelo ?   </a:t>
            </a:r>
            <a:r>
              <a:rPr lang="es-E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Es una representación abstracta de un proceso del software</a:t>
            </a:r>
            <a:endParaRPr lang="es-E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488" marR="0" lvl="0" indent="-904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8"/>
          <p:cNvPicPr preferRelativeResize="0"/>
          <p:nvPr/>
        </p:nvPicPr>
        <p:blipFill rotWithShape="1">
          <a:blip r:embed="rId3">
            <a:alphaModFix/>
          </a:blip>
          <a:srcRect l="3044" t="32596" r="9613" b="5913"/>
          <a:stretch/>
        </p:blipFill>
        <p:spPr>
          <a:xfrm>
            <a:off x="3000375" y="2900939"/>
            <a:ext cx="6191250" cy="244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27FA16-AFC0-5B57-7386-4E12A640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2969A4-A416-F67B-D855-98EB7D938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8EB697-F290-26FC-1DA7-42365DA70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3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8FCFACA-72F7-756A-16E0-8490BDAD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400" dirty="0"/>
              <a:t>¿Qué es un proceso de software? - Repaso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/>
          <p:nvPr/>
        </p:nvSpPr>
        <p:spPr>
          <a:xfrm>
            <a:off x="9248775" y="2852738"/>
            <a:ext cx="292576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1200150" y="1786325"/>
            <a:ext cx="9791700" cy="447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AR" sz="32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Actividades fundamentales de los modelos de Proceso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6075" marR="0" lvl="1" indent="-1381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</a:pPr>
            <a:endParaRPr sz="16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1962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•"/>
            </a:pPr>
            <a:r>
              <a:rPr lang="es-AR" sz="32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Especificación del software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81112" marR="0" lvl="3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•"/>
            </a:pPr>
            <a:r>
              <a:rPr lang="es-AR" sz="3200" b="0" i="1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Técnicas de elicitación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81112" marR="0" lvl="3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•"/>
            </a:pPr>
            <a:r>
              <a:rPr lang="es-AR" sz="3200" b="0" i="1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Especificación de requerimientos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1962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•"/>
            </a:pPr>
            <a:r>
              <a:rPr lang="es-AR" sz="32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Desarrollo del software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1962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•"/>
            </a:pPr>
            <a:r>
              <a:rPr lang="es-AR" sz="32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Validación del software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1962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•"/>
            </a:pPr>
            <a:r>
              <a:rPr lang="es-AR" sz="32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Evolución del software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488" marR="0" lvl="0" indent="-904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 rot="-5400000">
            <a:off x="6065838" y="1219200"/>
            <a:ext cx="438150" cy="254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334" y="0"/>
                </a:lnTo>
                <a:lnTo>
                  <a:pt x="334" y="333"/>
                </a:lnTo>
                <a:lnTo>
                  <a:pt x="0" y="333"/>
                </a:lnTo>
                <a:close/>
              </a:path>
              <a:path w="120000" h="120000" fill="none" extrusionOk="0">
                <a:moveTo>
                  <a:pt x="-81" y="0"/>
                </a:moveTo>
                <a:lnTo>
                  <a:pt x="-81" y="333"/>
                </a:lnTo>
              </a:path>
              <a:path w="120000" h="120000" fill="none" extrusionOk="0">
                <a:moveTo>
                  <a:pt x="-81" y="181"/>
                </a:moveTo>
                <a:lnTo>
                  <a:pt x="-37" y="216"/>
                </a:lnTo>
              </a:path>
            </a:pathLst>
          </a:custGeom>
          <a:noFill/>
          <a:ln w="2555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C8A268-E3E0-7977-FD8B-50ACD10F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38E659-E29E-93BF-ADA6-B5889AB3D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CF886F0-58CA-3697-330F-E18F5879C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4</a:t>
            </a:fld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152EF2-7987-054C-BEEE-7FC02761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400" dirty="0"/>
              <a:t>Repaso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1055688" y="1786325"/>
            <a:ext cx="9791700" cy="447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AR" sz="32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Les proponemos ver el video y analizar los inconvenientes que se producen y qué sería necesario para poder resolverlo: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488" marR="0" lvl="0" indent="-904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AR" sz="32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 sz="1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AR" sz="3200" b="0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AR" sz="3200" b="0" i="0" u="sng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https://www.youtube.com/watch?v=93SgXeu-SeY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0" descr="Código QR&#10;&#10;El contenido generado por IA puede ser incorrec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00458" y="3693136"/>
            <a:ext cx="2342857" cy="23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B65494D-7546-8A4C-F2A5-70FA530F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6D0D240-54DF-D1CC-7F61-AA2723E30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1C103C-326A-3252-9872-8919935D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5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24126E0-FAF2-E0DD-E22C-C04419F6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problema de la comunicación - Repaso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/>
          <p:nvPr/>
        </p:nvSpPr>
        <p:spPr>
          <a:xfrm>
            <a:off x="9248775" y="2852738"/>
            <a:ext cx="292576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1353" y="246303"/>
            <a:ext cx="9150303" cy="60422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69884E5-2DE3-D5FA-2B12-0F210247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33A4F77-0B54-45C1-8CD3-ACD8CD478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B0166A-B997-A6BF-D113-71B3E834D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6</a:t>
            </a:fld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9CAC119-6C96-A6C0-E4EF-FEF02D55A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5BDC0F-FA3D-C2DB-F757-9812FD166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3C6C5A-EE61-42AF-C464-6DEFFA7E6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7</a:t>
            </a:fld>
            <a:endParaRPr lang="es-ES"/>
          </a:p>
        </p:txBody>
      </p:sp>
      <p:sp>
        <p:nvSpPr>
          <p:cNvPr id="122" name="Google Shape;122;p12"/>
          <p:cNvSpPr txBox="1">
            <a:spLocks noGrp="1"/>
          </p:cNvSpPr>
          <p:nvPr>
            <p:ph type="title"/>
          </p:nvPr>
        </p:nvSpPr>
        <p:spPr>
          <a:xfrm>
            <a:off x="1097280" y="900332"/>
            <a:ext cx="10058400" cy="837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s-AR" dirty="0"/>
              <a:t>Comunicación</a:t>
            </a:r>
            <a:endParaRPr dirty="0"/>
          </a:p>
        </p:txBody>
      </p:sp>
      <p:sp>
        <p:nvSpPr>
          <p:cNvPr id="123" name="Google Shape;123;p12"/>
          <p:cNvSpPr/>
          <p:nvPr/>
        </p:nvSpPr>
        <p:spPr>
          <a:xfrm>
            <a:off x="1097280" y="1737360"/>
            <a:ext cx="9791700" cy="447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AR" sz="32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¿Cómo comunicar?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</a:pPr>
            <a:r>
              <a:rPr lang="es-ES" sz="28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La </a:t>
            </a:r>
            <a:r>
              <a:rPr lang="es-ES" sz="2800" b="0" i="0" u="sng" strike="noStrike" cap="none" dirty="0">
                <a:latin typeface="Calibri"/>
                <a:ea typeface="Calibri"/>
                <a:cs typeface="Calibri"/>
                <a:sym typeface="Calibri"/>
              </a:rPr>
              <a:t>comunicación</a:t>
            </a:r>
            <a:r>
              <a:rPr lang="es-ES" sz="28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 es el proceso más importante de la interacción humana, una necesidad personal y la forma más completa de crear la realidad. 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</a:pPr>
            <a:r>
              <a:rPr lang="es-ES" sz="28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Las personas comunicamos constantemente, tanto con las palabras (comunicación verbal) como con nuestra actitud y comportamiento (comunicación no verbal).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</a:pPr>
            <a:endParaRPr sz="3200" b="0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7076049" y="4892299"/>
            <a:ext cx="5008677" cy="13233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AR" sz="2000" b="1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Peter Heinemann</a:t>
            </a:r>
            <a:r>
              <a:rPr lang="es-AR" sz="20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  dice que  la comunicación es un proceso de interacción social a través de símbolos y sistemas de mensajes que se producen como parte de la actividad humana.</a:t>
            </a:r>
            <a:endParaRPr sz="2000" b="0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/>
          <p:nvPr/>
        </p:nvSpPr>
        <p:spPr>
          <a:xfrm>
            <a:off x="653976" y="4949553"/>
            <a:ext cx="10780712" cy="61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endParaRPr sz="72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4"/>
          <p:cNvSpPr/>
          <p:nvPr/>
        </p:nvSpPr>
        <p:spPr>
          <a:xfrm>
            <a:off x="550863" y="4359275"/>
            <a:ext cx="92281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4"/>
          <p:cNvSpPr/>
          <p:nvPr/>
        </p:nvSpPr>
        <p:spPr>
          <a:xfrm>
            <a:off x="9266238" y="2781300"/>
            <a:ext cx="2925762" cy="13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400"/>
              <a:buFont typeface="Calibri"/>
              <a:buNone/>
            </a:pPr>
            <a:r>
              <a:rPr lang="es-AR" dirty="0"/>
              <a:t>Elicitación de Requisitos</a:t>
            </a:r>
            <a:endParaRPr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97CDAC4-D5F9-882F-78FC-2910A85BD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sz="32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Elicitación:</a:t>
            </a:r>
          </a:p>
          <a:p>
            <a:pPr algn="just"/>
            <a:r>
              <a:rPr lang="es-ES" sz="32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Proceso de adquirir (“</a:t>
            </a:r>
            <a:r>
              <a:rPr lang="es-ES" sz="3200" dirty="0" err="1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eliciting</a:t>
            </a:r>
            <a:r>
              <a:rPr lang="es-ES" sz="32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”) [sonsacar] todo el conocimiento relevante necesario para producir un modelo de los requerimientos de un dominio de problema.</a:t>
            </a:r>
            <a:endParaRPr lang="es-ES" sz="32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28295D0-DFEB-DAA5-CF8B-E0EED5FA9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Repaso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A5D2ED0-BC2B-3E93-7359-E20038D04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0679D8-F19B-3B06-98E3-0D64E28C5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691CE7-78DA-0303-B15A-A14B02E3E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8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/>
          <p:nvPr/>
        </p:nvSpPr>
        <p:spPr>
          <a:xfrm>
            <a:off x="9248775" y="2852738"/>
            <a:ext cx="292576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1097280" y="1859403"/>
            <a:ext cx="10235724" cy="447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❖"/>
            </a:pPr>
            <a:r>
              <a:rPr lang="es-AR" sz="3200" i="0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Objetivos:</a:t>
            </a:r>
            <a:endParaRPr sz="320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1962" marR="0" lvl="1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ourier New" panose="02070309020205020404" pitchFamily="49" charset="0"/>
              <a:buChar char="o"/>
            </a:pPr>
            <a:r>
              <a:rPr lang="es-AR" sz="28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Conocer el dominio del problema para poder comunicarse con clientes y usuarios y entender sus necesidades.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1962" marR="0" lvl="1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ourier New" panose="02070309020205020404" pitchFamily="49" charset="0"/>
              <a:buChar char="o"/>
            </a:pPr>
            <a:r>
              <a:rPr lang="es-AR" sz="28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Conocer el sistema actual (manual o informatizado).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1962" marR="0" lvl="1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ourier New" panose="02070309020205020404" pitchFamily="49" charset="0"/>
              <a:buChar char="o"/>
            </a:pPr>
            <a:r>
              <a:rPr lang="es-AR" sz="28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Identificar las necesidades, tanto explícitas como implícitas, de clientes y usuarios y sus expectativas sobre el sistema a desarrollar.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488" marR="0" lvl="0" indent="-904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C848858-C5B2-A802-617B-3BEFD7FA6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AA9DF46-4D85-1755-7697-AB8504226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ED55D9-F5A3-AFD7-F71E-D35FDDB8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9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0467FEC-F889-2F18-9DA8-448CA903C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Elicitación de Requisitos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/>
          <p:nvPr/>
        </p:nvSpPr>
        <p:spPr>
          <a:xfrm>
            <a:off x="9248775" y="2852738"/>
            <a:ext cx="292576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8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92075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Whitten Bentley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2075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8"/>
          <p:cNvSpPr txBox="1"/>
          <p:nvPr/>
        </p:nvSpPr>
        <p:spPr>
          <a:xfrm>
            <a:off x="1112501" y="1854370"/>
            <a:ext cx="10099982" cy="46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Recolección de hechos a partir de la documentación existente.</a:t>
            </a:r>
          </a:p>
          <a:p>
            <a:pPr marL="0" marR="0" lvl="0" indent="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" marR="0" lvl="1" indent="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¿Qué tipo de documentos pueden enseñar algo acerca del sistema?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2" indent="-4572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Char char="•"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Organigrama (identificar el propietario, usuarios claves).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2" indent="-4572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Char char="•"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Memos, notas internas, minutas, registros contables.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2" indent="-4572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Char char="•"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Solicitudes de proyectos de sistemas de información anteriores.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0604" marR="0" lvl="1" indent="-2571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Char char=" "/>
            </a:pPr>
            <a:endParaRPr lang="es-AR"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" marR="0" lvl="1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Permiten conocer el historial que origina el proyecto.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" marR="0" lvl="0" indent="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28"/>
          <p:cNvPicPr preferRelativeResize="0"/>
          <p:nvPr/>
        </p:nvPicPr>
        <p:blipFill rotWithShape="1">
          <a:blip r:embed="rId3">
            <a:alphaModFix/>
          </a:blip>
          <a:srcRect t="22035" r="4306"/>
          <a:stretch>
            <a:fillRect/>
          </a:stretch>
        </p:blipFill>
        <p:spPr>
          <a:xfrm>
            <a:off x="9015729" y="4352929"/>
            <a:ext cx="3081481" cy="191108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362BE63-8B72-0A95-13C7-C7797F97A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CFC833B-01DD-F52E-23EA-257C4BA96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2B1A38-F2F5-63E7-A6EC-1374434B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10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8E10B86-26AD-D553-C66D-2336CEECC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9748911" cy="1450757"/>
          </a:xfrm>
        </p:spPr>
        <p:txBody>
          <a:bodyPr/>
          <a:lstStyle/>
          <a:p>
            <a:r>
              <a:rPr lang="es-ES" sz="4000" dirty="0"/>
              <a:t>Muestreo de la documentación, los formularios y los datos existentes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/>
          <p:nvPr/>
        </p:nvSpPr>
        <p:spPr>
          <a:xfrm>
            <a:off x="9248775" y="2852738"/>
            <a:ext cx="292576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9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92075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Whitten Bentley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2075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EB8137-568E-230D-55B7-FFD92E0F1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D168D34-27A9-10A8-BD1A-36081FD8A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8A7B91-F54B-3D88-8667-8C8E7B98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11</a:t>
            </a:fld>
            <a:endParaRPr lang="es-ES"/>
          </a:p>
        </p:txBody>
      </p:sp>
      <p:sp>
        <p:nvSpPr>
          <p:cNvPr id="168" name="Google Shape;168;p29"/>
          <p:cNvSpPr txBox="1">
            <a:spLocks noGrp="1"/>
          </p:cNvSpPr>
          <p:nvPr>
            <p:ph type="title"/>
          </p:nvPr>
        </p:nvSpPr>
        <p:spPr>
          <a:xfrm>
            <a:off x="1097280" y="942535"/>
            <a:ext cx="10058400" cy="79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es-AR" dirty="0"/>
              <a:t>Observación del ambiente de trabajo</a:t>
            </a:r>
            <a:endParaRPr dirty="0"/>
          </a:p>
        </p:txBody>
      </p:sp>
      <p:pic>
        <p:nvPicPr>
          <p:cNvPr id="169" name="Google Shape;169;p29"/>
          <p:cNvPicPr preferRelativeResize="0"/>
          <p:nvPr/>
        </p:nvPicPr>
        <p:blipFill rotWithShape="1">
          <a:blip r:embed="rId3">
            <a:alphaModFix/>
          </a:blip>
          <a:srcRect l="12351" r="4781" b="13989"/>
          <a:stretch>
            <a:fillRect/>
          </a:stretch>
        </p:blipFill>
        <p:spPr>
          <a:xfrm>
            <a:off x="9007002" y="4296657"/>
            <a:ext cx="3070800" cy="19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56;p28">
            <a:extLst>
              <a:ext uri="{FF2B5EF4-FFF2-40B4-BE49-F238E27FC236}">
                <a16:creationId xmlns:a16="http://schemas.microsoft.com/office/drawing/2014/main" id="{1A99A515-819E-3D83-0841-D3530091B0E3}"/>
              </a:ext>
            </a:extLst>
          </p:cNvPr>
          <p:cNvSpPr txBox="1"/>
          <p:nvPr/>
        </p:nvSpPr>
        <p:spPr>
          <a:xfrm>
            <a:off x="1112501" y="1854370"/>
            <a:ext cx="10099982" cy="46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just">
              <a:lnSpc>
                <a:spcPct val="85000"/>
              </a:lnSpc>
              <a:buClr>
                <a:srgbClr val="000000"/>
              </a:buClr>
              <a:buSzPts val="2400"/>
            </a:pPr>
            <a:r>
              <a:rPr lang="es-ES" sz="28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El analista se convierte en observador de las personas y actividades con el objeto de aprender acerca del sistema.</a:t>
            </a:r>
          </a:p>
          <a:p>
            <a:pPr lvl="0" algn="just">
              <a:lnSpc>
                <a:spcPct val="85000"/>
              </a:lnSpc>
              <a:spcBef>
                <a:spcPts val="975"/>
              </a:spcBef>
              <a:buClr>
                <a:srgbClr val="000000"/>
              </a:buClr>
              <a:buSzPts val="2400"/>
            </a:pPr>
            <a:r>
              <a:rPr lang="es-ES" sz="28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Lineamientos de la observación:</a:t>
            </a:r>
          </a:p>
          <a:p>
            <a:pPr marL="346329" lvl="1" indent="-342900" algn="just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2400"/>
              <a:buFont typeface="Arial"/>
              <a:buChar char="•"/>
            </a:pPr>
            <a:r>
              <a:rPr lang="es-ES" sz="28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Determinar quién y cuándo será observado.</a:t>
            </a:r>
          </a:p>
          <a:p>
            <a:pPr marL="346329" lvl="1" indent="-342900" algn="just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2400"/>
              <a:buFont typeface="Arial"/>
              <a:buChar char="•"/>
            </a:pPr>
            <a:r>
              <a:rPr lang="es-ES" sz="28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Obtener el permiso de la persona y explicar el porqué será observado.</a:t>
            </a:r>
          </a:p>
          <a:p>
            <a:pPr marL="346329" lvl="1" indent="-342900" algn="just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2400"/>
              <a:buFont typeface="Arial"/>
              <a:buChar char="•"/>
            </a:pPr>
            <a:r>
              <a:rPr lang="es-ES" sz="28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Mantener bajo perfil.</a:t>
            </a:r>
          </a:p>
          <a:p>
            <a:pPr marL="346329" lvl="1" indent="-342900" algn="just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2400"/>
              <a:buFont typeface="Arial"/>
              <a:buChar char="•"/>
            </a:pPr>
            <a:r>
              <a:rPr lang="es-ES" sz="28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Tomar nota de lo observado.</a:t>
            </a:r>
          </a:p>
          <a:p>
            <a:pPr marL="346329" lvl="1" indent="-342900" algn="just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2400"/>
              <a:buFont typeface="Arial"/>
              <a:buChar char="•"/>
            </a:pPr>
            <a:r>
              <a:rPr lang="es-ES" sz="28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Revisar las notas con la persona apropiada.</a:t>
            </a:r>
          </a:p>
          <a:p>
            <a:pPr marL="346329" lvl="1" indent="-342900" algn="just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2400"/>
              <a:buFont typeface="Arial"/>
              <a:buChar char="•"/>
            </a:pPr>
            <a:r>
              <a:rPr lang="es-ES" sz="28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No interrumpir a la persona en su trabajo.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/>
          <p:nvPr/>
        </p:nvSpPr>
        <p:spPr>
          <a:xfrm>
            <a:off x="9248775" y="2852738"/>
            <a:ext cx="292576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0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92075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Whitten Bentley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2075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0"/>
          <p:cNvSpPr txBox="1"/>
          <p:nvPr/>
        </p:nvSpPr>
        <p:spPr>
          <a:xfrm>
            <a:off x="1054994" y="1914069"/>
            <a:ext cx="9793088" cy="2840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908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Investigar el dominio del problema. 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9080" marR="0" lvl="0" indent="-34290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Patrones de soluciones (mismo problema en otra organización).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9080" marR="0" lvl="0" indent="-34290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Revistas especializadas.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9080" marR="0" lvl="0" indent="-34290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Buscar problemas similares en internet.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9080" marR="0" lvl="0" indent="-34290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Consultar otras organizaciones.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5670" y="4310725"/>
            <a:ext cx="3081600" cy="19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2447E0F-1671-8565-EA4C-7D68924C82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</p:spPr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F487774-4168-1FD8-4066-634308A5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D865BB-7CAA-A1F1-D420-8FEDF003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EE93AC9C-ACC0-4EC3-93B1-4DD7B869C923}" type="slidenum">
              <a:rPr lang="es-ES" smtClean="0"/>
              <a:pPr/>
              <a:t>12</a:t>
            </a:fld>
            <a:endParaRPr lang="es-ES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5CEA4A6C-DDAD-2659-C7B2-94CFEAF07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Visitas al sitio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92075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Whitten Bentley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2075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" name="Google Shape;190;p31"/>
          <p:cNvGrpSpPr/>
          <p:nvPr/>
        </p:nvGrpSpPr>
        <p:grpSpPr>
          <a:xfrm>
            <a:off x="2278466" y="2143088"/>
            <a:ext cx="7696027" cy="3431260"/>
            <a:chOff x="755576" y="1777328"/>
            <a:chExt cx="7696027" cy="3431260"/>
          </a:xfrm>
        </p:grpSpPr>
        <p:sp>
          <p:nvSpPr>
            <p:cNvPr id="191" name="Google Shape;191;p31"/>
            <p:cNvSpPr/>
            <p:nvPr/>
          </p:nvSpPr>
          <p:spPr>
            <a:xfrm>
              <a:off x="2928864" y="2795588"/>
              <a:ext cx="2946400" cy="431800"/>
            </a:xfrm>
            <a:prstGeom prst="rect">
              <a:avLst/>
            </a:prstGeom>
            <a:noFill/>
            <a:ln w="25400" cap="flat" cmpd="sng">
              <a:solidFill>
                <a:srgbClr val="0A024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31"/>
            <p:cNvSpPr/>
            <p:nvPr/>
          </p:nvSpPr>
          <p:spPr>
            <a:xfrm>
              <a:off x="2965376" y="2824163"/>
              <a:ext cx="2933700" cy="363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AR" sz="18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Velocidad de conclusión</a:t>
              </a:r>
              <a:endParaRPr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31"/>
            <p:cNvSpPr/>
            <p:nvPr/>
          </p:nvSpPr>
          <p:spPr>
            <a:xfrm>
              <a:off x="2928864" y="3328988"/>
              <a:ext cx="2946400" cy="431800"/>
            </a:xfrm>
            <a:prstGeom prst="rect">
              <a:avLst/>
            </a:prstGeom>
            <a:noFill/>
            <a:ln w="25400" cap="flat" cmpd="sng">
              <a:solidFill>
                <a:srgbClr val="0A024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31"/>
            <p:cNvSpPr/>
            <p:nvPr/>
          </p:nvSpPr>
          <p:spPr>
            <a:xfrm>
              <a:off x="2965376" y="3357563"/>
              <a:ext cx="2933700" cy="363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AR" sz="18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Naturaleza exploratoria</a:t>
              </a:r>
              <a:endParaRPr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31"/>
            <p:cNvSpPr/>
            <p:nvPr/>
          </p:nvSpPr>
          <p:spPr>
            <a:xfrm>
              <a:off x="2928864" y="3709988"/>
              <a:ext cx="2946400" cy="431800"/>
            </a:xfrm>
            <a:prstGeom prst="rect">
              <a:avLst/>
            </a:prstGeom>
            <a:noFill/>
            <a:ln w="25400" cap="flat" cmpd="sng">
              <a:solidFill>
                <a:srgbClr val="0A024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31"/>
            <p:cNvSpPr/>
            <p:nvPr/>
          </p:nvSpPr>
          <p:spPr>
            <a:xfrm>
              <a:off x="2928864" y="4243388"/>
              <a:ext cx="2946400" cy="431800"/>
            </a:xfrm>
            <a:prstGeom prst="rect">
              <a:avLst/>
            </a:prstGeom>
            <a:noFill/>
            <a:ln w="25400" cap="flat" cmpd="sng">
              <a:solidFill>
                <a:srgbClr val="0A024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31"/>
            <p:cNvSpPr/>
            <p:nvPr/>
          </p:nvSpPr>
          <p:spPr>
            <a:xfrm>
              <a:off x="2965376" y="4271963"/>
              <a:ext cx="2933700" cy="363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AR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Facilidad de preparación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31"/>
            <p:cNvSpPr/>
            <p:nvPr/>
          </p:nvSpPr>
          <p:spPr>
            <a:xfrm>
              <a:off x="2928864" y="4776788"/>
              <a:ext cx="2946400" cy="431800"/>
            </a:xfrm>
            <a:prstGeom prst="rect">
              <a:avLst/>
            </a:prstGeom>
            <a:noFill/>
            <a:ln w="25400" cap="flat" cmpd="sng">
              <a:solidFill>
                <a:srgbClr val="0A024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31"/>
            <p:cNvSpPr/>
            <p:nvPr/>
          </p:nvSpPr>
          <p:spPr>
            <a:xfrm>
              <a:off x="2965376" y="4805363"/>
              <a:ext cx="2933700" cy="363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AR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Facilidad de Análisis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31"/>
            <p:cNvCxnSpPr/>
            <p:nvPr/>
          </p:nvCxnSpPr>
          <p:spPr>
            <a:xfrm rot="10800000">
              <a:off x="1758876" y="3011488"/>
              <a:ext cx="117633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1" name="Google Shape;201;p31"/>
            <p:cNvCxnSpPr/>
            <p:nvPr/>
          </p:nvCxnSpPr>
          <p:spPr>
            <a:xfrm rot="10800000">
              <a:off x="1758876" y="3544888"/>
              <a:ext cx="117633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2" name="Google Shape;202;p31"/>
            <p:cNvCxnSpPr/>
            <p:nvPr/>
          </p:nvCxnSpPr>
          <p:spPr>
            <a:xfrm rot="10800000">
              <a:off x="1758876" y="3925888"/>
              <a:ext cx="117633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3" name="Google Shape;203;p31"/>
            <p:cNvCxnSpPr/>
            <p:nvPr/>
          </p:nvCxnSpPr>
          <p:spPr>
            <a:xfrm rot="10800000">
              <a:off x="1758876" y="4459288"/>
              <a:ext cx="117633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4" name="Google Shape;204;p31"/>
            <p:cNvCxnSpPr/>
            <p:nvPr/>
          </p:nvCxnSpPr>
          <p:spPr>
            <a:xfrm rot="10800000">
              <a:off x="1758876" y="4992688"/>
              <a:ext cx="117633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5" name="Google Shape;205;p31"/>
            <p:cNvCxnSpPr/>
            <p:nvPr/>
          </p:nvCxnSpPr>
          <p:spPr>
            <a:xfrm rot="10800000">
              <a:off x="5873676" y="3011488"/>
              <a:ext cx="117633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none" w="sm" len="sm"/>
            </a:ln>
          </p:spPr>
        </p:cxnSp>
        <p:cxnSp>
          <p:nvCxnSpPr>
            <p:cNvPr id="206" name="Google Shape;206;p31"/>
            <p:cNvCxnSpPr/>
            <p:nvPr/>
          </p:nvCxnSpPr>
          <p:spPr>
            <a:xfrm rot="10800000">
              <a:off x="5873676" y="3544888"/>
              <a:ext cx="117633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none" w="sm" len="sm"/>
            </a:ln>
          </p:spPr>
        </p:cxnSp>
        <p:cxnSp>
          <p:nvCxnSpPr>
            <p:cNvPr id="207" name="Google Shape;207;p31"/>
            <p:cNvCxnSpPr/>
            <p:nvPr/>
          </p:nvCxnSpPr>
          <p:spPr>
            <a:xfrm rot="10800000">
              <a:off x="5873676" y="3925888"/>
              <a:ext cx="117633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none" w="sm" len="sm"/>
            </a:ln>
          </p:spPr>
        </p:cxnSp>
        <p:cxnSp>
          <p:nvCxnSpPr>
            <p:cNvPr id="208" name="Google Shape;208;p31"/>
            <p:cNvCxnSpPr/>
            <p:nvPr/>
          </p:nvCxnSpPr>
          <p:spPr>
            <a:xfrm rot="10800000">
              <a:off x="5873676" y="4459288"/>
              <a:ext cx="117633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none" w="sm" len="sm"/>
            </a:ln>
          </p:spPr>
        </p:cxnSp>
        <p:cxnSp>
          <p:nvCxnSpPr>
            <p:cNvPr id="209" name="Google Shape;209;p31"/>
            <p:cNvCxnSpPr/>
            <p:nvPr/>
          </p:nvCxnSpPr>
          <p:spPr>
            <a:xfrm rot="10800000">
              <a:off x="5873676" y="4992688"/>
              <a:ext cx="117633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none" w="sm" len="sm"/>
            </a:ln>
          </p:spPr>
        </p:cxnSp>
        <p:sp>
          <p:nvSpPr>
            <p:cNvPr id="210" name="Google Shape;210;p31"/>
            <p:cNvSpPr/>
            <p:nvPr/>
          </p:nvSpPr>
          <p:spPr>
            <a:xfrm>
              <a:off x="755576" y="2290763"/>
              <a:ext cx="1208665" cy="3975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AR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Abiertas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31"/>
            <p:cNvSpPr/>
            <p:nvPr/>
          </p:nvSpPr>
          <p:spPr>
            <a:xfrm>
              <a:off x="984176" y="2824163"/>
              <a:ext cx="823945" cy="3975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AR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Lenta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1"/>
            <p:cNvSpPr/>
            <p:nvPr/>
          </p:nvSpPr>
          <p:spPr>
            <a:xfrm>
              <a:off x="7156376" y="2290763"/>
              <a:ext cx="1295227" cy="3975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AR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Cerradas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1"/>
            <p:cNvSpPr/>
            <p:nvPr/>
          </p:nvSpPr>
          <p:spPr>
            <a:xfrm>
              <a:off x="3048317" y="1777328"/>
              <a:ext cx="2760662" cy="828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AR" sz="24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Tipos de Preguntas</a:t>
              </a:r>
              <a:endParaRPr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1"/>
            <p:cNvSpPr/>
            <p:nvPr/>
          </p:nvSpPr>
          <p:spPr>
            <a:xfrm>
              <a:off x="984176" y="3357563"/>
              <a:ext cx="625172" cy="3975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AR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Alta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1"/>
            <p:cNvSpPr/>
            <p:nvPr/>
          </p:nvSpPr>
          <p:spPr>
            <a:xfrm>
              <a:off x="984176" y="3738563"/>
              <a:ext cx="625172" cy="3975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AR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Alta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1"/>
            <p:cNvSpPr/>
            <p:nvPr/>
          </p:nvSpPr>
          <p:spPr>
            <a:xfrm>
              <a:off x="984176" y="4271963"/>
              <a:ext cx="726162" cy="3975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AR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Fácil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31"/>
            <p:cNvSpPr/>
            <p:nvPr/>
          </p:nvSpPr>
          <p:spPr>
            <a:xfrm>
              <a:off x="984176" y="4729163"/>
              <a:ext cx="811120" cy="3975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AR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Difícil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31"/>
            <p:cNvSpPr/>
            <p:nvPr/>
          </p:nvSpPr>
          <p:spPr>
            <a:xfrm>
              <a:off x="7156376" y="2824163"/>
              <a:ext cx="997069" cy="3975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AR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Rápida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31"/>
            <p:cNvSpPr/>
            <p:nvPr/>
          </p:nvSpPr>
          <p:spPr>
            <a:xfrm>
              <a:off x="7156376" y="3357563"/>
              <a:ext cx="767840" cy="3975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AR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Poca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31"/>
            <p:cNvSpPr/>
            <p:nvPr/>
          </p:nvSpPr>
          <p:spPr>
            <a:xfrm>
              <a:off x="7156376" y="3738563"/>
              <a:ext cx="767840" cy="3975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AR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Poca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31"/>
            <p:cNvSpPr/>
            <p:nvPr/>
          </p:nvSpPr>
          <p:spPr>
            <a:xfrm>
              <a:off x="7156376" y="4271963"/>
              <a:ext cx="811120" cy="3975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AR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Difícil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31"/>
            <p:cNvSpPr/>
            <p:nvPr/>
          </p:nvSpPr>
          <p:spPr>
            <a:xfrm>
              <a:off x="7156376" y="4729163"/>
              <a:ext cx="726162" cy="3975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AR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Fácil</a:t>
              </a: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31"/>
            <p:cNvSpPr/>
            <p:nvPr/>
          </p:nvSpPr>
          <p:spPr>
            <a:xfrm>
              <a:off x="2965376" y="3772571"/>
              <a:ext cx="2933700" cy="363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AR" sz="18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Amplitud y profundidad</a:t>
              </a:r>
              <a:endParaRPr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9CE401E-E257-5A18-CECA-4CA2C928E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3DCD101-3FFC-611E-D0C6-43CBF1513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96D1DC-3D30-7E0C-73BB-8D792744A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13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0F1F551-4DF6-14A1-61EE-D83FAEB16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/>
          <p:nvPr/>
        </p:nvSpPr>
        <p:spPr>
          <a:xfrm>
            <a:off x="676275" y="1998663"/>
            <a:ext cx="4662488" cy="3767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90488" marR="0" lvl="0" indent="-904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2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32" descr="Diagrama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 t="15164"/>
          <a:stretch>
            <a:fillRect/>
          </a:stretch>
        </p:blipFill>
        <p:spPr>
          <a:xfrm>
            <a:off x="563880" y="1786325"/>
            <a:ext cx="11125200" cy="44261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C011670-2A12-88EB-93C0-94B95E151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707A15-EEDF-8EC2-2966-50FC4007F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DB1FD1-8932-987D-8861-5B8BF69C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14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A3F0178-345C-BE96-6EB3-0601F0A70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Entrevistas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18F2246-7DAF-94C2-5EAF-08718AFF1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FFBE182-C3DC-78C4-43BD-F4377C676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C5EDE9-DBC6-7B03-54EF-51346915D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15</a:t>
            </a:fld>
            <a:endParaRPr lang="es-ES"/>
          </a:p>
        </p:txBody>
      </p:sp>
      <p:sp>
        <p:nvSpPr>
          <p:cNvPr id="237" name="Google Shape;237;p80"/>
          <p:cNvSpPr txBox="1">
            <a:spLocks noGrp="1"/>
          </p:cNvSpPr>
          <p:nvPr>
            <p:ph type="title"/>
          </p:nvPr>
        </p:nvSpPr>
        <p:spPr>
          <a:xfrm>
            <a:off x="1097280" y="998806"/>
            <a:ext cx="10058400" cy="7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s-AR" dirty="0"/>
              <a:t>Organización de las entrevistas</a:t>
            </a:r>
            <a:endParaRPr dirty="0"/>
          </a:p>
        </p:txBody>
      </p:sp>
      <p:sp>
        <p:nvSpPr>
          <p:cNvPr id="238" name="Google Shape;238;p80"/>
          <p:cNvSpPr txBox="1"/>
          <p:nvPr/>
        </p:nvSpPr>
        <p:spPr>
          <a:xfrm>
            <a:off x="928468" y="1902579"/>
            <a:ext cx="9488012" cy="447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" marR="0" lvl="0" indent="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0604" marR="0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Char char=" "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Piramidal  (Inductivo)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0604" marR="0" lvl="1" indent="-130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0604" marR="0" lvl="1" indent="-130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0604" marR="0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Char char=" "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Embudo (Deductivo)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0604" marR="0" lvl="1" indent="-130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0604" marR="0" lvl="1" indent="-130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0604" marR="0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Char char=" "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Diamante (</a:t>
            </a:r>
            <a:r>
              <a:rPr lang="es-AR" sz="2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Comb</a:t>
            </a: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de las anteriores)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0"/>
          <p:cNvSpPr/>
          <p:nvPr/>
        </p:nvSpPr>
        <p:spPr>
          <a:xfrm>
            <a:off x="5231904" y="1902579"/>
            <a:ext cx="1440160" cy="936104"/>
          </a:xfrm>
          <a:prstGeom prst="triangle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127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0"/>
          <p:cNvSpPr/>
          <p:nvPr/>
        </p:nvSpPr>
        <p:spPr>
          <a:xfrm>
            <a:off x="5231904" y="3429000"/>
            <a:ext cx="1440160" cy="864096"/>
          </a:xfrm>
          <a:prstGeom prst="flowChartMerge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0"/>
          <p:cNvSpPr/>
          <p:nvPr/>
        </p:nvSpPr>
        <p:spPr>
          <a:xfrm>
            <a:off x="6995621" y="4491042"/>
            <a:ext cx="1224136" cy="1368152"/>
          </a:xfrm>
          <a:prstGeom prst="flowChartSor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1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81"/>
          <p:cNvPicPr preferRelativeResize="0"/>
          <p:nvPr/>
        </p:nvPicPr>
        <p:blipFill rotWithShape="1">
          <a:blip r:embed="rId3">
            <a:alphaModFix/>
          </a:blip>
          <a:srcRect t="1" b="60183"/>
          <a:stretch>
            <a:fillRect/>
          </a:stretch>
        </p:blipFill>
        <p:spPr>
          <a:xfrm>
            <a:off x="2037791" y="1751428"/>
            <a:ext cx="8177378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DF37525-2CAF-25F9-5CB9-E48A51363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E4655D6-9D84-1D0C-3AA8-72153B163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518A51-E535-E6E2-75C9-323A484CF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16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EDE4D14-0AF0-8BBE-CDC4-AB6A4C705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de </a:t>
            </a:r>
            <a:r>
              <a:rPr lang="es-ES" dirty="0" err="1"/>
              <a:t>guión</a:t>
            </a:r>
            <a:endParaRPr lang="es-E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2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82"/>
          <p:cNvPicPr preferRelativeResize="0"/>
          <p:nvPr/>
        </p:nvPicPr>
        <p:blipFill rotWithShape="1">
          <a:blip r:embed="rId3">
            <a:alphaModFix/>
          </a:blip>
          <a:srcRect t="59839" b="3779"/>
          <a:stretch>
            <a:fillRect/>
          </a:stretch>
        </p:blipFill>
        <p:spPr>
          <a:xfrm>
            <a:off x="2036880" y="1899137"/>
            <a:ext cx="8179200" cy="436098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3FF5D30-44DC-1379-0E5E-3C576971C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0BB71E-261B-171B-96B7-29461C7C6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734727-AC08-2964-CD24-083689DBA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17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3131205-57B6-0B0A-CCAA-58196EA3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de </a:t>
            </a:r>
            <a:r>
              <a:rPr lang="es-ES" dirty="0" err="1"/>
              <a:t>guión</a:t>
            </a:r>
            <a:endParaRPr lang="es-E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/>
          <p:nvPr/>
        </p:nvSpPr>
        <p:spPr>
          <a:xfrm>
            <a:off x="9248775" y="2852738"/>
            <a:ext cx="292576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3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92075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AR" sz="11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Whitten Bentley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2075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3"/>
          <p:cNvSpPr/>
          <p:nvPr/>
        </p:nvSpPr>
        <p:spPr>
          <a:xfrm>
            <a:off x="623888" y="1901825"/>
            <a:ext cx="9791700" cy="447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33"/>
          <p:cNvPicPr preferRelativeResize="0"/>
          <p:nvPr/>
        </p:nvPicPr>
        <p:blipFill rotWithShape="1">
          <a:blip r:embed="rId3">
            <a:alphaModFix/>
          </a:blip>
          <a:srcRect l="1860" t="8180" r="5067" b="4868"/>
          <a:stretch/>
        </p:blipFill>
        <p:spPr>
          <a:xfrm>
            <a:off x="2638059" y="1769233"/>
            <a:ext cx="6976841" cy="447073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46CB8C9-88FD-BDCA-7340-C072170E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9EAA898-4321-E203-0CDF-15CD8CF9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F272A2-3AA6-2C83-83FA-0E1B09E1A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18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0B83019-1845-6B0C-8276-47CBAC2F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JRP - Planificación Conjunta de Requisitos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4"/>
          <p:cNvSpPr/>
          <p:nvPr/>
        </p:nvSpPr>
        <p:spPr>
          <a:xfrm>
            <a:off x="623888" y="1901825"/>
            <a:ext cx="9791700" cy="447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90488" marR="0" lvl="0" indent="-904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34" descr="http://playpublicidad.com/prohibidodetenerse/wp-content/uploads/2014/06/nota_brainstorming.jpg"/>
          <p:cNvPicPr preferRelativeResize="0"/>
          <p:nvPr/>
        </p:nvPicPr>
        <p:blipFill rotWithShape="1">
          <a:blip r:embed="rId3">
            <a:alphaModFix/>
          </a:blip>
          <a:srcRect l="3559" t="7797" r="1544" b="7763"/>
          <a:stretch>
            <a:fillRect/>
          </a:stretch>
        </p:blipFill>
        <p:spPr>
          <a:xfrm>
            <a:off x="3767796" y="3038622"/>
            <a:ext cx="4656407" cy="275726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4AF3AEF-56B6-B8B7-8C22-0C31F203D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DE58995-7EC1-D8A6-1F64-1385AB917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2A0D27-1F02-1A91-A68B-C186D2159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19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100085E-52B7-48E3-DF52-1BF520768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Brainstorming</a:t>
            </a:r>
            <a:endParaRPr lang="es-ES" dirty="0"/>
          </a:p>
        </p:txBody>
      </p:sp>
      <p:sp>
        <p:nvSpPr>
          <p:cNvPr id="6" name="Google Shape;156;p28">
            <a:extLst>
              <a:ext uri="{FF2B5EF4-FFF2-40B4-BE49-F238E27FC236}">
                <a16:creationId xmlns:a16="http://schemas.microsoft.com/office/drawing/2014/main" id="{2C7BCA23-8360-949B-A339-9CFA906D435D}"/>
              </a:ext>
            </a:extLst>
          </p:cNvPr>
          <p:cNvSpPr txBox="1"/>
          <p:nvPr/>
        </p:nvSpPr>
        <p:spPr>
          <a:xfrm>
            <a:off x="1112501" y="1854370"/>
            <a:ext cx="10099982" cy="46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just">
              <a:lnSpc>
                <a:spcPct val="85000"/>
              </a:lnSpc>
              <a:buClr>
                <a:srgbClr val="000000"/>
              </a:buClr>
              <a:buSzPts val="2400"/>
            </a:pPr>
            <a:r>
              <a:rPr lang="es-ES" sz="28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Técnica para generar ideas al alentar a los participantes para que ofrezcan tantas ideas como sea posible, en un corto tiempo, sin ningún análisis hasta que se hayan agotado las ideas.</a:t>
            </a:r>
            <a:endParaRPr lang="es-ES" sz="16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68580" lvl="0" indent="83820" algn="just">
              <a:lnSpc>
                <a:spcPct val="85000"/>
              </a:lnSpc>
              <a:buClr>
                <a:srgbClr val="000000"/>
              </a:buClr>
              <a:buSzPts val="2400"/>
            </a:pPr>
            <a:endParaRPr lang="es-ES" sz="28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68580" lvl="0" indent="83820" algn="just">
              <a:lnSpc>
                <a:spcPct val="85000"/>
              </a:lnSpc>
              <a:buClr>
                <a:srgbClr val="000000"/>
              </a:buClr>
              <a:buSzPts val="2400"/>
            </a:pPr>
            <a:endParaRPr lang="es-ES" sz="28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68580" lvl="0" indent="83820" algn="just">
              <a:lnSpc>
                <a:spcPct val="85000"/>
              </a:lnSpc>
              <a:buClr>
                <a:srgbClr val="000000"/>
              </a:buClr>
              <a:buSzPts val="2400"/>
            </a:pPr>
            <a:endParaRPr lang="es-ES" sz="28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68580" lvl="0" indent="83820" algn="just">
              <a:lnSpc>
                <a:spcPct val="85000"/>
              </a:lnSpc>
              <a:buClr>
                <a:srgbClr val="000000"/>
              </a:buClr>
              <a:buSzPts val="2400"/>
            </a:pPr>
            <a:endParaRPr lang="es-ES" sz="28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68580" lvl="0" indent="83820" algn="just">
              <a:lnSpc>
                <a:spcPct val="85000"/>
              </a:lnSpc>
              <a:buClr>
                <a:srgbClr val="000000"/>
              </a:buClr>
              <a:buSzPts val="2400"/>
            </a:pPr>
            <a:endParaRPr lang="es-ES" sz="28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68580" lvl="0" indent="83820" algn="just">
              <a:lnSpc>
                <a:spcPct val="85000"/>
              </a:lnSpc>
              <a:buClr>
                <a:srgbClr val="000000"/>
              </a:buClr>
              <a:buSzPts val="2400"/>
            </a:pPr>
            <a:endParaRPr lang="es-ES" sz="28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68580" lvl="0" indent="83820" algn="just">
              <a:lnSpc>
                <a:spcPct val="85000"/>
              </a:lnSpc>
              <a:buClr>
                <a:srgbClr val="000000"/>
              </a:buClr>
              <a:buSzPts val="2400"/>
            </a:pPr>
            <a:endParaRPr lang="es-ES" sz="28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68580" lvl="0" indent="83820" algn="just">
              <a:lnSpc>
                <a:spcPct val="85000"/>
              </a:lnSpc>
              <a:buClr>
                <a:srgbClr val="000000"/>
              </a:buClr>
              <a:buSzPts val="2400"/>
            </a:pPr>
            <a:endParaRPr lang="es-ES" sz="16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lvl="0" algn="just">
              <a:lnSpc>
                <a:spcPct val="85000"/>
              </a:lnSpc>
              <a:spcBef>
                <a:spcPts val="975"/>
              </a:spcBef>
              <a:buClr>
                <a:srgbClr val="000000"/>
              </a:buClr>
              <a:buSzPts val="2400"/>
            </a:pPr>
            <a:r>
              <a:rPr lang="es-ES" sz="2400" i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Se promueve el desarrollo de ideas creativas para obtener soluciones.</a:t>
            </a:r>
            <a:endParaRPr lang="es-ES" sz="1400" i="1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"/>
          <p:cNvSpPr/>
          <p:nvPr/>
        </p:nvSpPr>
        <p:spPr>
          <a:xfrm>
            <a:off x="550863" y="5073650"/>
            <a:ext cx="10780712" cy="61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AR" sz="7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"/>
          <p:cNvSpPr/>
          <p:nvPr/>
        </p:nvSpPr>
        <p:spPr>
          <a:xfrm>
            <a:off x="550863" y="4359275"/>
            <a:ext cx="92281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"/>
          <p:cNvSpPr/>
          <p:nvPr/>
        </p:nvSpPr>
        <p:spPr>
          <a:xfrm>
            <a:off x="9266238" y="2781300"/>
            <a:ext cx="2925762" cy="13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400"/>
              <a:buFont typeface="Calibri"/>
              <a:buNone/>
            </a:pPr>
            <a:r>
              <a:rPr lang="es-AR" dirty="0"/>
              <a:t>Requerimientos</a:t>
            </a:r>
            <a:endParaRPr dirty="0"/>
          </a:p>
        </p:txBody>
      </p:sp>
      <p:sp>
        <p:nvSpPr>
          <p:cNvPr id="292" name="Google Shape;292;p2"/>
          <p:cNvSpPr txBox="1">
            <a:spLocks noGrp="1"/>
          </p:cNvSpPr>
          <p:nvPr>
            <p:ph type="body" sz="half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AR" sz="2000" dirty="0"/>
              <a:t>Repaso</a:t>
            </a:r>
            <a:endParaRPr sz="200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301577-2CE9-0523-2E58-216897EFA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1E5DBFC-49A1-47AC-563D-34449CD0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B346E7-BE15-7C84-DE10-4DBC50E1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20</a:t>
            </a:fld>
            <a:endParaRPr lang="es-ES"/>
          </a:p>
        </p:txBody>
      </p:sp>
      <p:pic>
        <p:nvPicPr>
          <p:cNvPr id="6" name="Google Shape;301;p4" descr="Diagrama&#10;&#10;El contenido generado por IA puede ser incorrecto.">
            <a:extLst>
              <a:ext uri="{FF2B5EF4-FFF2-40B4-BE49-F238E27FC236}">
                <a16:creationId xmlns:a16="http://schemas.microsoft.com/office/drawing/2014/main" id="{B539028A-8270-D150-5A62-8A4349BA256D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800600" y="1090450"/>
            <a:ext cx="6492875" cy="454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"/>
          <p:cNvSpPr/>
          <p:nvPr/>
        </p:nvSpPr>
        <p:spPr>
          <a:xfrm>
            <a:off x="9248775" y="2852738"/>
            <a:ext cx="292576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1097280" y="1844824"/>
            <a:ext cx="10227212" cy="447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61962" marR="0" lvl="1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AR" sz="2800" b="0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Documento, también denominado </a:t>
            </a:r>
            <a:r>
              <a:rPr lang="es-AR" sz="2800" b="1" i="1" u="sng" strike="noStrike" cap="none" dirty="0" err="1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ConOps</a:t>
            </a:r>
            <a:r>
              <a:rPr lang="es-AR" sz="28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s-AR" sz="2800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y</a:t>
            </a:r>
            <a:r>
              <a:rPr lang="es-AR" sz="2800" b="0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 normalizado en el estándar </a:t>
            </a:r>
            <a:r>
              <a:rPr lang="es-AR" sz="2800" b="1" i="1" u="sng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IEEE </a:t>
            </a:r>
            <a:r>
              <a:rPr lang="es-AR" sz="2800" b="1" i="1" u="sng" strike="noStrike" cap="none" dirty="0" err="1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Std</a:t>
            </a:r>
            <a:r>
              <a:rPr lang="es-AR" sz="2800" b="1" i="1" u="sng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. 1362-1998</a:t>
            </a:r>
            <a:r>
              <a:rPr lang="es-AR" sz="2800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.</a:t>
            </a:r>
            <a:endParaRPr sz="2800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639763" marR="0" lvl="1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sz="2800" b="0" i="0" u="none" strike="noStrike" cap="none" dirty="0">
              <a:solidFill>
                <a:srgbClr val="262626"/>
              </a:solidFill>
              <a:ea typeface="Calibri"/>
              <a:cs typeface="Calibri"/>
              <a:sym typeface="Calibri"/>
            </a:endParaRPr>
          </a:p>
          <a:p>
            <a:pPr marL="461962" marR="0" lvl="1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AR" sz="2800" b="0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Documento dirigido a los usuarios, que describe las características de un sistema propuesto, desde el punto de vista del usuario. </a:t>
            </a:r>
            <a:endParaRPr sz="2800" b="0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639763" marR="0" lvl="1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sz="2800" b="0" i="0" u="none" strike="noStrike" cap="none" dirty="0">
              <a:solidFill>
                <a:srgbClr val="262626"/>
              </a:solidFill>
              <a:ea typeface="Calibri"/>
              <a:cs typeface="Calibri"/>
              <a:sym typeface="Calibri"/>
            </a:endParaRPr>
          </a:p>
          <a:p>
            <a:pPr marL="461962" marR="0" lvl="1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AR" sz="2800" b="0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La Descripción del Sistema es el medio de comunicación que recoge la visión general, cualitativa y cuantitativa de las características del sistema; compartido por la parte cliente y desarrolladora.</a:t>
            </a:r>
            <a:endParaRPr sz="2800" b="0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346075" marR="0" lvl="1" indent="-1635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262626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10106025" y="2133600"/>
            <a:ext cx="574675" cy="16557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67" y="-103"/>
                </a:lnTo>
                <a:lnTo>
                  <a:pt x="56" y="7"/>
                </a:lnTo>
                <a:lnTo>
                  <a:pt x="167" y="-47"/>
                </a:lnTo>
                <a:lnTo>
                  <a:pt x="167" y="-103"/>
                </a:lnTo>
                <a:lnTo>
                  <a:pt x="38" y="4743"/>
                </a:lnTo>
                <a:lnTo>
                  <a:pt x="167" y="-103"/>
                </a:lnTo>
                <a:close/>
              </a:path>
              <a:path w="120000" h="120000" fill="none" extrusionOk="0">
                <a:moveTo>
                  <a:pt x="56" y="4743"/>
                </a:moveTo>
                <a:lnTo>
                  <a:pt x="167" y="437"/>
                </a:lnTo>
                <a:lnTo>
                  <a:pt x="167" y="-103"/>
                </a:lnTo>
                <a:lnTo>
                  <a:pt x="0" y="7"/>
                </a:lnTo>
                <a:lnTo>
                  <a:pt x="0" y="0"/>
                </a:lnTo>
                <a:lnTo>
                  <a:pt x="167" y="-103"/>
                </a:lnTo>
                <a:lnTo>
                  <a:pt x="56" y="7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85FCF15-CD17-74F3-2DB1-0342C9AA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2035A02-0260-FDAC-B290-674D952C6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D3478B-6307-2F22-CB33-E3D29847D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21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C9D7D5E-A4EE-A072-13FE-36AD207D5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Especificación del sistema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"/>
          <p:cNvSpPr/>
          <p:nvPr/>
        </p:nvSpPr>
        <p:spPr>
          <a:xfrm>
            <a:off x="9248775" y="2852738"/>
            <a:ext cx="292576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1097280" y="1786325"/>
            <a:ext cx="10297794" cy="4294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1" indent="-45720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AR" sz="2800" dirty="0">
                <a:solidFill>
                  <a:srgbClr val="262626"/>
                </a:solidFill>
                <a:cs typeface="Calibri"/>
                <a:sym typeface="Calibri"/>
              </a:rPr>
              <a:t>Ofrece un formato y contenidos para la confección de las descripciones de sistema en los desarrollos y modificaciones de sistemas.</a:t>
            </a:r>
          </a:p>
          <a:p>
            <a:pPr lvl="1" indent="-45720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sz="2800" dirty="0">
              <a:solidFill>
                <a:srgbClr val="262626"/>
              </a:solidFill>
              <a:cs typeface="Calibri"/>
              <a:sym typeface="Arial"/>
            </a:endParaRPr>
          </a:p>
          <a:p>
            <a:pPr lvl="1" indent="-45720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AR" sz="2800" dirty="0">
                <a:solidFill>
                  <a:srgbClr val="262626"/>
                </a:solidFill>
                <a:cs typeface="Calibri"/>
                <a:sym typeface="Calibri"/>
              </a:rPr>
              <a:t>El estándar no especifica técnicas exactas, sino que proporciona las líneas generales que deben respetarse. Es una guía de referencia.</a:t>
            </a:r>
          </a:p>
          <a:p>
            <a:pPr lvl="1" indent="-45720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sz="2800" dirty="0">
              <a:solidFill>
                <a:srgbClr val="262626"/>
              </a:solidFill>
              <a:cs typeface="Calibri"/>
              <a:sym typeface="Arial"/>
            </a:endParaRPr>
          </a:p>
          <a:p>
            <a:pPr lvl="1" indent="-45720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AR" sz="2800" dirty="0">
                <a:solidFill>
                  <a:srgbClr val="262626"/>
                </a:solidFill>
                <a:cs typeface="Calibri"/>
                <a:sym typeface="Calibri"/>
              </a:rPr>
              <a:t>El estándar identifica los elementos que al menos debe incluir una Descripción del sistema. El usuario puede incorporar otros elementos, agregando cláusulas y </a:t>
            </a:r>
            <a:r>
              <a:rPr lang="es-AR" sz="2800" dirty="0" err="1">
                <a:solidFill>
                  <a:srgbClr val="262626"/>
                </a:solidFill>
                <a:cs typeface="Calibri"/>
                <a:sym typeface="Calibri"/>
              </a:rPr>
              <a:t>sub-cláusulas</a:t>
            </a:r>
            <a:r>
              <a:rPr lang="es-AR" sz="2800" dirty="0">
                <a:solidFill>
                  <a:srgbClr val="262626"/>
                </a:solidFill>
                <a:cs typeface="Calibri"/>
                <a:sym typeface="Calibri"/>
              </a:rPr>
              <a:t>. </a:t>
            </a:r>
            <a:endParaRPr sz="2800" dirty="0">
              <a:solidFill>
                <a:srgbClr val="262626"/>
              </a:solidFill>
              <a:cs typeface="Calibri"/>
              <a:sym typeface="Arial"/>
            </a:endParaRPr>
          </a:p>
          <a:p>
            <a:pPr marL="90488" marR="0" lvl="0" indent="-9048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800" b="0" i="0" u="none" strike="noStrike" cap="none" dirty="0">
              <a:solidFill>
                <a:srgbClr val="262626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5B3A07-A7FD-04DC-B644-5D0ED39FC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A039935-1928-CD9F-C277-5E3FEB01E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C1420A-7267-D02E-254D-6FE38788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22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0C96668-C2D7-79DE-C352-1E13A7FEA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del Sistema – IEEE 1362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6"/>
          <p:cNvSpPr/>
          <p:nvPr/>
        </p:nvSpPr>
        <p:spPr>
          <a:xfrm>
            <a:off x="1097280" y="1856934"/>
            <a:ext cx="10255348" cy="4380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AR" sz="2800" dirty="0">
                <a:solidFill>
                  <a:srgbClr val="262626"/>
                </a:solidFill>
                <a:cs typeface="Calibri"/>
                <a:sym typeface="Calibri"/>
              </a:rPr>
              <a:t>Documento, también denominado </a:t>
            </a:r>
            <a:r>
              <a:rPr lang="es-AR" sz="2800" b="1" i="1" u="sng" dirty="0">
                <a:solidFill>
                  <a:srgbClr val="262626"/>
                </a:solidFill>
                <a:cs typeface="Calibri"/>
                <a:sym typeface="Calibri"/>
              </a:rPr>
              <a:t>SRS (ERS)</a:t>
            </a:r>
            <a:r>
              <a:rPr lang="es-AR" sz="2800" dirty="0">
                <a:solidFill>
                  <a:srgbClr val="262626"/>
                </a:solidFill>
                <a:cs typeface="Calibri"/>
                <a:sym typeface="Calibri"/>
              </a:rPr>
              <a:t>, y normalizado en el estándar </a:t>
            </a:r>
            <a:r>
              <a:rPr lang="es-AR" sz="2800" b="1" i="1" u="sng" dirty="0">
                <a:solidFill>
                  <a:srgbClr val="262626"/>
                </a:solidFill>
                <a:cs typeface="Calibri"/>
                <a:sym typeface="Calibri"/>
              </a:rPr>
              <a:t>IEEE </a:t>
            </a:r>
            <a:r>
              <a:rPr lang="es-AR" sz="2800" b="1" i="1" u="sng" dirty="0" err="1">
                <a:solidFill>
                  <a:srgbClr val="262626"/>
                </a:solidFill>
                <a:cs typeface="Calibri"/>
                <a:sym typeface="Calibri"/>
              </a:rPr>
              <a:t>Std</a:t>
            </a:r>
            <a:r>
              <a:rPr lang="es-AR" sz="2800" b="1" i="1" u="sng" dirty="0">
                <a:solidFill>
                  <a:srgbClr val="262626"/>
                </a:solidFill>
                <a:cs typeface="Calibri"/>
                <a:sym typeface="Calibri"/>
              </a:rPr>
              <a:t>. 830-1998</a:t>
            </a:r>
            <a:r>
              <a:rPr lang="es-AR" sz="2800" dirty="0">
                <a:solidFill>
                  <a:srgbClr val="262626"/>
                </a:solidFill>
                <a:cs typeface="Calibri"/>
                <a:sym typeface="Calibri"/>
              </a:rPr>
              <a:t>.</a:t>
            </a: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sz="2800" dirty="0">
              <a:solidFill>
                <a:srgbClr val="262626"/>
              </a:solidFill>
              <a:cs typeface="Calibri"/>
              <a:sym typeface="Arial"/>
            </a:endParaRP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AR" sz="2800" dirty="0">
                <a:solidFill>
                  <a:srgbClr val="262626"/>
                </a:solidFill>
                <a:cs typeface="Calibri"/>
                <a:sym typeface="Calibri"/>
              </a:rPr>
              <a:t>Un documento SRS es la especificación de las funciones que realiza un determinado producto de software, programa o conjunto de programas en un determinado entorno. </a:t>
            </a: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sz="2800" dirty="0">
              <a:solidFill>
                <a:srgbClr val="262626"/>
              </a:solidFill>
              <a:cs typeface="Calibri"/>
              <a:sym typeface="Arial"/>
            </a:endParaRP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AR" sz="2800" dirty="0">
                <a:solidFill>
                  <a:srgbClr val="262626"/>
                </a:solidFill>
                <a:cs typeface="Calibri"/>
                <a:sym typeface="Calibri"/>
              </a:rPr>
              <a:t>El documento de especificación de requisitos puede desarrollarlo personal representativo de la parte desarrolladora, o de la parte cliente; aunque es aconsejable la intervención de ambas partes.</a:t>
            </a:r>
            <a:endParaRPr sz="2800" dirty="0">
              <a:solidFill>
                <a:srgbClr val="262626"/>
              </a:solidFill>
              <a:cs typeface="Calibri"/>
              <a:sym typeface="Arial"/>
            </a:endParaRPr>
          </a:p>
          <a:p>
            <a:pPr marL="90488" marR="0" lvl="0" indent="-904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5AEC61-2705-658B-6A1E-906FBC046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125C2E5-A6FB-9792-3A5D-FA141C91A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AEBDC3-B2EC-BAA8-4291-0785C72D8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23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31604CA-3BF7-46B3-562D-F4BE1850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Requerimientos del Software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A148AD6-7C92-5FD5-F075-090059CD2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B304D3-1A5C-7A9A-45EF-99AF81313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D9D026-7D00-000F-EACA-CAD08077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24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F1D3374-595C-C407-68C0-B419604DA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IEEE 830 - SRS</a:t>
            </a:r>
          </a:p>
        </p:txBody>
      </p:sp>
      <p:sp>
        <p:nvSpPr>
          <p:cNvPr id="6" name="Google Shape;330;p26">
            <a:extLst>
              <a:ext uri="{FF2B5EF4-FFF2-40B4-BE49-F238E27FC236}">
                <a16:creationId xmlns:a16="http://schemas.microsoft.com/office/drawing/2014/main" id="{D0E38DBB-A1DA-F555-1DDA-61904B6E2F48}"/>
              </a:ext>
            </a:extLst>
          </p:cNvPr>
          <p:cNvSpPr/>
          <p:nvPr/>
        </p:nvSpPr>
        <p:spPr>
          <a:xfrm>
            <a:off x="1097280" y="1856934"/>
            <a:ext cx="10255348" cy="4380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2800" b="1" dirty="0">
                <a:solidFill>
                  <a:srgbClr val="262626"/>
                </a:solidFill>
                <a:cs typeface="Calibri"/>
                <a:sym typeface="Calibri"/>
              </a:rPr>
              <a:t>IEEE </a:t>
            </a:r>
            <a:r>
              <a:rPr lang="es-ES" sz="2800" b="1" dirty="0" err="1">
                <a:solidFill>
                  <a:srgbClr val="262626"/>
                </a:solidFill>
                <a:cs typeface="Calibri"/>
                <a:sym typeface="Calibri"/>
              </a:rPr>
              <a:t>Recommended</a:t>
            </a:r>
            <a:r>
              <a:rPr lang="es-ES" sz="2800" b="1" dirty="0">
                <a:solidFill>
                  <a:srgbClr val="262626"/>
                </a:solidFill>
                <a:cs typeface="Calibri"/>
                <a:sym typeface="Calibri"/>
              </a:rPr>
              <a:t> </a:t>
            </a:r>
            <a:r>
              <a:rPr lang="es-ES" sz="2800" b="1" dirty="0" err="1">
                <a:solidFill>
                  <a:srgbClr val="262626"/>
                </a:solidFill>
                <a:cs typeface="Calibri"/>
                <a:sym typeface="Calibri"/>
              </a:rPr>
              <a:t>Practice</a:t>
            </a:r>
            <a:r>
              <a:rPr lang="es-ES" sz="2800" b="1" dirty="0">
                <a:solidFill>
                  <a:srgbClr val="262626"/>
                </a:solidFill>
                <a:cs typeface="Calibri"/>
                <a:sym typeface="Calibri"/>
              </a:rPr>
              <a:t> </a:t>
            </a:r>
            <a:r>
              <a:rPr lang="es-ES" sz="2800" b="1" dirty="0" err="1">
                <a:solidFill>
                  <a:srgbClr val="262626"/>
                </a:solidFill>
                <a:cs typeface="Calibri"/>
                <a:sym typeface="Calibri"/>
              </a:rPr>
              <a:t>for</a:t>
            </a:r>
            <a:r>
              <a:rPr lang="es-ES" sz="2800" b="1" dirty="0">
                <a:solidFill>
                  <a:srgbClr val="262626"/>
                </a:solidFill>
                <a:cs typeface="Calibri"/>
                <a:sym typeface="Calibri"/>
              </a:rPr>
              <a:t> Software </a:t>
            </a:r>
            <a:r>
              <a:rPr lang="es-ES" sz="2800" b="1" dirty="0" err="1">
                <a:solidFill>
                  <a:srgbClr val="262626"/>
                </a:solidFill>
                <a:cs typeface="Calibri"/>
                <a:sym typeface="Calibri"/>
              </a:rPr>
              <a:t>Requirments</a:t>
            </a:r>
            <a:r>
              <a:rPr lang="es-ES" sz="2800" b="1" dirty="0">
                <a:solidFill>
                  <a:srgbClr val="262626"/>
                </a:solidFill>
                <a:cs typeface="Calibri"/>
                <a:sym typeface="Calibri"/>
              </a:rPr>
              <a:t> </a:t>
            </a:r>
            <a:r>
              <a:rPr lang="es-ES" sz="2800" b="1" dirty="0" err="1">
                <a:solidFill>
                  <a:srgbClr val="262626"/>
                </a:solidFill>
                <a:cs typeface="Calibri"/>
                <a:sym typeface="Calibri"/>
              </a:rPr>
              <a:t>Specifications</a:t>
            </a:r>
            <a:r>
              <a:rPr lang="es-ES" sz="2800" b="1" dirty="0">
                <a:solidFill>
                  <a:srgbClr val="262626"/>
                </a:solidFill>
                <a:cs typeface="Calibri"/>
                <a:sym typeface="Calibri"/>
              </a:rPr>
              <a:t>.</a:t>
            </a:r>
            <a:endParaRPr lang="es-ES" sz="2800" b="1" dirty="0">
              <a:solidFill>
                <a:srgbClr val="262626"/>
              </a:solidFill>
              <a:latin typeface="Calibri"/>
              <a:cs typeface="Calibri"/>
              <a:sym typeface="Calibri"/>
            </a:endParaRP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lang="es-ES" sz="2800" dirty="0">
              <a:solidFill>
                <a:srgbClr val="262626"/>
              </a:solidFill>
              <a:latin typeface="Calibri"/>
              <a:cs typeface="Calibri"/>
              <a:sym typeface="Calibri"/>
            </a:endParaRP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2800" b="1" dirty="0">
                <a:solidFill>
                  <a:srgbClr val="262626"/>
                </a:solidFill>
                <a:latin typeface="Calibri"/>
                <a:cs typeface="Calibri"/>
                <a:sym typeface="Calibri"/>
              </a:rPr>
              <a:t>Alcance del SRS</a:t>
            </a:r>
            <a:r>
              <a:rPr lang="es-ES" sz="2800" dirty="0">
                <a:solidFill>
                  <a:srgbClr val="262626"/>
                </a:solidFill>
                <a:latin typeface="Calibri"/>
                <a:cs typeface="Calibri"/>
                <a:sym typeface="Calibri"/>
              </a:rPr>
              <a:t>: </a:t>
            </a:r>
          </a:p>
          <a:p>
            <a:pPr marL="457200" lvl="2" algn="just">
              <a:buClr>
                <a:srgbClr val="C00000"/>
              </a:buClr>
              <a:buSzPts val="2800"/>
            </a:pP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Brindar una colección de buenas prácticas para escribir especificaciones de requerimientos de software (SRS).</a:t>
            </a:r>
          </a:p>
          <a:p>
            <a:pPr marL="457200" lvl="2" algn="just">
              <a:buClr>
                <a:srgbClr val="C00000"/>
              </a:buClr>
              <a:buSzPts val="2800"/>
            </a:pP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Se describen los contenidos y las cualidades de una buena especificación de requerimientos.</a:t>
            </a:r>
            <a:endParaRPr lang="es-ES"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sz="2800" dirty="0">
              <a:solidFill>
                <a:srgbClr val="262626"/>
              </a:solidFill>
              <a:cs typeface="Calibri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214DEADC-5D32-7F58-4787-C5FD09185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18E3B267-1034-4482-2D44-8D6B4A7F02E7}"/>
              </a:ext>
            </a:extLst>
          </p:cNvPr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B9A829B-D2E0-A4C8-5E51-AE7C5BC7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6AEA77-6D72-0B41-C77A-6BB7B6FBB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C45C8D-CBC6-5825-7646-AC0DA7009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25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7648945-19B9-6320-B0E7-6BDA39DD2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IEEE 830 - SRS</a:t>
            </a:r>
          </a:p>
        </p:txBody>
      </p:sp>
      <p:sp>
        <p:nvSpPr>
          <p:cNvPr id="6" name="Google Shape;330;p26">
            <a:extLst>
              <a:ext uri="{FF2B5EF4-FFF2-40B4-BE49-F238E27FC236}">
                <a16:creationId xmlns:a16="http://schemas.microsoft.com/office/drawing/2014/main" id="{CBD382BC-FD52-8983-F211-D8EED424FFDE}"/>
              </a:ext>
            </a:extLst>
          </p:cNvPr>
          <p:cNvSpPr/>
          <p:nvPr/>
        </p:nvSpPr>
        <p:spPr>
          <a:xfrm>
            <a:off x="1097280" y="1856934"/>
            <a:ext cx="10255348" cy="4380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2800" b="1" dirty="0">
                <a:solidFill>
                  <a:srgbClr val="262626"/>
                </a:solidFill>
                <a:latin typeface="Calibri"/>
                <a:cs typeface="Calibri"/>
                <a:sym typeface="Calibri"/>
              </a:rPr>
              <a:t>Naturaleza del SRS</a:t>
            </a:r>
            <a:r>
              <a:rPr lang="es-ES" sz="2800" dirty="0">
                <a:solidFill>
                  <a:srgbClr val="262626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457200" lvl="2" algn="just">
              <a:buClr>
                <a:srgbClr val="C00000"/>
              </a:buClr>
              <a:buSzPts val="2800"/>
            </a:pP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El SRS es una especificación para un producto de software particular. El SRS es escrito por uno o más representantes del equipo de desarrollo y uno o mas representantes de la parte cliente o ambos.</a:t>
            </a:r>
            <a:endParaRPr lang="es-ES" sz="2800" dirty="0">
              <a:solidFill>
                <a:srgbClr val="262626"/>
              </a:solidFill>
              <a:latin typeface="Calibri"/>
              <a:cs typeface="Calibri"/>
              <a:sym typeface="Calibri"/>
            </a:endParaRP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lang="es-ES" sz="2800" dirty="0">
              <a:solidFill>
                <a:srgbClr val="262626"/>
              </a:solidFill>
              <a:latin typeface="Calibri"/>
              <a:cs typeface="Calibri"/>
              <a:sym typeface="Calibri"/>
            </a:endParaRP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2800" b="1" dirty="0">
                <a:solidFill>
                  <a:srgbClr val="262626"/>
                </a:solidFill>
                <a:latin typeface="Calibri"/>
                <a:cs typeface="Calibri"/>
                <a:sym typeface="Calibri"/>
              </a:rPr>
              <a:t>Ambiente del SRS</a:t>
            </a:r>
            <a:r>
              <a:rPr lang="es-ES" sz="2800" dirty="0">
                <a:solidFill>
                  <a:srgbClr val="262626"/>
                </a:solidFill>
                <a:latin typeface="Calibri"/>
                <a:cs typeface="Calibri"/>
                <a:sym typeface="Calibri"/>
              </a:rPr>
              <a:t>: </a:t>
            </a:r>
          </a:p>
          <a:p>
            <a:pPr marL="457200" lvl="2" algn="just">
              <a:buClr>
                <a:srgbClr val="C00000"/>
              </a:buClr>
              <a:buSzPts val="2800"/>
            </a:pP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El software puede contener toda la funcionalidad del proyecto o puede ser parte de un sistema más grande. En el último caso habrá un SRS que declarará las interfaces entre el sistema y su software desarrollado, y pondrá qué función externa y requerimientos de funcionalidad tiene con el software desarrollado.</a:t>
            </a:r>
            <a:endParaRPr lang="es-E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sz="2800" dirty="0">
              <a:solidFill>
                <a:srgbClr val="262626"/>
              </a:solidFill>
              <a:cs typeface="Calibri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1132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7EA96DD3-F86D-350C-0738-D542EBC48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AAAA8BB8-C2C9-207F-63CA-A156F38F3119}"/>
              </a:ext>
            </a:extLst>
          </p:cNvPr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46C30F0-2B33-1E52-1DF2-D3FBD4BBE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1F0B96D-8594-53FD-C70D-1DC3CBC3C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741E1C-9EE3-704F-8F25-E2C96DE8C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26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1EF8C62-99F0-4C8B-5885-42579EE89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Características de un buen SRS</a:t>
            </a:r>
          </a:p>
        </p:txBody>
      </p:sp>
      <p:sp>
        <p:nvSpPr>
          <p:cNvPr id="6" name="Google Shape;330;p26">
            <a:extLst>
              <a:ext uri="{FF2B5EF4-FFF2-40B4-BE49-F238E27FC236}">
                <a16:creationId xmlns:a16="http://schemas.microsoft.com/office/drawing/2014/main" id="{84B3E8CF-A630-438D-52EB-FA5B0F66127D}"/>
              </a:ext>
            </a:extLst>
          </p:cNvPr>
          <p:cNvSpPr/>
          <p:nvPr/>
        </p:nvSpPr>
        <p:spPr>
          <a:xfrm>
            <a:off x="1097280" y="1856934"/>
            <a:ext cx="10255348" cy="4380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2800" b="1" dirty="0">
                <a:solidFill>
                  <a:srgbClr val="262626"/>
                </a:solidFill>
                <a:cs typeface="Calibri"/>
                <a:sym typeface="Calibri"/>
              </a:rPr>
              <a:t>Correcto</a:t>
            </a:r>
          </a:p>
          <a:p>
            <a:pPr marL="457200" lvl="2" algn="just">
              <a:buClr>
                <a:srgbClr val="C00000"/>
              </a:buClr>
              <a:buSzPts val="2800"/>
            </a:pP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Un SRS es correcto si, y sólo si, cada requisito declarado se encuentra en el software.</a:t>
            </a:r>
            <a:endParaRPr lang="es-E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lang="es-ES" sz="2800" dirty="0">
              <a:solidFill>
                <a:srgbClr val="262626"/>
              </a:solidFill>
              <a:latin typeface="Calibri"/>
              <a:cs typeface="Calibri"/>
              <a:sym typeface="Calibri"/>
            </a:endParaRP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2800" b="1" dirty="0">
                <a:solidFill>
                  <a:srgbClr val="262626"/>
                </a:solidFill>
                <a:latin typeface="Calibri"/>
                <a:cs typeface="Calibri"/>
                <a:sym typeface="Calibri"/>
              </a:rPr>
              <a:t>No ambiguo </a:t>
            </a:r>
            <a:endParaRPr lang="es-ES" sz="2800" dirty="0">
              <a:solidFill>
                <a:srgbClr val="262626"/>
              </a:solidFill>
              <a:latin typeface="Calibri"/>
              <a:cs typeface="Calibri"/>
              <a:sym typeface="Calibri"/>
            </a:endParaRPr>
          </a:p>
          <a:p>
            <a:pPr marL="457200" lvl="2" algn="just">
              <a:buClr>
                <a:srgbClr val="C00000"/>
              </a:buClr>
              <a:buSzPts val="2800"/>
            </a:pP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Un SRS es inequívoco si, y sólo si, cada requisito declarado tiene sólo una interpretación. </a:t>
            </a:r>
            <a:endParaRPr lang="es-ES"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lang="es-ES" sz="2800" dirty="0">
              <a:solidFill>
                <a:srgbClr val="262626"/>
              </a:solidFill>
              <a:cs typeface="Calibri"/>
              <a:sym typeface="Arial"/>
            </a:endParaRP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2800" b="1" dirty="0">
                <a:solidFill>
                  <a:srgbClr val="262626"/>
                </a:solidFill>
                <a:cs typeface="Calibri"/>
                <a:sym typeface="Arial"/>
              </a:rPr>
              <a:t>Completo</a:t>
            </a:r>
          </a:p>
          <a:p>
            <a:pPr marL="457200" lvl="2" algn="just">
              <a:buClr>
                <a:srgbClr val="C00000"/>
              </a:buClr>
              <a:buSzPts val="2800"/>
            </a:pP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Un SRS está completo si, y sólo si, se reconoce cualquier requisito externo impuesto por una especificación del sistema.</a:t>
            </a:r>
            <a:endParaRPr lang="es-ES" sz="24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0" lvl="1" algn="just">
              <a:buClr>
                <a:srgbClr val="C00000"/>
              </a:buClr>
              <a:buSzPts val="2800"/>
            </a:pPr>
            <a:endParaRPr lang="es-ES" sz="2800" dirty="0">
              <a:solidFill>
                <a:srgbClr val="262626"/>
              </a:solidFill>
              <a:cs typeface="Calibri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2200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533D8AA7-D769-3B21-FCFE-150D269D9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1A602673-C62C-43D5-7C7B-B779E8C97BC9}"/>
              </a:ext>
            </a:extLst>
          </p:cNvPr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5E994C3-AF7F-E758-1ECE-DA4681297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BBC1E1-FFEB-0645-C7EE-7C419F2B2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57B617-309B-B187-C899-DCF1F9D0E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27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1970D78-9500-015A-DAEA-B7894F6A3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Características de un buen SRS</a:t>
            </a:r>
          </a:p>
        </p:txBody>
      </p:sp>
      <p:sp>
        <p:nvSpPr>
          <p:cNvPr id="6" name="Google Shape;330;p26">
            <a:extLst>
              <a:ext uri="{FF2B5EF4-FFF2-40B4-BE49-F238E27FC236}">
                <a16:creationId xmlns:a16="http://schemas.microsoft.com/office/drawing/2014/main" id="{38934211-7C51-8702-14E4-0C7869A2CB64}"/>
              </a:ext>
            </a:extLst>
          </p:cNvPr>
          <p:cNvSpPr/>
          <p:nvPr/>
        </p:nvSpPr>
        <p:spPr>
          <a:xfrm>
            <a:off x="1097280" y="1856934"/>
            <a:ext cx="10255348" cy="4380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2800" b="1" dirty="0">
                <a:solidFill>
                  <a:srgbClr val="262626"/>
                </a:solidFill>
                <a:cs typeface="Calibri"/>
                <a:sym typeface="Calibri"/>
              </a:rPr>
              <a:t>Consistente</a:t>
            </a:r>
          </a:p>
          <a:p>
            <a:pPr marL="457200" lvl="2" algn="just">
              <a:buClr>
                <a:srgbClr val="C00000"/>
              </a:buClr>
              <a:buSzPts val="2800"/>
            </a:pP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Consistencia interior. Si un SRS no está de acuerdo con algún documento del nivel superior, como una especificación de requerimientos, no es consistente.</a:t>
            </a:r>
          </a:p>
          <a:p>
            <a:pPr marL="0" lvl="1" algn="just">
              <a:buClr>
                <a:srgbClr val="C00000"/>
              </a:buClr>
              <a:buSzPts val="2800"/>
            </a:pPr>
            <a:endParaRPr lang="es-ES" sz="1500" dirty="0">
              <a:solidFill>
                <a:srgbClr val="262626"/>
              </a:solidFill>
              <a:latin typeface="Calibri"/>
              <a:cs typeface="Calibri"/>
              <a:sym typeface="Calibri"/>
            </a:endParaRP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2800" b="1" dirty="0">
                <a:solidFill>
                  <a:srgbClr val="262626"/>
                </a:solidFill>
                <a:latin typeface="Calibri"/>
                <a:cs typeface="Calibri"/>
                <a:sym typeface="Calibri"/>
              </a:rPr>
              <a:t>Priorizado</a:t>
            </a:r>
            <a:endParaRPr lang="es-ES" sz="2800" dirty="0">
              <a:solidFill>
                <a:srgbClr val="262626"/>
              </a:solidFill>
              <a:latin typeface="Calibri"/>
              <a:cs typeface="Calibri"/>
              <a:sym typeface="Calibri"/>
            </a:endParaRPr>
          </a:p>
          <a:p>
            <a:pPr marL="457200" lvl="2" algn="just">
              <a:buClr>
                <a:srgbClr val="C00000"/>
              </a:buClr>
              <a:buSzPts val="2800"/>
            </a:pP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Un SRS es priorizado por la importancia de sus requerimientos  particulares.</a:t>
            </a: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lang="es-ES" sz="1500" dirty="0">
              <a:solidFill>
                <a:srgbClr val="262626"/>
              </a:solidFill>
              <a:cs typeface="Calibri"/>
              <a:sym typeface="Arial"/>
            </a:endParaRP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2800" b="1" dirty="0">
                <a:solidFill>
                  <a:srgbClr val="262626"/>
                </a:solidFill>
                <a:cs typeface="Calibri"/>
                <a:sym typeface="Arial"/>
              </a:rPr>
              <a:t>Comprobable</a:t>
            </a:r>
          </a:p>
          <a:p>
            <a:pPr marL="457200" lvl="2" algn="just">
              <a:buClr>
                <a:srgbClr val="C00000"/>
              </a:buClr>
              <a:buSzPts val="2800"/>
            </a:pP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Un SRS es comprobable si, y sólo si, cada requisito es comprobable. </a:t>
            </a:r>
          </a:p>
          <a:p>
            <a:pPr marL="457200" lvl="2" algn="just">
              <a:buClr>
                <a:srgbClr val="C00000"/>
              </a:buClr>
              <a:buSzPts val="2800"/>
            </a:pP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Un requisito es comprobable si existe algún proceso con el que una persona o máquina puede verificar que el producto del software reúne el requisito. Cualquier requisito ambiguo </a:t>
            </a:r>
            <a:r>
              <a:rPr lang="es-ES" sz="2400" u="sng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no es comprobable</a:t>
            </a: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.</a:t>
            </a:r>
          </a:p>
          <a:p>
            <a:pPr marL="0" lvl="1" algn="just">
              <a:buClr>
                <a:srgbClr val="C00000"/>
              </a:buClr>
              <a:buSzPts val="2800"/>
            </a:pPr>
            <a:endParaRPr lang="es-ES" sz="2800" dirty="0">
              <a:solidFill>
                <a:srgbClr val="262626"/>
              </a:solidFill>
              <a:cs typeface="Calibri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1509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10B5E31B-B76F-167C-B8FD-8A57580AE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215B0F22-A478-EEFB-55C6-762B2F147BA6}"/>
              </a:ext>
            </a:extLst>
          </p:cNvPr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4E87DC-D6E7-3B9C-49EB-41D6BFB2F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D168120-9937-FD94-66F0-E0FF27A4D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E16B07-C0B8-10EA-68D8-01A146E1D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28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C72CB84-B506-AFC6-B0B0-6F5312F7C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Características de un buen SRS</a:t>
            </a:r>
          </a:p>
        </p:txBody>
      </p:sp>
      <p:sp>
        <p:nvSpPr>
          <p:cNvPr id="6" name="Google Shape;330;p26">
            <a:extLst>
              <a:ext uri="{FF2B5EF4-FFF2-40B4-BE49-F238E27FC236}">
                <a16:creationId xmlns:a16="http://schemas.microsoft.com/office/drawing/2014/main" id="{78324C63-2569-B9DD-24EE-2D5BF4CF356C}"/>
              </a:ext>
            </a:extLst>
          </p:cNvPr>
          <p:cNvSpPr/>
          <p:nvPr/>
        </p:nvSpPr>
        <p:spPr>
          <a:xfrm>
            <a:off x="1097280" y="1856934"/>
            <a:ext cx="10255348" cy="4380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2800" b="1" dirty="0">
                <a:solidFill>
                  <a:srgbClr val="262626"/>
                </a:solidFill>
                <a:cs typeface="Calibri"/>
                <a:sym typeface="Calibri"/>
              </a:rPr>
              <a:t>Modificable</a:t>
            </a:r>
          </a:p>
          <a:p>
            <a:pPr marL="457200" lvl="2" algn="just">
              <a:buClr>
                <a:srgbClr val="C00000"/>
              </a:buClr>
              <a:buSzPts val="2800"/>
            </a:pP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Un SRS es modificable si, y sólo si, su estructura y estilo son tales que puede hacerse cualquier cambio a los requerimientos fácilmente, completamente y de forma consistente mientras conserva la estructura y estilo.</a:t>
            </a: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lang="es-ES" sz="2800" dirty="0">
              <a:solidFill>
                <a:srgbClr val="262626"/>
              </a:solidFill>
              <a:latin typeface="Calibri"/>
              <a:cs typeface="Calibri"/>
              <a:sym typeface="Calibri"/>
            </a:endParaRP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2800" b="1" dirty="0">
                <a:solidFill>
                  <a:srgbClr val="262626"/>
                </a:solidFill>
                <a:latin typeface="Calibri"/>
                <a:cs typeface="Calibri"/>
                <a:sym typeface="Calibri"/>
              </a:rPr>
              <a:t>Trazable</a:t>
            </a:r>
            <a:endParaRPr lang="es-ES" sz="2800" dirty="0">
              <a:solidFill>
                <a:srgbClr val="262626"/>
              </a:solidFill>
              <a:latin typeface="Calibri"/>
              <a:cs typeface="Calibri"/>
              <a:sym typeface="Calibri"/>
            </a:endParaRPr>
          </a:p>
          <a:p>
            <a:pPr marL="457200" lvl="2" algn="just">
              <a:buClr>
                <a:srgbClr val="C00000"/>
              </a:buClr>
              <a:buSzPts val="2800"/>
            </a:pP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Un SRS es trazable si existe claridad del origen de cada requerimiento y permite su trazabilidad hacia los requerimientos para futuros desarrollos. Hacia adelante y hacia atrás. </a:t>
            </a:r>
            <a:endParaRPr lang="es-ES"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1" algn="just">
              <a:buClr>
                <a:srgbClr val="C00000"/>
              </a:buClr>
              <a:buSzPts val="2800"/>
            </a:pPr>
            <a:endParaRPr lang="es-ES" sz="2800" dirty="0">
              <a:solidFill>
                <a:srgbClr val="262626"/>
              </a:solidFill>
              <a:cs typeface="Calibri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3341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9CF3CCC9-E416-8719-8C53-B36988380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71B7ED41-F8D8-C229-2688-C5B6C702ECFA}"/>
              </a:ext>
            </a:extLst>
          </p:cNvPr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F919B05-4CB7-3DAF-5F7C-0DD1C200B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B1BE616-A73E-A77B-B5AB-595FCEF6C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0CD339-0334-6E81-DA77-361E40BE4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29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1F2B918-26D7-41A4-F808-0B04FF07A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Consideraciones para un buen SRS</a:t>
            </a:r>
          </a:p>
        </p:txBody>
      </p:sp>
      <p:sp>
        <p:nvSpPr>
          <p:cNvPr id="6" name="Google Shape;330;p26">
            <a:extLst>
              <a:ext uri="{FF2B5EF4-FFF2-40B4-BE49-F238E27FC236}">
                <a16:creationId xmlns:a16="http://schemas.microsoft.com/office/drawing/2014/main" id="{372BD24C-0861-A457-BA6D-8E0CD52AA47D}"/>
              </a:ext>
            </a:extLst>
          </p:cNvPr>
          <p:cNvSpPr/>
          <p:nvPr/>
        </p:nvSpPr>
        <p:spPr>
          <a:xfrm>
            <a:off x="1097280" y="1856934"/>
            <a:ext cx="10255348" cy="4380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2800" b="1" dirty="0">
                <a:solidFill>
                  <a:srgbClr val="262626"/>
                </a:solidFill>
                <a:cs typeface="Calibri"/>
                <a:sym typeface="Calibri"/>
              </a:rPr>
              <a:t>Preparación conjunta</a:t>
            </a:r>
          </a:p>
          <a:p>
            <a:pPr marL="457200" lvl="2" algn="just">
              <a:buClr>
                <a:srgbClr val="C00000"/>
              </a:buClr>
              <a:buSzPts val="2800"/>
            </a:pP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El SRS se debe preparar en conjunto con las partes intervinientes para lograr un buen acuerdo entre las partes.</a:t>
            </a: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lang="es-ES" sz="2800" dirty="0">
              <a:solidFill>
                <a:srgbClr val="262626"/>
              </a:solidFill>
              <a:latin typeface="Calibri"/>
              <a:cs typeface="Calibri"/>
              <a:sym typeface="Calibri"/>
            </a:endParaRP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2800" b="1" dirty="0">
                <a:solidFill>
                  <a:srgbClr val="262626"/>
                </a:solidFill>
                <a:latin typeface="Calibri"/>
                <a:cs typeface="Calibri"/>
                <a:sym typeface="Calibri"/>
              </a:rPr>
              <a:t>Evolución</a:t>
            </a:r>
            <a:endParaRPr lang="es-ES" sz="2800" dirty="0">
              <a:solidFill>
                <a:srgbClr val="262626"/>
              </a:solidFill>
              <a:latin typeface="Calibri"/>
              <a:cs typeface="Calibri"/>
              <a:sym typeface="Calibri"/>
            </a:endParaRPr>
          </a:p>
          <a:p>
            <a:pPr marL="457200" lvl="2" algn="just">
              <a:buClr>
                <a:srgbClr val="C00000"/>
              </a:buClr>
              <a:buSzPts val="2800"/>
            </a:pP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El SRS debe evolucionar conjuntamente con el software, registrando los cambios, los responsables y aceptación de los mismos.</a:t>
            </a:r>
          </a:p>
          <a:p>
            <a:pPr marL="457200" lvl="2" algn="just">
              <a:buClr>
                <a:srgbClr val="C00000"/>
              </a:buClr>
              <a:buSzPts val="2800"/>
            </a:pPr>
            <a:endParaRPr lang="es-ES" sz="2400" dirty="0">
              <a:solidFill>
                <a:srgbClr val="262626"/>
              </a:solidFill>
              <a:ea typeface="Calibri"/>
              <a:cs typeface="Calibri"/>
              <a:sym typeface="Calibri"/>
            </a:endParaRP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2800" b="1" dirty="0">
                <a:solidFill>
                  <a:srgbClr val="262626"/>
                </a:solidFill>
                <a:cs typeface="Calibri"/>
                <a:sym typeface="Calibri"/>
              </a:rPr>
              <a:t>Prototipos</a:t>
            </a:r>
            <a:endParaRPr lang="es-ES" sz="2800" dirty="0">
              <a:solidFill>
                <a:srgbClr val="262626"/>
              </a:solidFill>
              <a:cs typeface="Calibri"/>
              <a:sym typeface="Calibri"/>
            </a:endParaRPr>
          </a:p>
          <a:p>
            <a:pPr marL="457200" lvl="2" algn="just">
              <a:buClr>
                <a:srgbClr val="C00000"/>
              </a:buClr>
              <a:buSzPts val="2800"/>
            </a:pP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El uso de prototipos se utiliza frecuentemente para la definición de requerimientos.</a:t>
            </a:r>
          </a:p>
          <a:p>
            <a:pPr marL="0" lvl="1" algn="just">
              <a:buClr>
                <a:srgbClr val="C00000"/>
              </a:buClr>
              <a:buSzPts val="2800"/>
            </a:pPr>
            <a:endParaRPr lang="es-ES" sz="2800" dirty="0">
              <a:solidFill>
                <a:srgbClr val="262626"/>
              </a:solidFill>
              <a:cs typeface="Calibri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666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D63E301D-C35B-BA8A-FAD0-B47D33B57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35B2F976-896C-5627-3D66-1CEDF434FC1A}"/>
              </a:ext>
            </a:extLst>
          </p:cNvPr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D50A64C-D19E-A952-07C7-4F5370EBF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08D533E-E4E3-1801-FFCB-9045DC7F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AE6576-AA96-8F4B-FDCB-5978E4072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30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CF0FB-540A-B482-6ACE-DB3E9D88B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Consideraciones para un buen SRS</a:t>
            </a:r>
          </a:p>
        </p:txBody>
      </p:sp>
      <p:sp>
        <p:nvSpPr>
          <p:cNvPr id="6" name="Google Shape;330;p26">
            <a:extLst>
              <a:ext uri="{FF2B5EF4-FFF2-40B4-BE49-F238E27FC236}">
                <a16:creationId xmlns:a16="http://schemas.microsoft.com/office/drawing/2014/main" id="{CFE14BAB-24FF-17A7-43F2-5307EE27C01F}"/>
              </a:ext>
            </a:extLst>
          </p:cNvPr>
          <p:cNvSpPr/>
          <p:nvPr/>
        </p:nvSpPr>
        <p:spPr>
          <a:xfrm>
            <a:off x="1097280" y="1856934"/>
            <a:ext cx="10255348" cy="4380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2800" b="1" dirty="0">
                <a:solidFill>
                  <a:srgbClr val="262626"/>
                </a:solidFill>
                <a:cs typeface="Calibri"/>
                <a:sym typeface="Calibri"/>
              </a:rPr>
              <a:t>Diseño incorporado</a:t>
            </a:r>
          </a:p>
          <a:p>
            <a:pPr marL="457200" lvl="2" algn="just">
              <a:buClr>
                <a:srgbClr val="C00000"/>
              </a:buClr>
              <a:buSzPts val="2800"/>
            </a:pP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El SRS puede incorporar los atributos o funciones externos al sistema, en particular las que describen el diseño para interactuar entre los subsistemas.</a:t>
            </a: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lang="es-ES" sz="2800" dirty="0">
              <a:solidFill>
                <a:srgbClr val="262626"/>
              </a:solidFill>
              <a:latin typeface="Calibri"/>
              <a:cs typeface="Calibri"/>
              <a:sym typeface="Calibri"/>
            </a:endParaRPr>
          </a:p>
          <a:p>
            <a:pPr marL="450850" lvl="1" indent="-45085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2800" b="1" dirty="0">
                <a:solidFill>
                  <a:srgbClr val="262626"/>
                </a:solidFill>
                <a:latin typeface="Calibri"/>
                <a:cs typeface="Calibri"/>
                <a:sym typeface="Calibri"/>
              </a:rPr>
              <a:t>Requerimientos incorporados</a:t>
            </a:r>
            <a:endParaRPr lang="es-ES" sz="2800" dirty="0">
              <a:solidFill>
                <a:srgbClr val="262626"/>
              </a:solidFill>
              <a:latin typeface="Calibri"/>
              <a:cs typeface="Calibri"/>
              <a:sym typeface="Calibri"/>
            </a:endParaRPr>
          </a:p>
          <a:p>
            <a:pPr marL="457200" lvl="2" algn="just">
              <a:buClr>
                <a:srgbClr val="C00000"/>
              </a:buClr>
              <a:buSzPts val="2800"/>
            </a:pPr>
            <a:r>
              <a:rPr lang="es-ES" sz="2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Los detalles particulares de los requerimientos son anexados como documentos externos (CU, Plan de proyecto, Plan de aseguramiento de la calidad, etc.).</a:t>
            </a:r>
          </a:p>
          <a:p>
            <a:pPr marL="457200" lvl="2" algn="just">
              <a:buClr>
                <a:srgbClr val="C00000"/>
              </a:buClr>
              <a:buSzPts val="2800"/>
            </a:pPr>
            <a:endParaRPr lang="es-ES" sz="2400" dirty="0">
              <a:solidFill>
                <a:srgbClr val="262626"/>
              </a:solidFill>
              <a:ea typeface="Calibri"/>
              <a:cs typeface="Calibri"/>
              <a:sym typeface="Calibri"/>
            </a:endParaRPr>
          </a:p>
          <a:p>
            <a:pPr marL="0" lvl="1" algn="just">
              <a:buClr>
                <a:srgbClr val="C00000"/>
              </a:buClr>
              <a:buSzPts val="2800"/>
            </a:pPr>
            <a:endParaRPr lang="es-ES" sz="2800" dirty="0">
              <a:solidFill>
                <a:srgbClr val="262626"/>
              </a:solidFill>
              <a:cs typeface="Calibri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39035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/>
          <p:nvPr/>
        </p:nvSpPr>
        <p:spPr>
          <a:xfrm>
            <a:off x="9248775" y="2852738"/>
            <a:ext cx="292576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3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3"/>
          <p:cNvSpPr/>
          <p:nvPr/>
        </p:nvSpPr>
        <p:spPr>
          <a:xfrm>
            <a:off x="1097280" y="1953980"/>
            <a:ext cx="4478110" cy="433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AR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	</a:t>
            </a:r>
            <a:r>
              <a:rPr lang="es-AR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INTRODUCCIÓN</a:t>
            </a:r>
            <a:r>
              <a:rPr lang="es-AR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AR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1.1	Propósito	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AR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1.2	Alcance	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AR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1.3	Referencias	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AR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	</a:t>
            </a:r>
            <a:r>
              <a:rPr lang="es-AR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DESCRIPCIÓN GENERAL</a:t>
            </a:r>
            <a:r>
              <a:rPr lang="es-AR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AR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2.1	Perspectiva del producto	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AR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2.2	Funcionalidad del producto	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AR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2.3	Características de los usuarios	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AR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2.4	Evolución previsible del sistema	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AR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	</a:t>
            </a:r>
            <a:r>
              <a:rPr lang="es-AR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REQUISITOS NO FUNCIONALES</a:t>
            </a:r>
            <a:r>
              <a:rPr lang="es-AR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AR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3.1	Requisitos de rendimiento	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AR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3.2	Seguridad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AR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3.3	Portabilidad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AR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	</a:t>
            </a:r>
            <a:r>
              <a:rPr lang="es-AR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MANTENIMIENTO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AR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	</a:t>
            </a:r>
            <a:r>
              <a:rPr lang="es-AR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APÉNDICES</a:t>
            </a:r>
            <a:r>
              <a:rPr lang="es-AR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8C05F16-C717-DCA5-FD06-E2958D2708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</p:spPr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6C8EB34-1230-3AF0-A9E8-F8C511B05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B7C6B0-C094-1D89-123B-56EC1BCD5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EE93AC9C-ACC0-4EC3-93B1-4DD7B869C923}" type="slidenum">
              <a:rPr lang="es-ES" smtClean="0"/>
              <a:pPr/>
              <a:t>31</a:t>
            </a:fld>
            <a:endParaRPr lang="es-ES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14E32DB1-D59E-F773-2707-F7C1EAD77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Partes de un SRS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4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4"/>
          <p:cNvSpPr/>
          <p:nvPr/>
        </p:nvSpPr>
        <p:spPr>
          <a:xfrm>
            <a:off x="1097280" y="1771650"/>
            <a:ext cx="10227212" cy="447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500"/>
              <a:buFont typeface="Noto Sans Symbols"/>
              <a:buChar char="❖"/>
            </a:pPr>
            <a:r>
              <a:rPr lang="es-AR" sz="2400" b="1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1.1 Propósito</a:t>
            </a:r>
            <a:endParaRPr sz="2400" b="0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346075" marR="0" lvl="1" indent="-3413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500"/>
              <a:buFont typeface="Arial"/>
              <a:buChar char=" "/>
            </a:pPr>
            <a:r>
              <a:rPr lang="es-AR" sz="2200" b="0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Se define el propósito del documento  y se especifica a quién va dirigido el documento</a:t>
            </a:r>
            <a:endParaRPr sz="2200" b="0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500"/>
              <a:buFont typeface="Noto Sans Symbols"/>
              <a:buChar char="❖"/>
            </a:pPr>
            <a:r>
              <a:rPr lang="es-AR" sz="2400" b="1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1.2 Alcance o ámbito del sistema</a:t>
            </a:r>
            <a:endParaRPr sz="2400" b="0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346075" marR="0" lvl="1" indent="-3413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500"/>
              <a:buFont typeface="Arial"/>
              <a:buChar char=" "/>
            </a:pPr>
            <a:r>
              <a:rPr lang="es-AR" sz="2200" b="0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Se da un nombre al futuro sistema . Se explica  lo que el sistema hará y lo que no hará.</a:t>
            </a:r>
            <a:endParaRPr sz="2200" b="0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346075" marR="0" lvl="1" indent="-3413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500"/>
              <a:buFont typeface="Arial"/>
              <a:buChar char=" "/>
            </a:pPr>
            <a:r>
              <a:rPr lang="es-AR" sz="2200" b="0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Se describen los </a:t>
            </a:r>
            <a:r>
              <a:rPr lang="es-AR" sz="2200" b="0" i="1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beneficios</a:t>
            </a:r>
            <a:r>
              <a:rPr lang="es-AR" sz="2200" b="0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s-AR" sz="2200" b="0" i="1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objetivos</a:t>
            </a:r>
            <a:r>
              <a:rPr lang="es-AR" sz="2200" b="0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 y </a:t>
            </a:r>
            <a:r>
              <a:rPr lang="es-AR" sz="2200" b="0" i="1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metas</a:t>
            </a:r>
            <a:r>
              <a:rPr lang="es-AR" sz="2200" b="0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 que se espera alcanzar con el futuro sistema</a:t>
            </a:r>
            <a:endParaRPr sz="2200" b="0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500"/>
              <a:buFont typeface="Noto Sans Symbols"/>
              <a:buChar char="❖"/>
            </a:pPr>
            <a:r>
              <a:rPr lang="es-AR" sz="2400" b="1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1.3 Referencias </a:t>
            </a:r>
            <a:endParaRPr sz="2400" b="0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346075" marR="0" lvl="1" indent="-3413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500"/>
              <a:buFont typeface="Arial"/>
              <a:buChar char=" "/>
            </a:pPr>
            <a:r>
              <a:rPr lang="es-AR" sz="2200" b="0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Se presenta una lista completa de todas las referencias de los documentos mencionados o utilizados para escribir el SRS. </a:t>
            </a:r>
            <a:endParaRPr sz="2200" b="0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346075" marR="0" lvl="1" indent="-3413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500"/>
              <a:buFont typeface="Arial"/>
              <a:buChar char=" "/>
            </a:pPr>
            <a:r>
              <a:rPr lang="es-AR" sz="2200" b="0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Identificar cada documento por el título, número de reporte, fecha y publicación. Y las fuentes de las referencias de donde se obtuvieron. </a:t>
            </a:r>
            <a:endParaRPr sz="2200" b="0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325ACCF-0010-0D55-589B-656DFF1D8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AE67ACF-28F8-4614-B506-4E9F321E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58CA71-7F4A-5412-BC5C-AFB11BA89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32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9D4339B-8555-F938-5E53-F35D61DB2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Introducción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5"/>
          <p:cNvSpPr/>
          <p:nvPr/>
        </p:nvSpPr>
        <p:spPr>
          <a:xfrm>
            <a:off x="9248775" y="2852738"/>
            <a:ext cx="292576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5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5"/>
          <p:cNvSpPr/>
          <p:nvPr/>
        </p:nvSpPr>
        <p:spPr>
          <a:xfrm>
            <a:off x="1097280" y="1786325"/>
            <a:ext cx="10297551" cy="447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r>
              <a:rPr lang="es-AR" sz="28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Esta sección del SRS debe describir los factores generales que afectan el producto y sus requerimientos. No declara los requerimientos específicos. Los que se definen en detalle en Sección 3 del SRS.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65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r>
              <a:rPr lang="es-AR" sz="28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Esta sección normalmente consiste en: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7550" marR="0" lvl="1" indent="-266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 panose="020B0604020202020204" pitchFamily="34" charset="0"/>
              <a:buChar char="•"/>
            </a:pPr>
            <a:r>
              <a:rPr lang="es-AR" sz="2800" i="1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Perspectiva del producto</a:t>
            </a:r>
            <a:endParaRPr sz="140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7550" marR="0" lvl="1" indent="-266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 panose="020B0604020202020204" pitchFamily="34" charset="0"/>
              <a:buChar char="•"/>
            </a:pPr>
            <a:r>
              <a:rPr lang="es-AR" sz="2800" i="1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Funcionalidad del producto</a:t>
            </a:r>
            <a:endParaRPr sz="140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7550" marR="0" lvl="1" indent="-266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 panose="020B0604020202020204" pitchFamily="34" charset="0"/>
              <a:buChar char="•"/>
            </a:pPr>
            <a:r>
              <a:rPr lang="es-AR" sz="2800" i="1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Características de los usuarios</a:t>
            </a:r>
            <a:endParaRPr sz="140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7550" marR="0" lvl="1" indent="-266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 panose="020B0604020202020204" pitchFamily="34" charset="0"/>
              <a:buChar char="•"/>
            </a:pPr>
            <a:r>
              <a:rPr lang="es-AR" sz="2800" i="1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Evoluciones previsibles del sistema</a:t>
            </a:r>
            <a:endParaRPr sz="140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D43070E-E262-890D-893D-0B5C53674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FD5826C-1046-F033-F732-373701FD7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49A2D0-1511-74FA-9D9E-9736F228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33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8231470-06F2-C3B0-65E3-2DCB95A7C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Descripción General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6"/>
          <p:cNvSpPr/>
          <p:nvPr/>
        </p:nvSpPr>
        <p:spPr>
          <a:xfrm>
            <a:off x="9248775" y="2852738"/>
            <a:ext cx="292576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6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6"/>
          <p:cNvSpPr/>
          <p:nvPr/>
        </p:nvSpPr>
        <p:spPr>
          <a:xfrm>
            <a:off x="1097280" y="1786325"/>
            <a:ext cx="10255348" cy="459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AR" sz="2400" b="1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2.1. Perspectiva del producto</a:t>
            </a:r>
            <a:endParaRPr sz="2400" b="0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346075" marR="0" lvl="1" indent="-3413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 "/>
            </a:pPr>
            <a:r>
              <a:rPr lang="es-AR" sz="2200" b="0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Si el producto es independiente y totalmente autónomo, debe declararse que así es. </a:t>
            </a:r>
            <a:endParaRPr sz="2200" b="0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346075" marR="0" lvl="1" indent="-3413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 "/>
            </a:pPr>
            <a:r>
              <a:rPr lang="es-AR" sz="2200" b="0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Si el SRS define un producto que es un componente de un sistema más grande entonces se debe relacionar los requerimientos de ese sistema más grande a la funcionalidad del software y debe identificar las interfaces entre ese sistema y el software.</a:t>
            </a:r>
          </a:p>
          <a:p>
            <a:pPr marL="346075" marR="0" lvl="1" indent="-3413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 "/>
            </a:pPr>
            <a:endParaRPr sz="2200" b="0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342900" lvl="0" indent="-342900"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2400" b="1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2.2. Funcionalidad del producto </a:t>
            </a:r>
            <a:endParaRPr lang="es-E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6075" lvl="1" indent="-341313">
              <a:buClr>
                <a:srgbClr val="262626"/>
              </a:buClr>
              <a:buSzPts val="3200"/>
              <a:buFont typeface="Arial"/>
              <a:buChar char=" "/>
            </a:pPr>
            <a:r>
              <a:rPr lang="es-ES" sz="22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Se debe presentar un resumen de las funciones del futuro sistema.</a:t>
            </a:r>
            <a:endParaRPr lang="es-ES" sz="2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6075" lvl="1" indent="-341313">
              <a:buClr>
                <a:srgbClr val="262626"/>
              </a:buClr>
              <a:buSzPts val="3200"/>
              <a:buFont typeface="Arial"/>
              <a:buChar char=" "/>
            </a:pPr>
            <a:r>
              <a:rPr lang="es-ES" sz="22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Las funciones deberán mostrarse de forma organizada, y pueden utilizarse gráficos, siempre que reflejen las relaciones entre funciones y no el diseño del sistema.</a:t>
            </a:r>
            <a:endParaRPr lang="es-ES" sz="2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6075" marR="0" lvl="1" indent="-1381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262626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7E0A0D-94FB-DEA6-C69B-A27C18350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AD54F30-7D22-32D2-A9EA-03097BE39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3F0F92-8675-6C3A-2BFC-562E6819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34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2F0EDE0-FFD4-8F02-089A-75598F9D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dirty="0"/>
              <a:t>2. Descripción General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2F6BA6A8-0B45-4C54-5B79-699931119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6">
            <a:extLst>
              <a:ext uri="{FF2B5EF4-FFF2-40B4-BE49-F238E27FC236}">
                <a16:creationId xmlns:a16="http://schemas.microsoft.com/office/drawing/2014/main" id="{E8A7199D-A45D-A0C1-BDFB-6A3E7ABE8B93}"/>
              </a:ext>
            </a:extLst>
          </p:cNvPr>
          <p:cNvSpPr/>
          <p:nvPr/>
        </p:nvSpPr>
        <p:spPr>
          <a:xfrm>
            <a:off x="9248775" y="2852738"/>
            <a:ext cx="292576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6">
            <a:extLst>
              <a:ext uri="{FF2B5EF4-FFF2-40B4-BE49-F238E27FC236}">
                <a16:creationId xmlns:a16="http://schemas.microsoft.com/office/drawing/2014/main" id="{47F84B7F-9450-280E-59AA-98CC37BAE2F8}"/>
              </a:ext>
            </a:extLst>
          </p:cNvPr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6">
            <a:extLst>
              <a:ext uri="{FF2B5EF4-FFF2-40B4-BE49-F238E27FC236}">
                <a16:creationId xmlns:a16="http://schemas.microsoft.com/office/drawing/2014/main" id="{CA937203-CB17-704F-3259-F4F0C278C58A}"/>
              </a:ext>
            </a:extLst>
          </p:cNvPr>
          <p:cNvSpPr/>
          <p:nvPr/>
        </p:nvSpPr>
        <p:spPr>
          <a:xfrm>
            <a:off x="1097280" y="1786325"/>
            <a:ext cx="10255348" cy="459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AR" sz="2400" b="1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2.3. Características de los usuarios</a:t>
            </a:r>
          </a:p>
          <a:p>
            <a:pPr marL="346075" marR="0" lvl="1" indent="-3413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 "/>
            </a:pPr>
            <a:r>
              <a:rPr lang="es-ES" sz="2200" b="0" i="0" u="none" strike="noStrike" cap="none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Se deben describir las características generales de los usuarios intencionales del producto que incluye nivel educativo, experiencia, y la especialización técnica. </a:t>
            </a:r>
          </a:p>
          <a:p>
            <a:pPr marL="346075" marR="0" lvl="1" indent="-3413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 "/>
            </a:pPr>
            <a:endParaRPr sz="2200" b="0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342900" lvl="0" indent="-342900"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2400" b="1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2.4. Evoluciones previsibles del sistema</a:t>
            </a:r>
          </a:p>
          <a:p>
            <a:pPr marL="346075" lvl="1" indent="-341313">
              <a:buClr>
                <a:srgbClr val="262626"/>
              </a:buClr>
              <a:buSzPts val="3200"/>
              <a:buFont typeface="Arial"/>
              <a:buChar char=" "/>
            </a:pPr>
            <a:r>
              <a:rPr lang="es-ES" sz="22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Se identifican requerimientos que serán implementados en futuras versiones</a:t>
            </a:r>
          </a:p>
          <a:p>
            <a:pPr marL="346075" marR="0" lvl="1" indent="-1381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262626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56A9CA7-17A0-B66B-8085-59E594F18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7884573-664A-A6C1-86B2-88E65295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2E0625-4635-B751-A584-D4E5644D4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35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524E041-457A-3C58-E850-41A5AA71C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dirty="0"/>
              <a:t>2. Descripción General</a:t>
            </a:r>
          </a:p>
        </p:txBody>
      </p:sp>
    </p:spTree>
    <p:extLst>
      <p:ext uri="{BB962C8B-B14F-4D97-AF65-F5344CB8AC3E}">
        <p14:creationId xmlns:p14="http://schemas.microsoft.com/office/powerpoint/2010/main" val="39582831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9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9"/>
          <p:cNvSpPr/>
          <p:nvPr/>
        </p:nvSpPr>
        <p:spPr>
          <a:xfrm>
            <a:off x="984738" y="1786325"/>
            <a:ext cx="10367890" cy="459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534988" marR="0" lvl="0" indent="-450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AR" sz="28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Esta sección d</a:t>
            </a:r>
            <a:r>
              <a:rPr lang="es-AR" sz="28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ebe contener todos los requerimientos no funcionales del software a un nivel de detalle para permitirles a los diseñadores diseñar el sistema, y a los auditores probar que el sistema satisface esos requerimientos.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E83FAD-B04D-104C-A07A-1E9DEE1AB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523289E-89C7-C497-9EC4-75FD89A90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78D101-9DED-B73D-3644-A7D0EF1E7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36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0A3D6F8-4F75-4C25-84A0-89921C51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Requisitos no funcionales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>
          <a:extLst>
            <a:ext uri="{FF2B5EF4-FFF2-40B4-BE49-F238E27FC236}">
              <a16:creationId xmlns:a16="http://schemas.microsoft.com/office/drawing/2014/main" id="{08AEE43C-E1C8-F9F0-FAAD-509F42CC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9">
            <a:extLst>
              <a:ext uri="{FF2B5EF4-FFF2-40B4-BE49-F238E27FC236}">
                <a16:creationId xmlns:a16="http://schemas.microsoft.com/office/drawing/2014/main" id="{5CDB57C9-5314-6393-73D2-C3F772C8357D}"/>
              </a:ext>
            </a:extLst>
          </p:cNvPr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9">
            <a:extLst>
              <a:ext uri="{FF2B5EF4-FFF2-40B4-BE49-F238E27FC236}">
                <a16:creationId xmlns:a16="http://schemas.microsoft.com/office/drawing/2014/main" id="{26187F60-9189-4F8F-5C92-927CA3CA0DE1}"/>
              </a:ext>
            </a:extLst>
          </p:cNvPr>
          <p:cNvSpPr/>
          <p:nvPr/>
        </p:nvSpPr>
        <p:spPr>
          <a:xfrm>
            <a:off x="801858" y="1786325"/>
            <a:ext cx="10550770" cy="459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633413" indent="-366713" algn="just"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2400" b="1" dirty="0">
                <a:solidFill>
                  <a:srgbClr val="262626"/>
                </a:solidFill>
                <a:cs typeface="Calibri"/>
                <a:sym typeface="Calibri"/>
              </a:rPr>
              <a:t>3.1 Requisitos de rendimiento</a:t>
            </a:r>
            <a:endParaRPr lang="es-ES" sz="2400" b="1" dirty="0">
              <a:solidFill>
                <a:srgbClr val="262626"/>
              </a:solidFill>
              <a:cs typeface="Calibri"/>
              <a:sym typeface="Arial"/>
            </a:endParaRPr>
          </a:p>
          <a:p>
            <a:pPr marL="633413" lvl="1" indent="-366713" algn="just"/>
            <a:r>
              <a:rPr lang="es-ES" sz="2200" dirty="0">
                <a:solidFill>
                  <a:srgbClr val="262626"/>
                </a:solidFill>
                <a:cs typeface="Calibri"/>
                <a:sym typeface="Calibri"/>
              </a:rPr>
              <a:t>	Requerimientos relacionados con la carga que se espera que soporte el sistema. Por ejemplo, </a:t>
            </a:r>
            <a:r>
              <a:rPr lang="es-ES" sz="2200" dirty="0" err="1">
                <a:solidFill>
                  <a:srgbClr val="262626"/>
                </a:solidFill>
                <a:cs typeface="Calibri"/>
                <a:sym typeface="Calibri"/>
              </a:rPr>
              <a:t>nº</a:t>
            </a:r>
            <a:r>
              <a:rPr lang="es-ES" sz="2200" dirty="0">
                <a:solidFill>
                  <a:srgbClr val="262626"/>
                </a:solidFill>
                <a:cs typeface="Calibri"/>
                <a:sym typeface="Calibri"/>
              </a:rPr>
              <a:t> de terminales, </a:t>
            </a:r>
            <a:r>
              <a:rPr lang="es-ES" sz="2200" dirty="0" err="1">
                <a:solidFill>
                  <a:srgbClr val="262626"/>
                </a:solidFill>
                <a:cs typeface="Calibri"/>
                <a:sym typeface="Calibri"/>
              </a:rPr>
              <a:t>nº</a:t>
            </a:r>
            <a:r>
              <a:rPr lang="es-ES" sz="2200" dirty="0">
                <a:solidFill>
                  <a:srgbClr val="262626"/>
                </a:solidFill>
                <a:cs typeface="Calibri"/>
                <a:sym typeface="Calibri"/>
              </a:rPr>
              <a:t> de usuarios simultáneamente conectados, etc.</a:t>
            </a:r>
            <a:endParaRPr lang="es-ES" sz="2200" dirty="0">
              <a:solidFill>
                <a:srgbClr val="262626"/>
              </a:solidFill>
              <a:cs typeface="Calibri"/>
              <a:sym typeface="Arial"/>
            </a:endParaRPr>
          </a:p>
          <a:p>
            <a:pPr marL="633413" lvl="1" indent="-366713" algn="just"/>
            <a:r>
              <a:rPr lang="es-ES" sz="2200" dirty="0">
                <a:solidFill>
                  <a:srgbClr val="262626"/>
                </a:solidFill>
                <a:cs typeface="Calibri"/>
                <a:sym typeface="Calibri"/>
              </a:rPr>
              <a:t>	Todos estos requerimientos deben ser mensurables. Por ejemplo, indicando “el 95% de las transacciones deben realizarse en menos de 1 segundo”, en lugar de “los operadores no deben esperar a que se complete la transacción”.</a:t>
            </a:r>
          </a:p>
          <a:p>
            <a:pPr marL="633413" lvl="1" indent="-366713" algn="just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400" b="1" dirty="0">
                <a:solidFill>
                  <a:srgbClr val="262626"/>
                </a:solidFill>
                <a:cs typeface="Calibri"/>
                <a:sym typeface="Calibri"/>
              </a:rPr>
              <a:t>3.2 Seguridad</a:t>
            </a:r>
            <a:endParaRPr lang="es-ES" sz="2400" b="1" dirty="0">
              <a:solidFill>
                <a:srgbClr val="262626"/>
              </a:solidFill>
              <a:cs typeface="Calibri"/>
              <a:sym typeface="Arial"/>
            </a:endParaRPr>
          </a:p>
          <a:p>
            <a:pPr marL="633413" lvl="1" indent="-341313" algn="just">
              <a:buClr>
                <a:srgbClr val="262626"/>
              </a:buClr>
              <a:buSzPts val="3200"/>
              <a:buFont typeface="Arial"/>
              <a:buChar char=" "/>
              <a:tabLst>
                <a:tab pos="633413" algn="l"/>
              </a:tabLst>
            </a:pPr>
            <a:r>
              <a:rPr lang="es-ES" sz="22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Especificación de elementos que protegerán al software de accesos, usos y sabotajes maliciosos, así como de modificaciones o destrucciones maliciosas o accidentales. </a:t>
            </a:r>
          </a:p>
          <a:p>
            <a:pPr marL="633413" lvl="1" indent="-341313" algn="just">
              <a:buClr>
                <a:srgbClr val="262626"/>
              </a:buClr>
              <a:buSzPts val="3200"/>
              <a:buFont typeface="Arial"/>
              <a:buChar char=" "/>
              <a:tabLst>
                <a:tab pos="633413" algn="l"/>
              </a:tabLst>
            </a:pPr>
            <a:r>
              <a:rPr lang="es-ES" sz="22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Los requerimientos pueden especificar: Empleo de técnicas criptográficas, Registro de ficheros con “logs” de actividad,  Asignación de determinadas funcionalidades a determinados módulos, Restricciones de comunicación entre determinados módulos, Comprobaciones de integridad de información crítica.</a:t>
            </a:r>
            <a:endParaRPr lang="es-ES" sz="2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7550" lvl="1" indent="-450850" algn="just"/>
            <a:endParaRPr lang="es-ES" sz="2200" dirty="0">
              <a:solidFill>
                <a:srgbClr val="262626"/>
              </a:solidFill>
              <a:cs typeface="Calibri"/>
              <a:sym typeface="Arial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740EB25-D79E-5004-9CE6-EE3420A54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93656A-D9AF-A7B7-1AC0-B7AB4FB9A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2AE66C-72D7-8C53-1804-46AC1A26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37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201819A-C1F7-B299-3724-CCAC3714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Requisitos no funcionales</a:t>
            </a:r>
          </a:p>
        </p:txBody>
      </p:sp>
    </p:spTree>
    <p:extLst>
      <p:ext uri="{BB962C8B-B14F-4D97-AF65-F5344CB8AC3E}">
        <p14:creationId xmlns:p14="http://schemas.microsoft.com/office/powerpoint/2010/main" val="37380729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>
          <a:extLst>
            <a:ext uri="{FF2B5EF4-FFF2-40B4-BE49-F238E27FC236}">
              <a16:creationId xmlns:a16="http://schemas.microsoft.com/office/drawing/2014/main" id="{9E1A5DA3-3C4D-9339-D359-A9B7E49B0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9">
            <a:extLst>
              <a:ext uri="{FF2B5EF4-FFF2-40B4-BE49-F238E27FC236}">
                <a16:creationId xmlns:a16="http://schemas.microsoft.com/office/drawing/2014/main" id="{063456A7-24EC-4747-295E-8EE0910FD365}"/>
              </a:ext>
            </a:extLst>
          </p:cNvPr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9">
            <a:extLst>
              <a:ext uri="{FF2B5EF4-FFF2-40B4-BE49-F238E27FC236}">
                <a16:creationId xmlns:a16="http://schemas.microsoft.com/office/drawing/2014/main" id="{3949F12A-871C-D5CF-9BB8-C77B48312C48}"/>
              </a:ext>
            </a:extLst>
          </p:cNvPr>
          <p:cNvSpPr/>
          <p:nvPr/>
        </p:nvSpPr>
        <p:spPr>
          <a:xfrm>
            <a:off x="801858" y="1786325"/>
            <a:ext cx="10550770" cy="459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633413" indent="-366713" algn="just"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2400" b="1" dirty="0">
                <a:solidFill>
                  <a:srgbClr val="262626"/>
                </a:solidFill>
                <a:cs typeface="Calibri"/>
                <a:sym typeface="Calibri"/>
              </a:rPr>
              <a:t>3.3 Portabilidad</a:t>
            </a:r>
            <a:endParaRPr lang="es-ES" sz="2400" b="1" dirty="0">
              <a:solidFill>
                <a:srgbClr val="262626"/>
              </a:solidFill>
              <a:cs typeface="Calibri"/>
              <a:sym typeface="Arial"/>
            </a:endParaRPr>
          </a:p>
          <a:p>
            <a:pPr marL="633413" lvl="1" indent="-366713" algn="just"/>
            <a:r>
              <a:rPr lang="es-ES" sz="2200" dirty="0">
                <a:solidFill>
                  <a:srgbClr val="262626"/>
                </a:solidFill>
                <a:cs typeface="Calibri"/>
                <a:sym typeface="Calibri"/>
              </a:rPr>
              <a:t>	Especificación de atributos que debe presentar el software para facilitar su traslado a otras plataformas u entornos. </a:t>
            </a:r>
          </a:p>
          <a:p>
            <a:pPr marL="633413" lvl="1" indent="-366713" algn="just"/>
            <a:r>
              <a:rPr lang="es-ES" sz="2200" dirty="0">
                <a:solidFill>
                  <a:srgbClr val="262626"/>
                </a:solidFill>
                <a:cs typeface="Calibri"/>
                <a:sym typeface="Calibri"/>
              </a:rPr>
              <a:t>	Pueden incluirse: % componentes dependientes del servidor. % código dependiente del servidor. Uso de un determinado lenguaje por su portabilidad. Uso de un determinado compilador o plataforma de desarrollo. Uso de un determinado sistema operativo.</a:t>
            </a:r>
            <a:endParaRPr lang="es-ES" sz="2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7550" lvl="1" indent="-450850" algn="just"/>
            <a:endParaRPr lang="es-ES" sz="2200" dirty="0">
              <a:solidFill>
                <a:srgbClr val="262626"/>
              </a:solidFill>
              <a:cs typeface="Calibri"/>
              <a:sym typeface="Arial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912501F-58FD-E6DE-0538-30C35473E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3B511AF-C075-56B4-9AC9-6459FA140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7321CA-6724-A3F5-14FD-CEB25245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38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C830628-FF2B-0925-797F-3A7C3891D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Requisitos no funcionales</a:t>
            </a:r>
          </a:p>
        </p:txBody>
      </p:sp>
    </p:spTree>
    <p:extLst>
      <p:ext uri="{BB962C8B-B14F-4D97-AF65-F5344CB8AC3E}">
        <p14:creationId xmlns:p14="http://schemas.microsoft.com/office/powerpoint/2010/main" val="42424388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3"/>
          <p:cNvSpPr/>
          <p:nvPr/>
        </p:nvSpPr>
        <p:spPr>
          <a:xfrm>
            <a:off x="9248775" y="2852738"/>
            <a:ext cx="292576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53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53"/>
          <p:cNvSpPr/>
          <p:nvPr/>
        </p:nvSpPr>
        <p:spPr>
          <a:xfrm>
            <a:off x="1097279" y="1786325"/>
            <a:ext cx="10115203" cy="466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0850" marR="0" lvl="0" indent="-450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AR" sz="28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Identificación del tipo de mantenimiento necesario del sistema. </a:t>
            </a:r>
          </a:p>
          <a:p>
            <a:pPr marL="450850" marR="0" lvl="0" indent="-450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-450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AR" sz="28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Especificación de quién debe realizar las tareas de mantenimiento</a:t>
            </a:r>
            <a:r>
              <a:rPr lang="es-AR" sz="28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. P</a:t>
            </a:r>
            <a:r>
              <a:rPr lang="es-AR" sz="28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or ejemplo, usuarios o un desarrollador.</a:t>
            </a:r>
          </a:p>
          <a:p>
            <a:pPr marL="450850" marR="0" lvl="0" indent="-450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-450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AR" sz="28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Especificación de cuándo debe realizarse las tareas de mantenimiento. Por ejemplo, generación de estadísticas de acceso semanales y mensuales.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BC1E4F5-75E7-1C8D-657F-1682DBC19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3E1CB14-B733-D6B9-731C-6576B1F4F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150EC8-23F1-514A-BCDB-EF324F184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39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553D0F7-6189-BC1F-F73C-FA2A4C6CA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Mantenimiento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4"/>
          <p:cNvSpPr/>
          <p:nvPr/>
        </p:nvSpPr>
        <p:spPr>
          <a:xfrm>
            <a:off x="9248775" y="2852738"/>
            <a:ext cx="292576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54"/>
          <p:cNvSpPr/>
          <p:nvPr/>
        </p:nvSpPr>
        <p:spPr>
          <a:xfrm>
            <a:off x="5951538" y="650875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5F0776A-B4F9-7C20-AF4D-A55867F2C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06B6EF-08CC-D26C-F551-AC890BA0C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AEB4FB-BE42-5547-1FE0-82E15008A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40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4D6E8F1-D222-557F-4E3D-4D26FAE66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Apéndices</a:t>
            </a:r>
          </a:p>
        </p:txBody>
      </p:sp>
      <p:sp>
        <p:nvSpPr>
          <p:cNvPr id="6" name="Google Shape;523;p53">
            <a:extLst>
              <a:ext uri="{FF2B5EF4-FFF2-40B4-BE49-F238E27FC236}">
                <a16:creationId xmlns:a16="http://schemas.microsoft.com/office/drawing/2014/main" id="{DA0B6565-0440-02CC-485F-C9501903AB5B}"/>
              </a:ext>
            </a:extLst>
          </p:cNvPr>
          <p:cNvSpPr/>
          <p:nvPr/>
        </p:nvSpPr>
        <p:spPr>
          <a:xfrm>
            <a:off x="1097279" y="1786325"/>
            <a:ext cx="10115203" cy="466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0850" marR="0" lvl="0" indent="-450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28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Pueden contener todo tipo de información relevante para la SRS pero que, propiamente, no forme parte de la SRS.</a:t>
            </a:r>
          </a:p>
          <a:p>
            <a:pPr marL="450850" marR="0" lvl="0" indent="-450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endParaRPr lang="es-ES" sz="2800" dirty="0">
              <a:solidFill>
                <a:srgbClr val="262626"/>
              </a:solidFill>
              <a:latin typeface="Arial"/>
              <a:ea typeface="Arial"/>
              <a:cs typeface="Calibri"/>
              <a:sym typeface="Calibri"/>
            </a:endParaRPr>
          </a:p>
          <a:p>
            <a:pPr marL="346075" lvl="1" indent="-341313">
              <a:buClr>
                <a:srgbClr val="262626"/>
              </a:buClr>
              <a:buSzPts val="3200"/>
              <a:buFont typeface="Arial"/>
              <a:buChar char=" "/>
            </a:pPr>
            <a:r>
              <a:rPr lang="es-ES" sz="28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Por ejemplo:</a:t>
            </a:r>
            <a:endParaRPr lang="es-ES" sz="2800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1082675" lvl="1" indent="-457200">
              <a:buClr>
                <a:srgbClr val="262626"/>
              </a:buClr>
              <a:buSzPts val="3200"/>
              <a:buFont typeface="Arial" panose="020B0604020202020204" pitchFamily="34" charset="0"/>
              <a:buChar char="•"/>
            </a:pPr>
            <a:r>
              <a:rPr lang="es-ES" sz="2800" i="1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Casos de Uso</a:t>
            </a:r>
            <a:endParaRPr lang="es-ES" sz="2800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1082675" lvl="1" indent="-457200">
              <a:buClr>
                <a:srgbClr val="262626"/>
              </a:buClr>
              <a:buSzPts val="3200"/>
              <a:buFont typeface="Arial" panose="020B0604020202020204" pitchFamily="34" charset="0"/>
              <a:buChar char="•"/>
            </a:pPr>
            <a:r>
              <a:rPr lang="es-ES" sz="2800" i="1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Historias de Usuario</a:t>
            </a:r>
            <a:endParaRPr lang="es-ES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400"/>
              <a:buFont typeface="Calibri"/>
              <a:buNone/>
            </a:pPr>
            <a:r>
              <a:rPr lang="es-AR" dirty="0"/>
              <a:t>Comunicación del proyecto</a:t>
            </a:r>
            <a:endParaRPr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0368986-D620-9704-6037-946E12A73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s-AR" sz="2000" dirty="0"/>
              <a:t>Video tipo </a:t>
            </a:r>
            <a:r>
              <a:rPr lang="es-AR" sz="2000" dirty="0" err="1"/>
              <a:t>Elevator</a:t>
            </a:r>
            <a:r>
              <a:rPr lang="es-AR" sz="2000" dirty="0"/>
              <a:t> Pitch</a:t>
            </a:r>
            <a:endParaRPr lang="es-ES" sz="200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0FE3D42-D8C6-E7A6-E0FE-0C92EA45C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415BC3F-BBEE-2A46-F651-D530E9271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8053BB-B23C-7E06-E8D8-DA9C1E57C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41</a:t>
            </a:fld>
            <a:endParaRPr lang="es-ES"/>
          </a:p>
        </p:txBody>
      </p:sp>
      <p:sp>
        <p:nvSpPr>
          <p:cNvPr id="7" name="Google Shape;635;p13">
            <a:extLst>
              <a:ext uri="{FF2B5EF4-FFF2-40B4-BE49-F238E27FC236}">
                <a16:creationId xmlns:a16="http://schemas.microsoft.com/office/drawing/2014/main" id="{A9F0848A-6CB2-19A1-D843-8421950FE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731837"/>
            <a:ext cx="6492875" cy="5727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AR" sz="28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¿Cómo comunicar un proyecto o idea?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endParaRPr lang="es-AR" sz="28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s-E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Les proponemos ver esta situación y luego realizaremos un análisis para ver las características y formas de comunicar</a:t>
            </a:r>
            <a:endParaRPr lang="es-ES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endParaRPr lang="es-ES"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s-ES" sz="28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Elevator</a:t>
            </a:r>
            <a:r>
              <a:rPr lang="es-E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 Pitch – 20 segundos!!</a:t>
            </a:r>
            <a:endParaRPr lang="es-ES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endParaRPr lang="es-ES" sz="1200" b="0" i="0" u="none" strike="noStrike" cap="none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endParaRPr lang="es-ES" sz="1200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endParaRPr lang="es-ES" sz="1200" b="0" i="0" u="none" strike="noStrike" cap="none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endParaRPr lang="es-ES" sz="1200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endParaRPr lang="es-ES" sz="1200" b="0" i="0" u="none" strike="noStrike" cap="none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endParaRPr lang="es-ES" sz="1200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endParaRPr lang="es-ES" sz="1200" b="0" i="0" u="none" strike="noStrike" cap="none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endParaRPr lang="es-ES" sz="1200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endParaRPr lang="es-ES" sz="1200" b="0" i="0" u="none" strike="noStrike" cap="none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endParaRPr lang="es-ES" sz="1200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endParaRPr lang="es-ES" sz="1200" b="0" i="0" u="none" strike="noStrike" cap="none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endParaRPr lang="es-ES" sz="1200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lang="es-AR" sz="1400" b="1" u="sng" dirty="0">
                <a:solidFill>
                  <a:schemeClr val="dk1"/>
                </a:solidFill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https://www.youtube.com/watch?v=2b3xG_YjgvI</a:t>
            </a:r>
            <a:endParaRPr lang="es-AR" sz="1400" b="1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endParaRPr sz="2800" b="0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638;p13" descr="Código QR&#10;&#10;El contenido generado por IA puede ser incorrecto.">
            <a:extLst>
              <a:ext uri="{FF2B5EF4-FFF2-40B4-BE49-F238E27FC236}">
                <a16:creationId xmlns:a16="http://schemas.microsoft.com/office/drawing/2014/main" id="{B50560C0-3846-52BE-7836-DEAF1030C4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6275" b="9504"/>
          <a:stretch>
            <a:fillRect/>
          </a:stretch>
        </p:blipFill>
        <p:spPr>
          <a:xfrm>
            <a:off x="8277371" y="3914274"/>
            <a:ext cx="2342857" cy="1973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685DF9D-BE8B-BD91-B12A-D037099B3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62CD547-2838-7C66-0E15-94A5B0BC3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FD112C-F519-A5A4-06CA-9E057D3E2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42</a:t>
            </a:fld>
            <a:endParaRPr lang="es-ES"/>
          </a:p>
        </p:txBody>
      </p:sp>
      <p:sp>
        <p:nvSpPr>
          <p:cNvPr id="644" name="Google Shape;644;p14"/>
          <p:cNvSpPr txBox="1">
            <a:spLocks noGrp="1"/>
          </p:cNvSpPr>
          <p:nvPr>
            <p:ph type="title"/>
          </p:nvPr>
        </p:nvSpPr>
        <p:spPr>
          <a:xfrm>
            <a:off x="1097280" y="985177"/>
            <a:ext cx="10058400" cy="75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s-AR" dirty="0" err="1"/>
              <a:t>Elevator</a:t>
            </a:r>
            <a:r>
              <a:rPr lang="es-AR" dirty="0"/>
              <a:t> Pitch</a:t>
            </a:r>
            <a:endParaRPr dirty="0"/>
          </a:p>
        </p:txBody>
      </p:sp>
      <p:sp>
        <p:nvSpPr>
          <p:cNvPr id="645" name="Google Shape;645;p14"/>
          <p:cNvSpPr/>
          <p:nvPr/>
        </p:nvSpPr>
        <p:spPr>
          <a:xfrm>
            <a:off x="962526" y="1892968"/>
            <a:ext cx="10354452" cy="3717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lvl="0" indent="-45720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¿Qué es lo primero que debe hacerse para arrancar la presentación de la idea/proyecto?</a:t>
            </a:r>
            <a:endParaRPr lang="es-ES" sz="3200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457200" lvl="0" indent="-45720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lang="es-ES" sz="32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457200" lvl="0" indent="-45720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¿Cómo se ofrece el proyecto?</a:t>
            </a:r>
            <a:endParaRPr lang="es-ES" sz="3200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457200" lvl="0" indent="-45720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lang="es-ES" sz="32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457200" lvl="0" indent="-45720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¿Cómo sugiere el video que se consiga el financiamiento?</a:t>
            </a:r>
            <a:endParaRPr lang="es-ES" sz="3200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457200" lvl="0" indent="-45720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endParaRPr lang="es-ES" sz="32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457200" lvl="0" indent="-457200" algn="just">
              <a:buClr>
                <a:srgbClr val="C00000"/>
              </a:buClr>
              <a:buSzPts val="2800"/>
              <a:buFont typeface="Wingdings" panose="05000000000000000000" pitchFamily="2" charset="2"/>
              <a:buChar char="v"/>
            </a:pPr>
            <a:r>
              <a:rPr lang="es-E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¿Cómo se sugiere continuar la presentación del proyecto?</a:t>
            </a:r>
            <a:endParaRPr lang="es-ES"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endParaRPr sz="3200" b="0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>
          <a:extLst>
            <a:ext uri="{FF2B5EF4-FFF2-40B4-BE49-F238E27FC236}">
              <a16:creationId xmlns:a16="http://schemas.microsoft.com/office/drawing/2014/main" id="{D435A823-3A71-E56C-31A4-FBE60012B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AB2E50-9812-3B35-935D-01980F45B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9D2C48-6945-5C5F-7D27-321C334E5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16D8D3-368B-234C-E7FE-76641EF2E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43</a:t>
            </a:fld>
            <a:endParaRPr lang="es-ES"/>
          </a:p>
        </p:txBody>
      </p:sp>
      <p:sp>
        <p:nvSpPr>
          <p:cNvPr id="644" name="Google Shape;644;p14">
            <a:extLst>
              <a:ext uri="{FF2B5EF4-FFF2-40B4-BE49-F238E27FC236}">
                <a16:creationId xmlns:a16="http://schemas.microsoft.com/office/drawing/2014/main" id="{EBE66A72-AEE7-CE94-42B4-7B1E222CA8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985177"/>
            <a:ext cx="10058400" cy="75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s-AR" dirty="0" err="1"/>
              <a:t>Elevator</a:t>
            </a:r>
            <a:r>
              <a:rPr lang="es-AR" dirty="0"/>
              <a:t> Pitch</a:t>
            </a:r>
            <a:endParaRPr dirty="0"/>
          </a:p>
        </p:txBody>
      </p:sp>
      <p:sp>
        <p:nvSpPr>
          <p:cNvPr id="645" name="Google Shape;645;p14">
            <a:extLst>
              <a:ext uri="{FF2B5EF4-FFF2-40B4-BE49-F238E27FC236}">
                <a16:creationId xmlns:a16="http://schemas.microsoft.com/office/drawing/2014/main" id="{01C49B65-3584-914B-AD2D-383B9A25E16A}"/>
              </a:ext>
            </a:extLst>
          </p:cNvPr>
          <p:cNvSpPr/>
          <p:nvPr/>
        </p:nvSpPr>
        <p:spPr>
          <a:xfrm>
            <a:off x="962526" y="1892968"/>
            <a:ext cx="10354452" cy="3717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lvl="0" indent="-457200" algn="just">
              <a:buClr>
                <a:srgbClr val="C00000"/>
              </a:buClr>
              <a:buSzPts val="3200"/>
              <a:buFont typeface="Wingdings" panose="05000000000000000000" pitchFamily="2" charset="2"/>
              <a:buChar char="v"/>
            </a:pPr>
            <a:r>
              <a:rPr lang="es-E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Un “</a:t>
            </a:r>
            <a:r>
              <a:rPr lang="es-ES" sz="32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elevator</a:t>
            </a:r>
            <a:r>
              <a:rPr lang="es-E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pitch” es un mensaje corto de aproximadamente un minuto de duración para contar tu proyecto de manera diferenciadora.</a:t>
            </a:r>
          </a:p>
          <a:p>
            <a:pPr marL="457200" lvl="0" indent="-457200" algn="just">
              <a:buClr>
                <a:srgbClr val="C00000"/>
              </a:buClr>
              <a:buSzPts val="3200"/>
              <a:buFont typeface="Wingdings" panose="05000000000000000000" pitchFamily="2" charset="2"/>
              <a:buChar char="v"/>
            </a:pPr>
            <a:endParaRPr lang="es-ES" sz="32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457200" indent="-457200" algn="just">
              <a:buClr>
                <a:srgbClr val="C00000"/>
              </a:buClr>
              <a:buSzPts val="3200"/>
              <a:buFont typeface="Wingdings" panose="05000000000000000000" pitchFamily="2" charset="2"/>
              <a:buChar char="v"/>
            </a:pPr>
            <a:r>
              <a:rPr lang="es-ES" sz="32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¿Cómo hacer un </a:t>
            </a:r>
            <a:r>
              <a:rPr lang="es-ES" sz="3200" dirty="0" err="1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Elevator</a:t>
            </a:r>
            <a:r>
              <a:rPr lang="es-ES" sz="32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 pitch?</a:t>
            </a:r>
          </a:p>
          <a:p>
            <a:pPr marL="457200" indent="-457200" algn="just">
              <a:buClr>
                <a:srgbClr val="C00000"/>
              </a:buClr>
              <a:buSzPts val="3200"/>
              <a:buFont typeface="Wingdings" panose="05000000000000000000" pitchFamily="2" charset="2"/>
              <a:buChar char="v"/>
            </a:pPr>
            <a:endParaRPr lang="es-ES" sz="3200" dirty="0">
              <a:solidFill>
                <a:srgbClr val="262626"/>
              </a:solidFill>
              <a:ea typeface="Calibri"/>
              <a:cs typeface="Calibri"/>
              <a:sym typeface="Calibri"/>
            </a:endParaRPr>
          </a:p>
          <a:p>
            <a:pPr marL="457200" indent="-457200" algn="just">
              <a:buClr>
                <a:srgbClr val="C00000"/>
              </a:buClr>
              <a:buSzPts val="3200"/>
              <a:buFont typeface="Wingdings" panose="05000000000000000000" pitchFamily="2" charset="2"/>
              <a:buChar char="v"/>
            </a:pPr>
            <a:endParaRPr lang="es-ES" sz="3200" dirty="0">
              <a:solidFill>
                <a:srgbClr val="262626"/>
              </a:solidFill>
              <a:ea typeface="Calibri"/>
              <a:cs typeface="Calibri"/>
              <a:sym typeface="Calibri"/>
            </a:endParaRPr>
          </a:p>
          <a:p>
            <a:pPr marL="457200" indent="-457200" algn="just">
              <a:buClr>
                <a:srgbClr val="C00000"/>
              </a:buClr>
              <a:buSzPts val="3200"/>
              <a:buFont typeface="Wingdings" panose="05000000000000000000" pitchFamily="2" charset="2"/>
              <a:buChar char="v"/>
            </a:pPr>
            <a:endParaRPr lang="es-ES" sz="3200" dirty="0">
              <a:solidFill>
                <a:srgbClr val="262626"/>
              </a:solidFill>
              <a:ea typeface="Calibri"/>
              <a:cs typeface="Calibri"/>
              <a:sym typeface="Calibri"/>
            </a:endParaRPr>
          </a:p>
          <a:p>
            <a:pPr algn="r">
              <a:buClr>
                <a:srgbClr val="C00000"/>
              </a:buClr>
              <a:buSzPts val="3200"/>
            </a:pPr>
            <a:r>
              <a:rPr lang="es-AR" sz="1400" dirty="0">
                <a:solidFill>
                  <a:schemeClr val="dk1"/>
                </a:solidFill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https://www.youtube.com/watch?v=uv357YzY7-k</a:t>
            </a:r>
            <a:endParaRPr lang="es-AR" sz="14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457200" indent="-457200" algn="just">
              <a:buClr>
                <a:srgbClr val="C00000"/>
              </a:buClr>
              <a:buSzPts val="3200"/>
              <a:buFont typeface="Wingdings" panose="05000000000000000000" pitchFamily="2" charset="2"/>
              <a:buChar char="v"/>
            </a:pPr>
            <a:endParaRPr lang="es-ES" sz="3200" dirty="0">
              <a:solidFill>
                <a:srgbClr val="7030A0"/>
              </a:solidFill>
              <a:ea typeface="Calibri"/>
              <a:cs typeface="Calibri"/>
              <a:sym typeface="Calibri"/>
            </a:endParaRPr>
          </a:p>
          <a:p>
            <a:pPr lvl="0" algn="just">
              <a:buClr>
                <a:srgbClr val="000000"/>
              </a:buClr>
              <a:buSzPts val="3200"/>
            </a:pPr>
            <a:endParaRPr lang="es-ES" sz="32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lvl="0" algn="just">
              <a:buClr>
                <a:srgbClr val="000000"/>
              </a:buClr>
              <a:buSzPts val="3200"/>
            </a:pPr>
            <a:endParaRPr lang="es-ES" sz="3200" dirty="0">
              <a:solidFill>
                <a:schemeClr val="dk1"/>
              </a:solidFill>
              <a:latin typeface="Arial"/>
              <a:ea typeface="Arial"/>
              <a:cs typeface="Calibri"/>
              <a:sym typeface="Calibri"/>
            </a:endParaRPr>
          </a:p>
          <a:p>
            <a:pPr lvl="0" algn="just">
              <a:buClr>
                <a:srgbClr val="000000"/>
              </a:buClr>
              <a:buSzPts val="3200"/>
            </a:pPr>
            <a:endParaRPr lang="es-E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endParaRPr sz="3200" b="0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656;p15" descr="Código QR&#10;&#10;El contenido generado por IA puede ser incorrecto.">
            <a:extLst>
              <a:ext uri="{FF2B5EF4-FFF2-40B4-BE49-F238E27FC236}">
                <a16:creationId xmlns:a16="http://schemas.microsoft.com/office/drawing/2014/main" id="{35A88D76-5B51-B1F8-4580-3BBB2517001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1179"/>
          <a:stretch>
            <a:fillRect/>
          </a:stretch>
        </p:blipFill>
        <p:spPr>
          <a:xfrm>
            <a:off x="8213613" y="3685574"/>
            <a:ext cx="2342857" cy="20809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486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D1F5025-840D-F8B0-351B-666A4CD49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1A9917-19E4-C23C-3FCD-40AF4CC9A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BFCF97-E4CE-89E3-13B1-A648EAB32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44</a:t>
            </a:fld>
            <a:endParaRPr lang="es-ES"/>
          </a:p>
        </p:txBody>
      </p:sp>
      <p:sp>
        <p:nvSpPr>
          <p:cNvPr id="662" name="Google Shape;662;p16"/>
          <p:cNvSpPr txBox="1">
            <a:spLocks noGrp="1"/>
          </p:cNvSpPr>
          <p:nvPr>
            <p:ph type="title"/>
          </p:nvPr>
        </p:nvSpPr>
        <p:spPr>
          <a:xfrm>
            <a:off x="1097280" y="1020600"/>
            <a:ext cx="10058400" cy="71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s-AR" dirty="0" err="1"/>
              <a:t>Elevator</a:t>
            </a:r>
            <a:r>
              <a:rPr lang="es-AR" dirty="0"/>
              <a:t> Pitch – Los 7 pasos del video</a:t>
            </a:r>
            <a:endParaRPr dirty="0"/>
          </a:p>
        </p:txBody>
      </p:sp>
      <p:grpSp>
        <p:nvGrpSpPr>
          <p:cNvPr id="664" name="Google Shape;664;p16"/>
          <p:cNvGrpSpPr/>
          <p:nvPr/>
        </p:nvGrpSpPr>
        <p:grpSpPr>
          <a:xfrm>
            <a:off x="1459831" y="1769444"/>
            <a:ext cx="9480885" cy="4535107"/>
            <a:chOff x="0" y="0"/>
            <a:chExt cx="9432155" cy="4749886"/>
          </a:xfrm>
        </p:grpSpPr>
        <p:sp>
          <p:nvSpPr>
            <p:cNvPr id="665" name="Google Shape;665;p16"/>
            <p:cNvSpPr/>
            <p:nvPr/>
          </p:nvSpPr>
          <p:spPr>
            <a:xfrm rot="5400000">
              <a:off x="-112606" y="115252"/>
              <a:ext cx="750706" cy="525493"/>
            </a:xfrm>
            <a:prstGeom prst="chevron">
              <a:avLst>
                <a:gd name="adj" fmla="val 50000"/>
              </a:avLst>
            </a:prstGeom>
            <a:solidFill>
              <a:srgbClr val="62891C"/>
            </a:solidFill>
            <a:ln w="12700" cap="flat" cmpd="sng">
              <a:solidFill>
                <a:srgbClr val="6289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6"/>
            <p:cNvSpPr txBox="1"/>
            <p:nvPr/>
          </p:nvSpPr>
          <p:spPr>
            <a:xfrm>
              <a:off x="1" y="298996"/>
              <a:ext cx="525493" cy="225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AR" sz="14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6"/>
            <p:cNvSpPr/>
            <p:nvPr/>
          </p:nvSpPr>
          <p:spPr>
            <a:xfrm rot="5400000">
              <a:off x="4734845" y="-4209352"/>
              <a:ext cx="487957" cy="8906662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7843"/>
              </a:schemeClr>
            </a:solidFill>
            <a:ln w="12700" cap="flat" cmpd="sng">
              <a:solidFill>
                <a:srgbClr val="6289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6"/>
            <p:cNvSpPr txBox="1"/>
            <p:nvPr/>
          </p:nvSpPr>
          <p:spPr>
            <a:xfrm>
              <a:off x="636112" y="23820"/>
              <a:ext cx="8772223" cy="4403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2000" tIns="17125" rIns="17125" bIns="17125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Char char="•"/>
              </a:pPr>
              <a:r>
                <a:rPr lang="es-AR" sz="27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Afirmación o pregunta sorprendente para llamar la atención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6"/>
            <p:cNvSpPr/>
            <p:nvPr/>
          </p:nvSpPr>
          <p:spPr>
            <a:xfrm rot="5400000">
              <a:off x="-112607" y="781342"/>
              <a:ext cx="750708" cy="525493"/>
            </a:xfrm>
            <a:prstGeom prst="chevron">
              <a:avLst>
                <a:gd name="adj" fmla="val 50000"/>
              </a:avLst>
            </a:prstGeom>
            <a:solidFill>
              <a:srgbClr val="478B28"/>
            </a:solidFill>
            <a:ln w="12700" cap="flat" cmpd="sng">
              <a:solidFill>
                <a:srgbClr val="478B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6"/>
            <p:cNvSpPr txBox="1"/>
            <p:nvPr/>
          </p:nvSpPr>
          <p:spPr>
            <a:xfrm>
              <a:off x="1" y="965085"/>
              <a:ext cx="525493" cy="225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AR" sz="14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16"/>
            <p:cNvSpPr/>
            <p:nvPr/>
          </p:nvSpPr>
          <p:spPr>
            <a:xfrm rot="5400000">
              <a:off x="4734845" y="-3540618"/>
              <a:ext cx="487957" cy="8906662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7843"/>
              </a:schemeClr>
            </a:solidFill>
            <a:ln w="12700" cap="flat" cmpd="sng">
              <a:solidFill>
                <a:srgbClr val="478B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6"/>
            <p:cNvSpPr txBox="1"/>
            <p:nvPr/>
          </p:nvSpPr>
          <p:spPr>
            <a:xfrm>
              <a:off x="636112" y="692554"/>
              <a:ext cx="8772223" cy="4403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2000" tIns="17125" rIns="17125" bIns="17125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Char char="•"/>
              </a:pPr>
              <a:r>
                <a:rPr lang="es-AR" sz="27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Presentación: contar quién eres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16"/>
            <p:cNvSpPr/>
            <p:nvPr/>
          </p:nvSpPr>
          <p:spPr>
            <a:xfrm rot="5400000">
              <a:off x="-112607" y="1447431"/>
              <a:ext cx="750708" cy="525493"/>
            </a:xfrm>
            <a:prstGeom prst="chevron">
              <a:avLst>
                <a:gd name="adj" fmla="val 50000"/>
              </a:avLst>
            </a:prstGeom>
            <a:solidFill>
              <a:srgbClr val="348C36"/>
            </a:solidFill>
            <a:ln w="12700" cap="flat" cmpd="sng">
              <a:solidFill>
                <a:srgbClr val="348C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16"/>
            <p:cNvSpPr txBox="1"/>
            <p:nvPr/>
          </p:nvSpPr>
          <p:spPr>
            <a:xfrm>
              <a:off x="1" y="1631174"/>
              <a:ext cx="525493" cy="225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AR" sz="14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6"/>
            <p:cNvSpPr/>
            <p:nvPr/>
          </p:nvSpPr>
          <p:spPr>
            <a:xfrm rot="5400000">
              <a:off x="4734845" y="-2874529"/>
              <a:ext cx="487957" cy="8906662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7843"/>
              </a:schemeClr>
            </a:solidFill>
            <a:ln w="12700" cap="flat" cmpd="sng">
              <a:solidFill>
                <a:srgbClr val="348C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16"/>
            <p:cNvSpPr txBox="1"/>
            <p:nvPr/>
          </p:nvSpPr>
          <p:spPr>
            <a:xfrm>
              <a:off x="636112" y="1358643"/>
              <a:ext cx="8772223" cy="4403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2000" tIns="17125" rIns="17125" bIns="17125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Char char="•"/>
              </a:pPr>
              <a:r>
                <a:rPr lang="es-AR" sz="27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Problemas o necesidades que cubres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16"/>
            <p:cNvSpPr/>
            <p:nvPr/>
          </p:nvSpPr>
          <p:spPr>
            <a:xfrm rot="5400000">
              <a:off x="-112607" y="2113520"/>
              <a:ext cx="750708" cy="525493"/>
            </a:xfrm>
            <a:prstGeom prst="chevron">
              <a:avLst>
                <a:gd name="adj" fmla="val 50000"/>
              </a:avLst>
            </a:prstGeom>
            <a:solidFill>
              <a:srgbClr val="428C5B"/>
            </a:solidFill>
            <a:ln w="12700" cap="flat" cmpd="sng">
              <a:solidFill>
                <a:srgbClr val="428C5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16"/>
            <p:cNvSpPr txBox="1"/>
            <p:nvPr/>
          </p:nvSpPr>
          <p:spPr>
            <a:xfrm>
              <a:off x="1" y="2297263"/>
              <a:ext cx="525493" cy="225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AR"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16"/>
            <p:cNvSpPr/>
            <p:nvPr/>
          </p:nvSpPr>
          <p:spPr>
            <a:xfrm rot="5400000">
              <a:off x="4734845" y="-2208440"/>
              <a:ext cx="487957" cy="8906662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7843"/>
              </a:schemeClr>
            </a:solidFill>
            <a:ln w="12700" cap="flat" cmpd="sng">
              <a:solidFill>
                <a:srgbClr val="428C5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16"/>
            <p:cNvSpPr txBox="1"/>
            <p:nvPr/>
          </p:nvSpPr>
          <p:spPr>
            <a:xfrm>
              <a:off x="636112" y="2024732"/>
              <a:ext cx="8772223" cy="4403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2000" tIns="17125" rIns="17125" bIns="17125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Char char="•"/>
              </a:pPr>
              <a:r>
                <a:rPr lang="es-AR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¿Qué soluciones aportas?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16"/>
            <p:cNvSpPr/>
            <p:nvPr/>
          </p:nvSpPr>
          <p:spPr>
            <a:xfrm rot="5400000">
              <a:off x="-112607" y="2779609"/>
              <a:ext cx="750708" cy="525493"/>
            </a:xfrm>
            <a:prstGeom prst="chevron">
              <a:avLst>
                <a:gd name="adj" fmla="val 50000"/>
              </a:avLst>
            </a:prstGeom>
            <a:solidFill>
              <a:srgbClr val="518B77"/>
            </a:solidFill>
            <a:ln w="12700" cap="flat" cmpd="sng">
              <a:solidFill>
                <a:srgbClr val="518B7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16"/>
            <p:cNvSpPr txBox="1"/>
            <p:nvPr/>
          </p:nvSpPr>
          <p:spPr>
            <a:xfrm>
              <a:off x="1" y="2963351"/>
              <a:ext cx="525493" cy="225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AR"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16"/>
            <p:cNvSpPr/>
            <p:nvPr/>
          </p:nvSpPr>
          <p:spPr>
            <a:xfrm rot="5400000">
              <a:off x="4734845" y="-1542351"/>
              <a:ext cx="487957" cy="8906662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7843"/>
              </a:schemeClr>
            </a:solidFill>
            <a:ln w="12700" cap="flat" cmpd="sng">
              <a:solidFill>
                <a:srgbClr val="518B7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16"/>
            <p:cNvSpPr txBox="1"/>
            <p:nvPr/>
          </p:nvSpPr>
          <p:spPr>
            <a:xfrm>
              <a:off x="636112" y="2690821"/>
              <a:ext cx="8772223" cy="4403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2000" tIns="17125" rIns="17125" bIns="17125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Char char="•"/>
              </a:pPr>
              <a:r>
                <a:rPr lang="es-AR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¿Qué beneficio principal obtiene la gente contigo?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16"/>
            <p:cNvSpPr/>
            <p:nvPr/>
          </p:nvSpPr>
          <p:spPr>
            <a:xfrm rot="5400000">
              <a:off x="-112607" y="3445698"/>
              <a:ext cx="750708" cy="525493"/>
            </a:xfrm>
            <a:prstGeom prst="chevron">
              <a:avLst>
                <a:gd name="adj" fmla="val 50000"/>
              </a:avLst>
            </a:prstGeom>
            <a:solidFill>
              <a:srgbClr val="618888"/>
            </a:solidFill>
            <a:ln w="12700" cap="flat" cmpd="sng">
              <a:solidFill>
                <a:srgbClr val="6188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16"/>
            <p:cNvSpPr txBox="1"/>
            <p:nvPr/>
          </p:nvSpPr>
          <p:spPr>
            <a:xfrm>
              <a:off x="1" y="3629440"/>
              <a:ext cx="525493" cy="225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AR"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16"/>
            <p:cNvSpPr/>
            <p:nvPr/>
          </p:nvSpPr>
          <p:spPr>
            <a:xfrm rot="5400000">
              <a:off x="4734845" y="-876262"/>
              <a:ext cx="487957" cy="8906662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7843"/>
              </a:schemeClr>
            </a:solidFill>
            <a:ln w="12700" cap="flat" cmpd="sng">
              <a:solidFill>
                <a:srgbClr val="6188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16"/>
            <p:cNvSpPr txBox="1"/>
            <p:nvPr/>
          </p:nvSpPr>
          <p:spPr>
            <a:xfrm>
              <a:off x="636112" y="3356910"/>
              <a:ext cx="8772223" cy="4403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2000" tIns="17125" rIns="17125" bIns="17125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Char char="•"/>
              </a:pPr>
              <a:r>
                <a:rPr lang="es-AR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¿Por qué tu proyecto es el idóneo?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16"/>
            <p:cNvSpPr/>
            <p:nvPr/>
          </p:nvSpPr>
          <p:spPr>
            <a:xfrm rot="5400000">
              <a:off x="-112606" y="4111786"/>
              <a:ext cx="750707" cy="525493"/>
            </a:xfrm>
            <a:prstGeom prst="chevron">
              <a:avLst>
                <a:gd name="adj" fmla="val 50000"/>
              </a:avLst>
            </a:prstGeom>
            <a:solidFill>
              <a:srgbClr val="737E84"/>
            </a:solidFill>
            <a:ln w="12700" cap="flat" cmpd="sng">
              <a:solidFill>
                <a:srgbClr val="737E8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16"/>
            <p:cNvSpPr txBox="1"/>
            <p:nvPr/>
          </p:nvSpPr>
          <p:spPr>
            <a:xfrm>
              <a:off x="1" y="4295529"/>
              <a:ext cx="525493" cy="225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AR" sz="14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16"/>
            <p:cNvSpPr/>
            <p:nvPr/>
          </p:nvSpPr>
          <p:spPr>
            <a:xfrm rot="5400000">
              <a:off x="4734845" y="-210173"/>
              <a:ext cx="487957" cy="8906662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7843"/>
              </a:schemeClr>
            </a:solidFill>
            <a:ln w="12700" cap="flat" cmpd="sng">
              <a:solidFill>
                <a:srgbClr val="737E8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16"/>
            <p:cNvSpPr txBox="1"/>
            <p:nvPr/>
          </p:nvSpPr>
          <p:spPr>
            <a:xfrm>
              <a:off x="636112" y="4022999"/>
              <a:ext cx="8772223" cy="4403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2000" tIns="17125" rIns="17125" bIns="17125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Char char="•"/>
              </a:pPr>
              <a:r>
                <a:rPr lang="es-AR" sz="27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Termina con una llamada a la acción final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CDA1D637-8E75-898E-5877-5482D282C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6848C21-5D33-81B1-30B1-C9103E55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B8BB72-26E4-E8C5-EA0F-7910784E1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D1F7B5-64B3-2CB5-B22A-D2B9E5448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45</a:t>
            </a:fld>
            <a:endParaRPr lang="es-ES"/>
          </a:p>
        </p:txBody>
      </p:sp>
      <p:sp>
        <p:nvSpPr>
          <p:cNvPr id="662" name="Google Shape;662;p16">
            <a:extLst>
              <a:ext uri="{FF2B5EF4-FFF2-40B4-BE49-F238E27FC236}">
                <a16:creationId xmlns:a16="http://schemas.microsoft.com/office/drawing/2014/main" id="{62522B14-EA5D-E0F4-34FB-68187D44DA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020600"/>
            <a:ext cx="10058400" cy="71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s-AR" dirty="0" err="1"/>
              <a:t>Elevator</a:t>
            </a:r>
            <a:r>
              <a:rPr lang="es-AR" dirty="0"/>
              <a:t> Pitch – Los 7 pasos del video</a:t>
            </a:r>
            <a:endParaRPr dirty="0"/>
          </a:p>
        </p:txBody>
      </p:sp>
      <p:pic>
        <p:nvPicPr>
          <p:cNvPr id="5" name="Google Shape;698;p56" title="Elevator Pitch - visual selection (3).png">
            <a:extLst>
              <a:ext uri="{FF2B5EF4-FFF2-40B4-BE49-F238E27FC236}">
                <a16:creationId xmlns:a16="http://schemas.microsoft.com/office/drawing/2014/main" id="{DEA80EA0-2F13-74A9-48C8-867ED2D00EF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t="12164" b="5807"/>
          <a:stretch>
            <a:fillRect/>
          </a:stretch>
        </p:blipFill>
        <p:spPr>
          <a:xfrm>
            <a:off x="2635037" y="1785486"/>
            <a:ext cx="6921926" cy="45186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7478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B14C25BA-9DC8-3B92-C6BF-DF7F577A0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DA21C1D-2325-958C-1A94-02E86E11D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F4B1ECB-7795-56A8-2083-74BC2FA47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A0F4BA-B2F1-F6D3-D60F-DDD47EB63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46</a:t>
            </a:fld>
            <a:endParaRPr lang="es-ES"/>
          </a:p>
        </p:txBody>
      </p:sp>
      <p:sp>
        <p:nvSpPr>
          <p:cNvPr id="662" name="Google Shape;662;p16">
            <a:extLst>
              <a:ext uri="{FF2B5EF4-FFF2-40B4-BE49-F238E27FC236}">
                <a16:creationId xmlns:a16="http://schemas.microsoft.com/office/drawing/2014/main" id="{CE1ECFF5-43F2-2C8C-2A18-26AA109BFE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020600"/>
            <a:ext cx="10058400" cy="71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s-AR" dirty="0" err="1"/>
              <a:t>Elevator</a:t>
            </a:r>
            <a:r>
              <a:rPr lang="es-AR" dirty="0"/>
              <a:t> Pitch – </a:t>
            </a:r>
            <a:r>
              <a:rPr lang="es-AR" dirty="0" err="1"/>
              <a:t>Tips</a:t>
            </a:r>
            <a:r>
              <a:rPr lang="es-AR" dirty="0"/>
              <a:t> para elaborar el </a:t>
            </a:r>
            <a:r>
              <a:rPr lang="es-AR" dirty="0" err="1"/>
              <a:t>guión</a:t>
            </a:r>
            <a:endParaRPr dirty="0"/>
          </a:p>
        </p:txBody>
      </p:sp>
      <p:pic>
        <p:nvPicPr>
          <p:cNvPr id="704" name="Google Shape;704;p57" descr="Interfaz de usuario gráfica, Texto, Aplicación, Chat o mensaje de text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 t="13375" b="8069"/>
          <a:stretch>
            <a:fillRect/>
          </a:stretch>
        </p:blipFill>
        <p:spPr>
          <a:xfrm>
            <a:off x="3966253" y="1769444"/>
            <a:ext cx="4320454" cy="45351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10224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35540A8-0625-2F32-FDF5-F9348FAA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8C6437C-2F97-570A-1934-F00A05C2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1FEF49-1659-7FD5-B1FE-9F2B7F6CC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47</a:t>
            </a:fld>
            <a:endParaRPr lang="es-ES"/>
          </a:p>
        </p:txBody>
      </p:sp>
      <p:sp>
        <p:nvSpPr>
          <p:cNvPr id="709" name="Google Shape;709;p58"/>
          <p:cNvSpPr txBox="1">
            <a:spLocks noGrp="1"/>
          </p:cNvSpPr>
          <p:nvPr>
            <p:ph type="title"/>
          </p:nvPr>
        </p:nvSpPr>
        <p:spPr>
          <a:xfrm>
            <a:off x="1097280" y="898358"/>
            <a:ext cx="10058400" cy="83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s-AR" dirty="0"/>
              <a:t>Presentación oral en vivo - Consejos</a:t>
            </a:r>
            <a:endParaRPr dirty="0"/>
          </a:p>
        </p:txBody>
      </p:sp>
      <p:pic>
        <p:nvPicPr>
          <p:cNvPr id="710" name="Google Shape;710;p58" descr="Diagrama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 t="20692" b="8910"/>
          <a:stretch>
            <a:fillRect/>
          </a:stretch>
        </p:blipFill>
        <p:spPr>
          <a:xfrm>
            <a:off x="2307002" y="2085288"/>
            <a:ext cx="7577996" cy="4026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E66BDA0-3E28-ADB5-DDCA-53FC0ABF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EBD1CC-FEF8-02B2-4139-FD28DE6DF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3E90FD-ED5C-77AE-E113-8514C8C2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AC9C-ACC0-4EC3-93B1-4DD7B869C923}" type="slidenum">
              <a:rPr lang="es-ES" smtClean="0"/>
              <a:t>48</a:t>
            </a:fld>
            <a:endParaRPr lang="es-ES"/>
          </a:p>
        </p:txBody>
      </p:sp>
      <p:sp>
        <p:nvSpPr>
          <p:cNvPr id="716" name="Google Shape;716;g70e62d47d2_0_0"/>
          <p:cNvSpPr txBox="1">
            <a:spLocks noGrp="1"/>
          </p:cNvSpPr>
          <p:nvPr>
            <p:ph type="title"/>
          </p:nvPr>
        </p:nvSpPr>
        <p:spPr>
          <a:xfrm>
            <a:off x="1097280" y="910300"/>
            <a:ext cx="10058400" cy="82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 dirty="0"/>
              <a:t>Algunos </a:t>
            </a:r>
            <a:r>
              <a:rPr lang="es-AR" u="sng" dirty="0" err="1"/>
              <a:t>tips</a:t>
            </a:r>
            <a:r>
              <a:rPr lang="es-AR" dirty="0"/>
              <a:t> más para el </a:t>
            </a:r>
            <a:r>
              <a:rPr lang="es-AR" u="sng" dirty="0"/>
              <a:t>video grabado</a:t>
            </a:r>
            <a:endParaRPr u="sng" dirty="0"/>
          </a:p>
        </p:txBody>
      </p:sp>
      <p:sp>
        <p:nvSpPr>
          <p:cNvPr id="717" name="Google Shape;717;g70e62d47d2_0_0"/>
          <p:cNvSpPr txBox="1"/>
          <p:nvPr/>
        </p:nvSpPr>
        <p:spPr>
          <a:xfrm>
            <a:off x="1097279" y="1689234"/>
            <a:ext cx="10115204" cy="4210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</a:pPr>
            <a:r>
              <a:rPr lang="es-AR" sz="3200" b="0" i="0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Comunicación NO verbal:</a:t>
            </a:r>
            <a:endParaRPr sz="3200" b="0" i="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just">
              <a:buClr>
                <a:srgbClr val="C00000"/>
              </a:buClr>
              <a:buSzPts val="2400"/>
              <a:buFont typeface="Calibri"/>
              <a:buChar char="●"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/ las personas que aparecen en el video deben </a:t>
            </a:r>
            <a:r>
              <a:rPr lang="es-AR" sz="2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sonreir</a:t>
            </a: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just">
              <a:buClr>
                <a:srgbClr val="C00000"/>
              </a:buClr>
              <a:buSzPts val="2400"/>
              <a:buFont typeface="Calibri"/>
              <a:buChar char="●"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Utilizar los dedos para contar ideas o puntos importantes.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just">
              <a:buClr>
                <a:srgbClr val="C00000"/>
              </a:buClr>
              <a:buSzPts val="2400"/>
              <a:buFont typeface="Calibri"/>
              <a:buChar char="●"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Mostrar y/o mover las manos en  referencia a lo que se está contando.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</a:pPr>
            <a:r>
              <a:rPr lang="es-AR" sz="3200" b="0" i="0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Referido a lo verbal:</a:t>
            </a:r>
            <a:endParaRPr sz="3200" b="0" i="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just">
              <a:buClr>
                <a:srgbClr val="C00000"/>
              </a:buClr>
              <a:buSzPts val="2400"/>
              <a:buFont typeface="Calibri"/>
              <a:buChar char="●"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Deben poner diferentes énfasis en la voz para lograr comunicar efectivamente y resaltar cosas.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just">
              <a:buClr>
                <a:srgbClr val="C00000"/>
              </a:buClr>
              <a:buSzPts val="2400"/>
              <a:buFont typeface="Calibri"/>
              <a:buChar char="●"/>
            </a:pPr>
            <a:r>
              <a:rPr lang="es-AR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Analizar cuándo modificar la voz y cuando utilizar gestos no verbales.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algn="just">
              <a:buClr>
                <a:srgbClr val="000000"/>
              </a:buClr>
              <a:buSzPts val="2400"/>
            </a:pP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Naranja roj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187</TotalTime>
  <Words>3381</Words>
  <Application>Microsoft Office PowerPoint</Application>
  <PresentationFormat>Panorámica</PresentationFormat>
  <Paragraphs>643</Paragraphs>
  <Slides>48</Slides>
  <Notes>47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48</vt:i4>
      </vt:variant>
    </vt:vector>
  </HeadingPairs>
  <TitlesOfParts>
    <vt:vector size="55" baseType="lpstr">
      <vt:lpstr>Arial</vt:lpstr>
      <vt:lpstr>Calibri</vt:lpstr>
      <vt:lpstr>Courier New</vt:lpstr>
      <vt:lpstr>Noto Sans Symbols</vt:lpstr>
      <vt:lpstr>Times New Roman</vt:lpstr>
      <vt:lpstr>Wingdings</vt:lpstr>
      <vt:lpstr>Retrospección</vt:lpstr>
      <vt:lpstr>Ingeniería de Software II</vt:lpstr>
      <vt:lpstr>Temas</vt:lpstr>
      <vt:lpstr>¿Qué es un proceso de software? - Repaso</vt:lpstr>
      <vt:lpstr>Repaso</vt:lpstr>
      <vt:lpstr>El problema de la comunicación - Repaso</vt:lpstr>
      <vt:lpstr>Presentación de PowerPoint</vt:lpstr>
      <vt:lpstr>Comunicación</vt:lpstr>
      <vt:lpstr>Elicitación de Requisitos</vt:lpstr>
      <vt:lpstr>Elicitación de Requisitos</vt:lpstr>
      <vt:lpstr>Muestreo de la documentación, los formularios y los datos existentes</vt:lpstr>
      <vt:lpstr>Observación del ambiente de trabajo</vt:lpstr>
      <vt:lpstr>Visitas al sitio</vt:lpstr>
      <vt:lpstr>Cuestionarios</vt:lpstr>
      <vt:lpstr>Entrevistas</vt:lpstr>
      <vt:lpstr>Organización de las entrevistas</vt:lpstr>
      <vt:lpstr>Ejemplo de guión</vt:lpstr>
      <vt:lpstr>Ejemplo de guión</vt:lpstr>
      <vt:lpstr>JRP - Planificación Conjunta de Requisitos</vt:lpstr>
      <vt:lpstr>Brainstorming</vt:lpstr>
      <vt:lpstr>Requerimientos</vt:lpstr>
      <vt:lpstr>Especificación del sistema</vt:lpstr>
      <vt:lpstr>Descripción del Sistema – IEEE 1362</vt:lpstr>
      <vt:lpstr>Requerimientos del Software</vt:lpstr>
      <vt:lpstr>IEEE 830 - SRS</vt:lpstr>
      <vt:lpstr>IEEE 830 - SRS</vt:lpstr>
      <vt:lpstr>Características de un buen SRS</vt:lpstr>
      <vt:lpstr>Características de un buen SRS</vt:lpstr>
      <vt:lpstr>Características de un buen SRS</vt:lpstr>
      <vt:lpstr>Consideraciones para un buen SRS</vt:lpstr>
      <vt:lpstr>Consideraciones para un buen SRS</vt:lpstr>
      <vt:lpstr>Partes de un SRS</vt:lpstr>
      <vt:lpstr>1. Introducción</vt:lpstr>
      <vt:lpstr>2. Descripción General</vt:lpstr>
      <vt:lpstr>2. Descripción General</vt:lpstr>
      <vt:lpstr>2. Descripción General</vt:lpstr>
      <vt:lpstr>3. Requisitos no funcionales</vt:lpstr>
      <vt:lpstr>3. Requisitos no funcionales</vt:lpstr>
      <vt:lpstr>3. Requisitos no funcionales</vt:lpstr>
      <vt:lpstr>4. Mantenimiento</vt:lpstr>
      <vt:lpstr>5. Apéndices</vt:lpstr>
      <vt:lpstr>Comunicación del proyecto</vt:lpstr>
      <vt:lpstr>Elevator Pitch</vt:lpstr>
      <vt:lpstr>Elevator Pitch</vt:lpstr>
      <vt:lpstr>Elevator Pitch – Los 7 pasos del video</vt:lpstr>
      <vt:lpstr>Elevator Pitch – Los 7 pasos del video</vt:lpstr>
      <vt:lpstr>Elevator Pitch – Tips para elaborar el guión</vt:lpstr>
      <vt:lpstr>Presentación oral en vivo - Consejos</vt:lpstr>
      <vt:lpstr>Algunos tips más para el video grabado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admin1</dc:creator>
  <cp:lastModifiedBy>Rocio Muñoz</cp:lastModifiedBy>
  <cp:revision>54</cp:revision>
  <dcterms:modified xsi:type="dcterms:W3CDTF">2026-03-02T12:52:24Z</dcterms:modified>
</cp:coreProperties>
</file>